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73" r:id="rId1"/>
  </p:sldMasterIdLst>
  <p:notesMasterIdLst>
    <p:notesMasterId r:id="rId31"/>
  </p:notesMasterIdLst>
  <p:sldIdLst>
    <p:sldId id="279" r:id="rId2"/>
    <p:sldId id="278" r:id="rId3"/>
    <p:sldId id="280" r:id="rId4"/>
    <p:sldId id="281" r:id="rId5"/>
    <p:sldId id="262" r:id="rId6"/>
    <p:sldId id="290" r:id="rId7"/>
    <p:sldId id="296" r:id="rId8"/>
    <p:sldId id="264" r:id="rId9"/>
    <p:sldId id="291" r:id="rId10"/>
    <p:sldId id="297" r:id="rId11"/>
    <p:sldId id="295" r:id="rId12"/>
    <p:sldId id="298" r:id="rId13"/>
    <p:sldId id="271" r:id="rId14"/>
    <p:sldId id="282" r:id="rId15"/>
    <p:sldId id="300" r:id="rId16"/>
    <p:sldId id="292" r:id="rId17"/>
    <p:sldId id="301" r:id="rId18"/>
    <p:sldId id="283" r:id="rId19"/>
    <p:sldId id="293" r:id="rId20"/>
    <p:sldId id="302" r:id="rId21"/>
    <p:sldId id="303" r:id="rId22"/>
    <p:sldId id="284" r:id="rId23"/>
    <p:sldId id="294" r:id="rId24"/>
    <p:sldId id="304" r:id="rId25"/>
    <p:sldId id="286" r:id="rId26"/>
    <p:sldId id="305" r:id="rId27"/>
    <p:sldId id="306" r:id="rId28"/>
    <p:sldId id="307" r:id="rId29"/>
    <p:sldId id="308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89" autoAdjust="0"/>
    <p:restoredTop sz="94660"/>
  </p:normalViewPr>
  <p:slideViewPr>
    <p:cSldViewPr snapToGrid="0">
      <p:cViewPr varScale="1">
        <p:scale>
          <a:sx n="78" d="100"/>
          <a:sy n="78" d="100"/>
        </p:scale>
        <p:origin x="94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BBE02C-A189-4FD4-9445-479223C50105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134263-D5C3-4706-9A3F-D111ED5527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8355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134263-D5C3-4706-9A3F-D111ED552735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41705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134263-D5C3-4706-9A3F-D111ED552735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9139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  <a:prstGeom prst="rect">
            <a:avLst/>
          </a:prstGeo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158984" y="1792224"/>
            <a:ext cx="990599" cy="304799"/>
          </a:xfrm>
        </p:spPr>
        <p:txBody>
          <a:bodyPr/>
          <a:lstStyle>
            <a:lvl1pPr algn="l">
              <a:defRPr b="0">
                <a:solidFill>
                  <a:schemeClr val="bg1"/>
                </a:solidFill>
              </a:defRPr>
            </a:lvl1pPr>
          </a:lstStyle>
          <a:p>
            <a:fld id="{9AB3A824-1A51-4B26-AD58-A6D8E14F6C04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1976" y="3227832"/>
            <a:ext cx="3867912" cy="310896"/>
          </a:xfrm>
        </p:spPr>
        <p:txBody>
          <a:bodyPr/>
          <a:lstStyle>
            <a:lvl1pPr>
              <a:defRPr sz="1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110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9"/>
            <a:ext cx="8825659" cy="706964"/>
          </a:xfrm>
          <a:prstGeom prst="rect">
            <a:avLst/>
          </a:prstGeo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/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450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9192"/>
            <a:ext cx="4343400" cy="2286000"/>
          </a:xfrm>
          <a:prstGeom prst="rect">
            <a:avLst/>
          </a:prstGeom>
        </p:spPr>
        <p:txBody>
          <a:bodyPr anchor="ctr" anchorCtr="0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4576" y="2679192"/>
            <a:ext cx="3758184" cy="2286000"/>
          </a:xfrm>
        </p:spPr>
        <p:txBody>
          <a:bodyPr anchor="ctr" anchorCtr="0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/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75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69264"/>
            <a:ext cx="8825659" cy="7040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8032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76" y="2603500"/>
            <a:ext cx="4828032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870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69264"/>
            <a:ext cx="8825659" cy="7040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6040"/>
            <a:ext cx="48280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98448"/>
            <a:ext cx="4828032" cy="284378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76" y="2606040"/>
            <a:ext cx="48280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1" y="3187921"/>
            <a:ext cx="4825160" cy="2854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794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2144" y="969264"/>
            <a:ext cx="8825659" cy="7040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69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270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298448"/>
            <a:ext cx="2793159" cy="1597152"/>
          </a:xfrm>
          <a:prstGeom prst="rect">
            <a:avLst/>
          </a:prstGeo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79008" y="1447800"/>
            <a:ext cx="5195997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3" y="3129280"/>
            <a:ext cx="2793159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7395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59" cy="173566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689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7" y="4969927"/>
            <a:ext cx="8825657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7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55906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0704"/>
            <a:ext cx="8833104" cy="1371600"/>
          </a:xfrm>
          <a:prstGeom prst="rect">
            <a:avLst/>
          </a:prstGeom>
        </p:spPr>
        <p:txBody>
          <a:bodyPr anchor="ctr" anchorCtr="0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2144" y="3547872"/>
            <a:ext cx="8825659" cy="2478024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31170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2" name="TextBox 11"/>
          <p:cNvSpPr txBox="1"/>
          <p:nvPr/>
        </p:nvSpPr>
        <p:spPr bwMode="gray">
          <a:xfrm>
            <a:off x="898295" y="596767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 bwMode="gray">
          <a:xfrm>
            <a:off x="9715063" y="2629300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980517"/>
            <a:ext cx="8460983" cy="2698249"/>
          </a:xfrm>
          <a:prstGeom prst="rect">
            <a:avLst/>
          </a:prstGeom>
        </p:spPr>
        <p:txBody>
          <a:bodyPr anchor="ctr" anchorCtr="0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 bwMode="gray">
          <a:xfrm>
            <a:off x="1945945" y="3679987"/>
            <a:ext cx="7725772" cy="34217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400" cap="small" dirty="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8"/>
            <a:ext cx="8825659" cy="997858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80619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3525"/>
            <a:ext cx="8865623" cy="1819656"/>
          </a:xfrm>
          <a:prstGeom prst="rect">
            <a:avLst/>
          </a:prstGeo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9200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04327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3129168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79764"/>
            <a:ext cx="3129168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5380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4"/>
            <a:ext cx="3145380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595032"/>
            <a:ext cx="3161029" cy="58473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79764"/>
            <a:ext cx="3161029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4991" y="2603500"/>
            <a:ext cx="32564" cy="3423554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5824" y="2603500"/>
            <a:ext cx="0" cy="3423554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88904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 anchor="ctr" anchorCtr="0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5"/>
            <a:ext cx="3050438" cy="57626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10916"/>
            <a:ext cx="2691242" cy="1584094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7"/>
            <a:ext cx="3050438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2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09108"/>
            <a:ext cx="3050438" cy="91257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3" y="4532842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3" y="5109107"/>
            <a:ext cx="3050438" cy="91794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4245" y="2603500"/>
            <a:ext cx="1" cy="3461811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7352" y="2603500"/>
            <a:ext cx="0" cy="3461811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63089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595033"/>
            <a:ext cx="8825659" cy="3424768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0984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Rectangle 12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6"/>
            <a:ext cx="1441567" cy="4748591"/>
          </a:xfrm>
          <a:prstGeom prst="rect">
            <a:avLst/>
          </a:prstGeo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5"/>
            <a:ext cx="6256025" cy="47485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989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7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30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2760" y="6391656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3CBC1C18-307B-4F68-A007-B5B542270E8D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7784" y="6391656"/>
            <a:ext cx="3867912" cy="310896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903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DBDD8-6380-D238-F68E-42606CE2DB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930441"/>
            <a:ext cx="10748209" cy="3789043"/>
          </a:xfrm>
        </p:spPr>
        <p:txBody>
          <a:bodyPr>
            <a:normAutofit/>
          </a:bodyPr>
          <a:lstStyle/>
          <a:p>
            <a:pPr algn="ctr"/>
            <a:r>
              <a:rPr lang="en-IN" sz="6000" b="1" dirty="0" err="1"/>
              <a:t>Inventra</a:t>
            </a:r>
            <a:r>
              <a:rPr lang="en-IN" sz="6000" b="1" dirty="0"/>
              <a:t> – Intelligent Inventory Management System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3060932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CFBAD-C9D4-A8EB-7055-B3CC3C58D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sz="6000" b="1" dirty="0"/>
              <a:t>INTRODUCTION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09598-A567-D06E-A3B9-34334981F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432" y="2603500"/>
            <a:ext cx="11090787" cy="34163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 err="1"/>
              <a:t>Inventra</a:t>
            </a:r>
            <a:r>
              <a:rPr lang="en-US" sz="2000" dirty="0"/>
              <a:t> is an enterprise-level </a:t>
            </a:r>
            <a:r>
              <a:rPr lang="en-US" sz="2000" b="1" dirty="0"/>
              <a:t>Intelligent Inventory Management System</a:t>
            </a:r>
            <a:r>
              <a:rPr lang="en-US" sz="2000" dirty="0"/>
              <a:t> designed to automate inventory tracking, monitor stock levels in real time, and generate alerts when inventory falls below predefined thresholds. The system helps organizations reduce manual errors, avoid stock-outs, and improve operational efficiency through data-driven insights.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270644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9ED57-6C41-1E43-6151-27A82C6B3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511" y="364404"/>
            <a:ext cx="9692640" cy="1828190"/>
          </a:xfrm>
        </p:spPr>
        <p:txBody>
          <a:bodyPr>
            <a:normAutofit/>
          </a:bodyPr>
          <a:lstStyle/>
          <a:p>
            <a:pPr algn="ctr"/>
            <a:r>
              <a:rPr lang="en-IN" sz="5400" b="1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571FD-8C6C-3A68-DB66-B009B1CDD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512" y="2613332"/>
            <a:ext cx="10955218" cy="3416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Traditional inventory management systems face several challenges:-</a:t>
            </a:r>
          </a:p>
          <a:p>
            <a:r>
              <a:rPr lang="en-US" sz="2400" dirty="0"/>
              <a:t>Manual tracking leads to errors and inconsistencies</a:t>
            </a:r>
          </a:p>
          <a:p>
            <a:r>
              <a:rPr lang="en-US" sz="2400" dirty="0"/>
              <a:t>Lack of real-time stock monitoring</a:t>
            </a:r>
          </a:p>
          <a:p>
            <a:r>
              <a:rPr lang="en-US" sz="2400" dirty="0"/>
              <a:t>No automated alert mechanism for low stock</a:t>
            </a:r>
          </a:p>
          <a:p>
            <a:r>
              <a:rPr lang="en-US" sz="2400" dirty="0"/>
              <a:t>Time-consuming report generation</a:t>
            </a:r>
          </a:p>
          <a:p>
            <a:r>
              <a:rPr lang="en-US" sz="2400" dirty="0"/>
              <a:t>Inefficient decision-making due to limited analytics</a:t>
            </a:r>
          </a:p>
        </p:txBody>
      </p:sp>
    </p:spTree>
    <p:extLst>
      <p:ext uri="{BB962C8B-B14F-4D97-AF65-F5344CB8AC3E}">
        <p14:creationId xmlns:p14="http://schemas.microsoft.com/office/powerpoint/2010/main" val="2265673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50B74-89BF-3A6F-D4F5-26AE9F7A0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9"/>
            <a:ext cx="9424556" cy="1110770"/>
          </a:xfrm>
        </p:spPr>
        <p:txBody>
          <a:bodyPr>
            <a:normAutofit/>
          </a:bodyPr>
          <a:lstStyle/>
          <a:p>
            <a:pPr algn="ctr"/>
            <a:r>
              <a:rPr lang="en-IN" sz="6000" b="1" dirty="0"/>
              <a:t>Solution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7B0D2-19B3-3D31-B6E8-212DB1ED0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090" y="2603500"/>
            <a:ext cx="10717162" cy="3416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Inventor addresses these challenges by:-</a:t>
            </a:r>
          </a:p>
          <a:p>
            <a:r>
              <a:rPr lang="en-US" sz="2400" b="1" dirty="0"/>
              <a:t>Automating</a:t>
            </a:r>
            <a:r>
              <a:rPr lang="en-US" sz="2400" dirty="0"/>
              <a:t> inventory tracking</a:t>
            </a:r>
          </a:p>
          <a:p>
            <a:r>
              <a:rPr lang="en-US" sz="2400" dirty="0"/>
              <a:t>Providing </a:t>
            </a:r>
            <a:r>
              <a:rPr lang="en-US" sz="2400" b="1" dirty="0"/>
              <a:t>real-time</a:t>
            </a:r>
            <a:r>
              <a:rPr lang="en-US" sz="2400" dirty="0"/>
              <a:t> stock monitoring</a:t>
            </a:r>
          </a:p>
          <a:p>
            <a:r>
              <a:rPr lang="en-US" sz="2400" dirty="0"/>
              <a:t>Generating </a:t>
            </a:r>
            <a:r>
              <a:rPr lang="en-US" sz="2400" b="1" dirty="0"/>
              <a:t>low-stock</a:t>
            </a:r>
            <a:r>
              <a:rPr lang="en-US" sz="2400" dirty="0"/>
              <a:t> </a:t>
            </a:r>
            <a:r>
              <a:rPr lang="en-US" sz="2400" b="1" dirty="0"/>
              <a:t>alerts</a:t>
            </a:r>
            <a:r>
              <a:rPr lang="en-US" sz="2400" dirty="0"/>
              <a:t> automatically</a:t>
            </a:r>
          </a:p>
          <a:p>
            <a:r>
              <a:rPr lang="en-US" sz="2400" dirty="0"/>
              <a:t>Offering </a:t>
            </a:r>
            <a:r>
              <a:rPr lang="en-US" sz="2400" b="1" dirty="0"/>
              <a:t>detailed reports and analytics</a:t>
            </a:r>
          </a:p>
          <a:p>
            <a:r>
              <a:rPr lang="en-US" sz="2400" dirty="0"/>
              <a:t>Ensuring </a:t>
            </a:r>
            <a:r>
              <a:rPr lang="en-US" sz="2400" b="1" dirty="0"/>
              <a:t>secure access</a:t>
            </a:r>
            <a:r>
              <a:rPr lang="en-US" sz="2400" dirty="0"/>
              <a:t> using </a:t>
            </a:r>
            <a:r>
              <a:rPr lang="en-US" sz="2400" b="1" dirty="0"/>
              <a:t>authentication</a:t>
            </a:r>
          </a:p>
          <a:p>
            <a:r>
              <a:rPr lang="en-US" sz="2400" dirty="0"/>
              <a:t>Reducing human errors and </a:t>
            </a:r>
            <a:r>
              <a:rPr lang="en-US" sz="2400" b="1" dirty="0"/>
              <a:t>improving efficiency</a:t>
            </a:r>
          </a:p>
        </p:txBody>
      </p:sp>
    </p:spTree>
    <p:extLst>
      <p:ext uri="{BB962C8B-B14F-4D97-AF65-F5344CB8AC3E}">
        <p14:creationId xmlns:p14="http://schemas.microsoft.com/office/powerpoint/2010/main" val="2693061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B6065-520F-E7A4-FDCF-1A8E26212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018" y="641063"/>
            <a:ext cx="9692640" cy="1325562"/>
          </a:xfrm>
        </p:spPr>
        <p:txBody>
          <a:bodyPr>
            <a:normAutofit/>
          </a:bodyPr>
          <a:lstStyle/>
          <a:p>
            <a:pPr algn="ctr"/>
            <a:r>
              <a:rPr lang="en-IN" sz="5400" b="1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4AB9F-2085-BE5D-D8F6-53C1AFFD3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649" y="2431846"/>
            <a:ext cx="11032885" cy="3497006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800" b="1" dirty="0">
                <a:cs typeface="Arial" panose="020B0604020202020204" pitchFamily="34" charset="0"/>
              </a:rPr>
              <a:t>Front-End:</a:t>
            </a:r>
            <a:r>
              <a:rPr lang="en-IN" sz="2800" dirty="0">
                <a:cs typeface="Arial" panose="020B0604020202020204" pitchFamily="34" charset="0"/>
              </a:rPr>
              <a:t> HTML, CSS, JavaScript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b="1" dirty="0">
                <a:cs typeface="Arial" panose="020B0604020202020204" pitchFamily="34" charset="0"/>
              </a:rPr>
              <a:t>Back-End:</a:t>
            </a:r>
            <a:r>
              <a:rPr lang="en-IN" sz="2800" dirty="0">
                <a:cs typeface="Arial" panose="020B0604020202020204" pitchFamily="34" charset="0"/>
              </a:rPr>
              <a:t> Java (JDK 8/11)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b="1" dirty="0">
                <a:cs typeface="Arial" panose="020B0604020202020204" pitchFamily="34" charset="0"/>
              </a:rPr>
              <a:t>Frameworks:</a:t>
            </a:r>
            <a:r>
              <a:rPr lang="en-IN" sz="2800" dirty="0">
                <a:cs typeface="Arial" panose="020B0604020202020204" pitchFamily="34" charset="0"/>
              </a:rPr>
              <a:t> spring Boot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b="1" dirty="0">
                <a:cs typeface="Arial" panose="020B0604020202020204" pitchFamily="34" charset="0"/>
              </a:rPr>
              <a:t>Database:</a:t>
            </a:r>
            <a:r>
              <a:rPr lang="en-IN" sz="2800" dirty="0">
                <a:cs typeface="Arial" panose="020B0604020202020204" pitchFamily="34" charset="0"/>
              </a:rPr>
              <a:t> MySQL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b="1" dirty="0">
                <a:cs typeface="Arial" panose="020B0604020202020204" pitchFamily="34" charset="0"/>
              </a:rPr>
              <a:t>Tools:</a:t>
            </a:r>
            <a:r>
              <a:rPr lang="en-IN" sz="2800" dirty="0">
                <a:cs typeface="Arial" panose="020B0604020202020204" pitchFamily="34" charset="0"/>
              </a:rPr>
              <a:t> VS Code</a:t>
            </a:r>
          </a:p>
          <a:p>
            <a:pPr marL="0" indent="0">
              <a:buNone/>
            </a:pPr>
            <a:endParaRPr lang="en-IN" sz="2800" dirty="0"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800" b="1" dirty="0">
                <a:solidFill>
                  <a:schemeClr val="accent5">
                    <a:lumMod val="75000"/>
                  </a:schemeClr>
                </a:solidFill>
                <a:cs typeface="Arial" panose="020B0604020202020204" pitchFamily="34" charset="0"/>
              </a:rPr>
              <a:t>User</a:t>
            </a:r>
            <a:r>
              <a:rPr lang="en-IN" sz="2800" b="1" dirty="0">
                <a:cs typeface="Arial" panose="020B0604020202020204" pitchFamily="34" charset="0"/>
              </a:rPr>
              <a:t> → Frontend → Backend → </a:t>
            </a:r>
            <a:r>
              <a:rPr lang="en-IN" sz="2800" b="1" dirty="0">
                <a:solidFill>
                  <a:schemeClr val="accent5">
                    <a:lumMod val="75000"/>
                  </a:schemeClr>
                </a:solidFill>
                <a:cs typeface="Arial" panose="020B0604020202020204" pitchFamily="34" charset="0"/>
              </a:rPr>
              <a:t>Database</a:t>
            </a:r>
            <a:r>
              <a:rPr lang="en-IN" sz="2800" b="1" dirty="0">
                <a:cs typeface="Arial" panose="020B0604020202020204" pitchFamily="34" charset="0"/>
              </a:rPr>
              <a:t> → Alerts / Reports</a:t>
            </a:r>
          </a:p>
          <a:p>
            <a:pPr marL="0" indent="0">
              <a:buNone/>
            </a:pPr>
            <a:endParaRPr lang="en-IN" sz="2800" dirty="0"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sz="28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8589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CBE824-CEC3-18E2-0793-CB4BCB43F188}"/>
              </a:ext>
            </a:extLst>
          </p:cNvPr>
          <p:cNvSpPr/>
          <p:nvPr/>
        </p:nvSpPr>
        <p:spPr>
          <a:xfrm>
            <a:off x="580103" y="639097"/>
            <a:ext cx="2900516" cy="21139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USER</a:t>
            </a:r>
          </a:p>
          <a:p>
            <a:pPr algn="ctr"/>
            <a:r>
              <a:rPr lang="en-IN" sz="2400" b="1" dirty="0">
                <a:solidFill>
                  <a:schemeClr val="tx1"/>
                </a:solidFill>
              </a:rPr>
              <a:t>(Admin / Staff)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F94946-9D03-6F53-8DCF-475AAC0DD088}"/>
              </a:ext>
            </a:extLst>
          </p:cNvPr>
          <p:cNvSpPr/>
          <p:nvPr/>
        </p:nvSpPr>
        <p:spPr>
          <a:xfrm>
            <a:off x="4940710" y="639097"/>
            <a:ext cx="2664542" cy="21139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FRONT-END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HTML, CSS, JS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(User Interface)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B88AB5-7613-7B2F-3E43-2EED22D19BA3}"/>
              </a:ext>
            </a:extLst>
          </p:cNvPr>
          <p:cNvSpPr/>
          <p:nvPr/>
        </p:nvSpPr>
        <p:spPr>
          <a:xfrm>
            <a:off x="4938251" y="3936393"/>
            <a:ext cx="2664542" cy="197279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BACK-END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Java (JDBC)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Authentication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Inventory Logic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Alerts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7B541F62-3C68-8AEB-AB4F-CC1C436AFB15}"/>
              </a:ext>
            </a:extLst>
          </p:cNvPr>
          <p:cNvSpPr/>
          <p:nvPr/>
        </p:nvSpPr>
        <p:spPr>
          <a:xfrm>
            <a:off x="3893574" y="1533831"/>
            <a:ext cx="521110" cy="32446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3FD6A6EB-5795-D369-036C-5D71C176D810}"/>
              </a:ext>
            </a:extLst>
          </p:cNvPr>
          <p:cNvSpPr/>
          <p:nvPr/>
        </p:nvSpPr>
        <p:spPr>
          <a:xfrm>
            <a:off x="6001168" y="3023420"/>
            <a:ext cx="484632" cy="658761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6E7C7C73-1E26-668F-0209-D1B9F63739F5}"/>
              </a:ext>
            </a:extLst>
          </p:cNvPr>
          <p:cNvSpPr/>
          <p:nvPr/>
        </p:nvSpPr>
        <p:spPr>
          <a:xfrm>
            <a:off x="8137422" y="4716632"/>
            <a:ext cx="540774" cy="484632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BA22B4-0E27-98BC-D385-33777A568ACE}"/>
              </a:ext>
            </a:extLst>
          </p:cNvPr>
          <p:cNvSpPr/>
          <p:nvPr/>
        </p:nvSpPr>
        <p:spPr>
          <a:xfrm>
            <a:off x="9094839" y="3936393"/>
            <a:ext cx="2576051" cy="197279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DATABASE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MySQL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Users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Products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Stock Details</a:t>
            </a:r>
            <a:endParaRPr lang="en-IN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9253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4BB8142-7E48-972B-F605-EDB4286AA2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8960" y="1198811"/>
            <a:ext cx="6014988" cy="552096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307EB7-07D6-450C-E0DD-66BC7A1B5553}"/>
              </a:ext>
            </a:extLst>
          </p:cNvPr>
          <p:cNvSpPr txBox="1"/>
          <p:nvPr/>
        </p:nvSpPr>
        <p:spPr>
          <a:xfrm>
            <a:off x="4247536" y="138227"/>
            <a:ext cx="51436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b="1" dirty="0"/>
              <a:t>System Modules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9D9BBF-3E2E-E38F-87D2-0AFD90E74283}"/>
              </a:ext>
            </a:extLst>
          </p:cNvPr>
          <p:cNvSpPr txBox="1"/>
          <p:nvPr/>
        </p:nvSpPr>
        <p:spPr>
          <a:xfrm>
            <a:off x="422787" y="605881"/>
            <a:ext cx="4056854" cy="502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lnSpc>
                <a:spcPct val="150000"/>
              </a:lnSpc>
              <a:buNone/>
            </a:pPr>
            <a:r>
              <a:rPr lang="en-US" b="1" dirty="0"/>
              <a:t>The Intelligent Inventory Management System consists of four key modules:</a:t>
            </a:r>
          </a:p>
          <a:p>
            <a:pPr rtl="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Authentication:</a:t>
            </a:r>
            <a:r>
              <a:rPr lang="en-US" dirty="0"/>
              <a:t> Manages user access and security.</a:t>
            </a:r>
          </a:p>
          <a:p>
            <a:pPr rtl="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Product Management &amp; Stock Tracking:</a:t>
            </a:r>
            <a:r>
              <a:rPr lang="en-US" dirty="0"/>
              <a:t> Handles product information and tracks inventory levels.</a:t>
            </a:r>
          </a:p>
          <a:p>
            <a:pPr rtl="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Alerts:</a:t>
            </a:r>
            <a:r>
              <a:rPr lang="en-US" dirty="0"/>
              <a:t> Sends notifications based on predefined rules and thresholds.</a:t>
            </a:r>
          </a:p>
          <a:p>
            <a:pPr rtl="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Reports &amp; Analysis:</a:t>
            </a:r>
            <a:r>
              <a:rPr lang="en-US" dirty="0"/>
              <a:t> Generates reports and provides insights into inventory data.</a:t>
            </a:r>
          </a:p>
        </p:txBody>
      </p:sp>
    </p:spTree>
    <p:extLst>
      <p:ext uri="{BB962C8B-B14F-4D97-AF65-F5344CB8AC3E}">
        <p14:creationId xmlns:p14="http://schemas.microsoft.com/office/powerpoint/2010/main" val="515451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4E9B0-96E8-F38B-B42F-6BEB56E97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007" y="553928"/>
            <a:ext cx="9692640" cy="1505081"/>
          </a:xfrm>
        </p:spPr>
        <p:txBody>
          <a:bodyPr>
            <a:normAutofit fontScale="90000"/>
          </a:bodyPr>
          <a:lstStyle/>
          <a:p>
            <a:pPr algn="ctr"/>
            <a:r>
              <a:rPr lang="en-IN" sz="5400" b="1" dirty="0"/>
              <a:t>Module 1 </a:t>
            </a:r>
            <a:br>
              <a:rPr lang="en-IN" sz="5400" b="1" dirty="0"/>
            </a:br>
            <a:r>
              <a:rPr lang="en-IN" sz="5400" b="1" dirty="0"/>
              <a:t>Authentication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0E85E-5DD9-F18B-625D-878F36E8D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007" y="2456030"/>
            <a:ext cx="10992464" cy="3627425"/>
          </a:xfrm>
        </p:spPr>
        <p:txBody>
          <a:bodyPr>
            <a:normAutofit/>
          </a:bodyPr>
          <a:lstStyle/>
          <a:p>
            <a:r>
              <a:rPr lang="en-US" dirty="0"/>
              <a:t> </a:t>
            </a:r>
            <a:r>
              <a:rPr lang="en-US" sz="2400" dirty="0"/>
              <a:t>Handles secure user login and logout functionality</a:t>
            </a:r>
          </a:p>
          <a:p>
            <a:r>
              <a:rPr lang="en-US" sz="2400" dirty="0"/>
              <a:t> Validates user credentials against stored data</a:t>
            </a:r>
          </a:p>
          <a:p>
            <a:r>
              <a:rPr lang="en-US" sz="2400" dirty="0"/>
              <a:t> Ensures authorized access to the system</a:t>
            </a:r>
          </a:p>
          <a:p>
            <a:r>
              <a:rPr lang="en-US" sz="2400" dirty="0"/>
              <a:t> Prevents unauthorized users from accessing inventory data</a:t>
            </a:r>
          </a:p>
          <a:p>
            <a:r>
              <a:rPr lang="en-US" sz="2400" dirty="0"/>
              <a:t> Maintains session control for logged-in users</a:t>
            </a:r>
          </a:p>
          <a:p>
            <a:r>
              <a:rPr lang="en-US" sz="2400" dirty="0"/>
              <a:t>Uses role-based access (Admin/User)</a:t>
            </a:r>
          </a:p>
        </p:txBody>
      </p:sp>
    </p:spTree>
    <p:extLst>
      <p:ext uri="{BB962C8B-B14F-4D97-AF65-F5344CB8AC3E}">
        <p14:creationId xmlns:p14="http://schemas.microsoft.com/office/powerpoint/2010/main" val="2759699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3959C-0511-A983-41DD-D66C7DBA5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508000"/>
            <a:ext cx="8825659" cy="1625599"/>
          </a:xfrm>
        </p:spPr>
        <p:txBody>
          <a:bodyPr/>
          <a:lstStyle/>
          <a:p>
            <a:pPr algn="ctr"/>
            <a:r>
              <a:rPr lang="en-IN" sz="4900" b="1" dirty="0"/>
              <a:t>Module 1 </a:t>
            </a:r>
            <a:br>
              <a:rPr lang="en-IN" sz="4900" b="1" dirty="0"/>
            </a:br>
            <a:r>
              <a:rPr lang="en-IN" sz="4900" b="1" dirty="0"/>
              <a:t>Authentication</a:t>
            </a:r>
            <a:endParaRPr lang="en-IN" sz="49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FCFB7-87A1-A89A-5CB2-62DBD3DA2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903" y="2369574"/>
            <a:ext cx="10742653" cy="3980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Input:</a:t>
            </a:r>
            <a:endParaRPr lang="en-IN" dirty="0"/>
          </a:p>
          <a:p>
            <a:r>
              <a:rPr lang="en-IN" dirty="0"/>
              <a:t>Username and password entered by user</a:t>
            </a:r>
          </a:p>
          <a:p>
            <a:pPr marL="0" indent="0">
              <a:buNone/>
            </a:pPr>
            <a:r>
              <a:rPr lang="en-IN" b="1" dirty="0"/>
              <a:t>Process:</a:t>
            </a:r>
            <a:endParaRPr lang="en-IN" dirty="0"/>
          </a:p>
          <a:p>
            <a:r>
              <a:rPr lang="en-IN" dirty="0"/>
              <a:t>Validates credentials against database</a:t>
            </a:r>
          </a:p>
          <a:p>
            <a:r>
              <a:rPr lang="en-IN" dirty="0"/>
              <a:t>Verifies user role (Admin / Staff)</a:t>
            </a:r>
          </a:p>
          <a:p>
            <a:r>
              <a:rPr lang="en-IN" dirty="0"/>
              <a:t>Creates and manages user session</a:t>
            </a:r>
          </a:p>
          <a:p>
            <a:pPr marL="0" indent="0">
              <a:buNone/>
            </a:pPr>
            <a:r>
              <a:rPr lang="en-IN" b="1" dirty="0"/>
              <a:t>Output:</a:t>
            </a:r>
            <a:endParaRPr lang="en-IN" dirty="0"/>
          </a:p>
          <a:p>
            <a:r>
              <a:rPr lang="en-IN" dirty="0"/>
              <a:t>Secure login access</a:t>
            </a:r>
          </a:p>
          <a:p>
            <a:r>
              <a:rPr lang="en-IN" dirty="0"/>
              <a:t>Role-based dashboard displayed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8719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6F1E3-2C21-7CD1-5FE1-E93483843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Classes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5B49E5-0ACD-E5C6-8356-F65281DD988A}"/>
              </a:ext>
            </a:extLst>
          </p:cNvPr>
          <p:cNvSpPr txBox="1"/>
          <p:nvPr/>
        </p:nvSpPr>
        <p:spPr>
          <a:xfrm>
            <a:off x="943896" y="2348114"/>
            <a:ext cx="8825658" cy="2133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Classes:</a:t>
            </a:r>
            <a:endParaRPr lang="en-US" dirty="0"/>
          </a:p>
          <a:p>
            <a:pPr marL="742950" lvl="1" indent="-2857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</a:rPr>
              <a:t>AUTH Controller</a:t>
            </a:r>
            <a:r>
              <a:rPr lang="en-US" dirty="0"/>
              <a:t>: Handles authentication-related HTTP requests.</a:t>
            </a:r>
          </a:p>
          <a:p>
            <a:pPr marL="742950" lvl="1" indent="-2857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</a:rPr>
              <a:t>AUTH Service</a:t>
            </a:r>
            <a:r>
              <a:rPr lang="en-US" dirty="0"/>
              <a:t>: Implements the authentication logic.</a:t>
            </a:r>
          </a:p>
          <a:p>
            <a:pPr marL="742950" lvl="1" indent="-2857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</a:rPr>
              <a:t>AUTH Repository</a:t>
            </a:r>
            <a:r>
              <a:rPr lang="en-US" dirty="0"/>
              <a:t>: Interacts with the </a:t>
            </a:r>
            <a:r>
              <a:rPr lang="en-US" dirty="0">
                <a:latin typeface="Courier New" panose="02070309020205020404" pitchFamily="49" charset="0"/>
              </a:rPr>
              <a:t>User Database</a:t>
            </a:r>
            <a:r>
              <a:rPr lang="en-US" dirty="0"/>
              <a:t>.</a:t>
            </a:r>
          </a:p>
          <a:p>
            <a:pPr marL="742950" lvl="1" indent="-2857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</a:rPr>
              <a:t>User</a:t>
            </a:r>
            <a:r>
              <a:rPr lang="en-US" b="1" dirty="0"/>
              <a:t>: </a:t>
            </a:r>
            <a:r>
              <a:rPr lang="en-US" dirty="0"/>
              <a:t>Represents a user in the system (database entity).</a:t>
            </a:r>
          </a:p>
        </p:txBody>
      </p:sp>
    </p:spTree>
    <p:extLst>
      <p:ext uri="{BB962C8B-B14F-4D97-AF65-F5344CB8AC3E}">
        <p14:creationId xmlns:p14="http://schemas.microsoft.com/office/powerpoint/2010/main" val="2249844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FBA4F-1F49-5F4C-632A-B1ED586F9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flow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8A1E76-E5F4-6427-3B68-6E97B5AE0F7B}"/>
              </a:ext>
            </a:extLst>
          </p:cNvPr>
          <p:cNvSpPr txBox="1"/>
          <p:nvPr/>
        </p:nvSpPr>
        <p:spPr>
          <a:xfrm>
            <a:off x="707922" y="2303059"/>
            <a:ext cx="11238272" cy="3241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b="1" dirty="0"/>
              <a:t>Process:</a:t>
            </a:r>
            <a:endParaRPr lang="en-US" dirty="0"/>
          </a:p>
          <a:p>
            <a:pPr marL="742950" lvl="1" indent="-2857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User enters credentials (username/password).</a:t>
            </a:r>
          </a:p>
          <a:p>
            <a:pPr marL="742950" lvl="1" indent="-2857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</a:rPr>
              <a:t>AUTH Controller</a:t>
            </a:r>
            <a:r>
              <a:rPr lang="en-US" b="1" dirty="0"/>
              <a:t> </a:t>
            </a:r>
            <a:r>
              <a:rPr lang="en-US" dirty="0"/>
              <a:t>receives the request.</a:t>
            </a:r>
          </a:p>
          <a:p>
            <a:pPr marL="742950" lvl="1" indent="-2857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</a:rPr>
              <a:t>AUTH Controller</a:t>
            </a:r>
            <a:r>
              <a:rPr lang="en-US" b="1" dirty="0"/>
              <a:t> </a:t>
            </a:r>
            <a:r>
              <a:rPr lang="en-US" dirty="0"/>
              <a:t>calls </a:t>
            </a:r>
            <a:r>
              <a:rPr lang="en-US" b="1" dirty="0">
                <a:latin typeface="Courier New" panose="02070309020205020404" pitchFamily="49" charset="0"/>
              </a:rPr>
              <a:t>AUTH Service</a:t>
            </a:r>
            <a:r>
              <a:rPr lang="en-US" b="1" dirty="0"/>
              <a:t> </a:t>
            </a:r>
            <a:r>
              <a:rPr lang="en-US" dirty="0"/>
              <a:t>to validate the credentials.</a:t>
            </a:r>
          </a:p>
          <a:p>
            <a:pPr marL="742950" lvl="1" indent="-2857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</a:rPr>
              <a:t>AUTH Service</a:t>
            </a:r>
            <a:r>
              <a:rPr lang="en-US" b="1" dirty="0"/>
              <a:t> </a:t>
            </a:r>
            <a:r>
              <a:rPr lang="en-US" dirty="0"/>
              <a:t>calls </a:t>
            </a:r>
            <a:r>
              <a:rPr lang="en-US" b="1" dirty="0">
                <a:latin typeface="Courier New" panose="02070309020205020404" pitchFamily="49" charset="0"/>
              </a:rPr>
              <a:t>AUTH Repository</a:t>
            </a:r>
            <a:r>
              <a:rPr lang="en-US" b="1" dirty="0"/>
              <a:t> </a:t>
            </a:r>
            <a:r>
              <a:rPr lang="en-US" dirty="0"/>
              <a:t>to retrieve user data from the </a:t>
            </a:r>
            <a:r>
              <a:rPr lang="en-US" dirty="0">
                <a:latin typeface="Courier New" panose="02070309020205020404" pitchFamily="49" charset="0"/>
              </a:rPr>
              <a:t>User Database</a:t>
            </a:r>
            <a:r>
              <a:rPr lang="en-US" dirty="0"/>
              <a:t>.</a:t>
            </a:r>
          </a:p>
          <a:p>
            <a:pPr marL="742950" lvl="1" indent="-2857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</a:rPr>
              <a:t>AUTH Repository</a:t>
            </a:r>
            <a:r>
              <a:rPr lang="en-US" b="1" dirty="0"/>
              <a:t> </a:t>
            </a:r>
            <a:r>
              <a:rPr lang="en-US" dirty="0"/>
              <a:t>queries the </a:t>
            </a:r>
            <a:r>
              <a:rPr lang="en-US" dirty="0">
                <a:latin typeface="Courier New" panose="02070309020205020404" pitchFamily="49" charset="0"/>
              </a:rPr>
              <a:t>User Database</a:t>
            </a:r>
            <a:r>
              <a:rPr lang="en-US" dirty="0"/>
              <a:t>.</a:t>
            </a:r>
          </a:p>
          <a:p>
            <a:pPr marL="742950" lvl="1" indent="-2857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</a:rPr>
              <a:t>AUTH Service</a:t>
            </a:r>
            <a:r>
              <a:rPr lang="en-US" b="1" dirty="0"/>
              <a:t> </a:t>
            </a:r>
            <a:r>
              <a:rPr lang="en-US" dirty="0"/>
              <a:t>compares the entered credentials with the data from the database.</a:t>
            </a:r>
          </a:p>
          <a:p>
            <a:pPr marL="742950" lvl="1" indent="-2857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</a:rPr>
              <a:t>AUTH Controller</a:t>
            </a:r>
            <a:r>
              <a:rPr lang="en-US" b="1" dirty="0"/>
              <a:t> </a:t>
            </a:r>
            <a:r>
              <a:rPr lang="en-US" dirty="0"/>
              <a:t>returns the token to the user.</a:t>
            </a:r>
          </a:p>
        </p:txBody>
      </p:sp>
    </p:spTree>
    <p:extLst>
      <p:ext uri="{BB962C8B-B14F-4D97-AF65-F5344CB8AC3E}">
        <p14:creationId xmlns:p14="http://schemas.microsoft.com/office/powerpoint/2010/main" val="3135166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A3565-EC9C-63DF-2822-847B68D04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B9507C-115D-930C-34C9-851C8019F7A6}"/>
              </a:ext>
            </a:extLst>
          </p:cNvPr>
          <p:cNvSpPr txBox="1"/>
          <p:nvPr/>
        </p:nvSpPr>
        <p:spPr>
          <a:xfrm>
            <a:off x="975164" y="2655968"/>
            <a:ext cx="6096000" cy="773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Latha" panose="020B0604020202020204" pitchFamily="34" charset="0"/>
              </a:rPr>
              <a:t>Signup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Latha" panose="020B0604020202020204" pitchFamily="34" charset="0"/>
              </a:rPr>
              <a:t>UI → Controller → Service → Repository → Database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A56224-6500-DC50-BF0E-7F722257D8C9}"/>
              </a:ext>
            </a:extLst>
          </p:cNvPr>
          <p:cNvSpPr txBox="1"/>
          <p:nvPr/>
        </p:nvSpPr>
        <p:spPr>
          <a:xfrm>
            <a:off x="975164" y="3789744"/>
            <a:ext cx="6096000" cy="773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Latha" panose="020B0604020202020204" pitchFamily="34" charset="0"/>
              </a:rPr>
              <a:t>Sign in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Latha" panose="020B0604020202020204" pitchFamily="34" charset="0"/>
              </a:rPr>
              <a:t>UI → Controller → Service → JWT Token → UI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0AC24E-7D49-BA2A-23DB-A76F03116879}"/>
              </a:ext>
            </a:extLst>
          </p:cNvPr>
          <p:cNvSpPr txBox="1"/>
          <p:nvPr/>
        </p:nvSpPr>
        <p:spPr>
          <a:xfrm>
            <a:off x="975164" y="5004618"/>
            <a:ext cx="6096000" cy="1171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Latha" panose="020B0604020202020204" pitchFamily="34" charset="0"/>
              </a:rPr>
              <a:t>Forgot Password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Latha" panose="020B0604020202020204" pitchFamily="34" charset="0"/>
              </a:rPr>
              <a:t>UI → Controller → Service → Email Service → User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Latha" panose="020B0604020202020204" pitchFamily="34" charset="0"/>
              </a:rPr>
              <a:t> 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EFF32-1F3C-29B5-7245-565F26FBA8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805" y="2426911"/>
            <a:ext cx="4511460" cy="427172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7798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7048D-90C7-F6DD-ED8A-A2CF391B6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523" y="794400"/>
            <a:ext cx="9692640" cy="991130"/>
          </a:xfrm>
        </p:spPr>
        <p:txBody>
          <a:bodyPr>
            <a:normAutofit fontScale="90000"/>
          </a:bodyPr>
          <a:lstStyle/>
          <a:p>
            <a:pPr algn="ctr"/>
            <a:r>
              <a:rPr lang="en-IN" sz="5400" b="1" dirty="0"/>
              <a:t>Authentication</a:t>
            </a:r>
            <a:br>
              <a:rPr lang="en-IN" sz="5400" b="1" dirty="0"/>
            </a:br>
            <a:r>
              <a:rPr lang="en-IN" sz="5400" b="1" dirty="0"/>
              <a:t> Database Schema</a:t>
            </a:r>
            <a:endParaRPr lang="en-IN" sz="3600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3C24066-BBD6-3B9B-3629-8C3C71A9CE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170957"/>
              </p:ext>
            </p:extLst>
          </p:nvPr>
        </p:nvGraphicFramePr>
        <p:xfrm>
          <a:off x="1230999" y="2497394"/>
          <a:ext cx="9692640" cy="3739827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230880">
                  <a:extLst>
                    <a:ext uri="{9D8B030D-6E8A-4147-A177-3AD203B41FA5}">
                      <a16:colId xmlns:a16="http://schemas.microsoft.com/office/drawing/2014/main" val="2388820753"/>
                    </a:ext>
                  </a:extLst>
                </a:gridCol>
                <a:gridCol w="3230880">
                  <a:extLst>
                    <a:ext uri="{9D8B030D-6E8A-4147-A177-3AD203B41FA5}">
                      <a16:colId xmlns:a16="http://schemas.microsoft.com/office/drawing/2014/main" val="4224157352"/>
                    </a:ext>
                  </a:extLst>
                </a:gridCol>
                <a:gridCol w="3230880">
                  <a:extLst>
                    <a:ext uri="{9D8B030D-6E8A-4147-A177-3AD203B41FA5}">
                      <a16:colId xmlns:a16="http://schemas.microsoft.com/office/drawing/2014/main" val="2732771792"/>
                    </a:ext>
                  </a:extLst>
                </a:gridCol>
              </a:tblGrid>
              <a:tr h="52537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Datatype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4769771"/>
                  </a:ext>
                </a:extLst>
              </a:tr>
              <a:tr h="525378">
                <a:tc>
                  <a:txBody>
                    <a:bodyPr/>
                    <a:lstStyle/>
                    <a:p>
                      <a:pPr algn="ctr"/>
                      <a:r>
                        <a:rPr lang="en-IN" dirty="0" err="1"/>
                        <a:t>UserId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Primary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Unique User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250042"/>
                  </a:ext>
                </a:extLst>
              </a:tr>
              <a:tr h="52537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Username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Unique Username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5784099"/>
                  </a:ext>
                </a:extLst>
              </a:tr>
              <a:tr h="52537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Password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User Email 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659391"/>
                  </a:ext>
                </a:extLst>
              </a:tr>
              <a:tr h="52537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Encrypted Password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7690641"/>
                  </a:ext>
                </a:extLst>
              </a:tr>
              <a:tr h="58755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Authorization/Permissions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8840544"/>
                  </a:ext>
                </a:extLst>
              </a:tr>
              <a:tr h="525378">
                <a:tc>
                  <a:txBody>
                    <a:bodyPr/>
                    <a:lstStyle/>
                    <a:p>
                      <a:pPr algn="ctr"/>
                      <a:r>
                        <a:rPr lang="en-IN" dirty="0" err="1"/>
                        <a:t>Created_at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Datetime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Automatically records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6254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8262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0A3E8-7924-852D-47B4-E6CC33485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32" y="323718"/>
            <a:ext cx="9692640" cy="1741055"/>
          </a:xfrm>
        </p:spPr>
        <p:txBody>
          <a:bodyPr>
            <a:normAutofit/>
          </a:bodyPr>
          <a:lstStyle/>
          <a:p>
            <a:pPr algn="ctr"/>
            <a:r>
              <a:rPr lang="en-IN" sz="4400" b="1" dirty="0"/>
              <a:t>Module 2 </a:t>
            </a:r>
            <a:br>
              <a:rPr lang="en-IN" sz="4400" b="1" dirty="0"/>
            </a:br>
            <a:r>
              <a:rPr lang="en-IN" sz="4400" b="1" dirty="0"/>
              <a:t>Product / Inventory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31F11-E07E-ED84-5A61-11356FD09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232" y="2528586"/>
            <a:ext cx="10220239" cy="3144627"/>
          </a:xfrm>
        </p:spPr>
        <p:txBody>
          <a:bodyPr>
            <a:normAutofit/>
          </a:bodyPr>
          <a:lstStyle/>
          <a:p>
            <a:r>
              <a:rPr lang="en-US" sz="2400" dirty="0"/>
              <a:t>Allows users to add new products with details such as name, category, quantity, and price</a:t>
            </a:r>
          </a:p>
          <a:p>
            <a:r>
              <a:rPr lang="en-US" sz="2400" dirty="0"/>
              <a:t>Enables updating and deleting existing product records</a:t>
            </a:r>
          </a:p>
          <a:p>
            <a:r>
              <a:rPr lang="en-US" sz="2400" dirty="0"/>
              <a:t>Maintains real-time stock information</a:t>
            </a:r>
          </a:p>
          <a:p>
            <a:r>
              <a:rPr lang="en-US" sz="2400" dirty="0"/>
              <a:t>Ensures data consistency across inventory operations</a:t>
            </a:r>
          </a:p>
          <a:p>
            <a:r>
              <a:rPr lang="en-US" sz="2400" dirty="0"/>
              <a:t>Supports efficient management of product lifecycle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0684978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BD9BD-606F-68A1-37CA-62E05CCFC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</a:t>
            </a:r>
            <a:endParaRPr lang="en-IN" dirty="0"/>
          </a:p>
        </p:txBody>
      </p:sp>
      <p:pic>
        <p:nvPicPr>
          <p:cNvPr id="3" name="table">
            <a:extLst>
              <a:ext uri="{FF2B5EF4-FFF2-40B4-BE49-F238E27FC236}">
                <a16:creationId xmlns:a16="http://schemas.microsoft.com/office/drawing/2014/main" id="{89A4263B-1A3C-22B3-594D-ED033EA2D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077" y="2475224"/>
            <a:ext cx="10081845" cy="4208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3556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C1782-9020-CB84-40B5-DF8C0CE41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620890"/>
            <a:ext cx="8825659" cy="1320800"/>
          </a:xfrm>
        </p:spPr>
        <p:txBody>
          <a:bodyPr/>
          <a:lstStyle/>
          <a:p>
            <a:pPr algn="ctr"/>
            <a:r>
              <a:rPr lang="en-IN" sz="4000" b="1" dirty="0"/>
              <a:t>Module 2 </a:t>
            </a:r>
            <a:br>
              <a:rPr lang="en-IN" sz="4000" b="1" dirty="0"/>
            </a:br>
            <a:r>
              <a:rPr lang="en-IN" sz="4000" b="1" dirty="0"/>
              <a:t>Product / Inventory Management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C5F3C-CCD7-404D-A42A-4EF2F4F2E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771" y="2218266"/>
            <a:ext cx="10393579" cy="40188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/>
              <a:t>Input:</a:t>
            </a:r>
            <a:endParaRPr lang="en-IN" sz="2000" dirty="0"/>
          </a:p>
          <a:p>
            <a:r>
              <a:rPr lang="en-IN" sz="2000" dirty="0"/>
              <a:t>Product details (name, category, quantity, price)</a:t>
            </a:r>
          </a:p>
          <a:p>
            <a:r>
              <a:rPr lang="en-IN" sz="2000" dirty="0"/>
              <a:t>Update or delete requests</a:t>
            </a:r>
          </a:p>
          <a:p>
            <a:pPr marL="0" indent="0">
              <a:buNone/>
            </a:pPr>
            <a:r>
              <a:rPr lang="en-IN" sz="2000" b="1" dirty="0"/>
              <a:t>Process:</a:t>
            </a:r>
            <a:endParaRPr lang="en-IN" sz="2000" dirty="0"/>
          </a:p>
          <a:p>
            <a:r>
              <a:rPr lang="en-IN" sz="2000" dirty="0"/>
              <a:t>Stores and updates product data in database</a:t>
            </a:r>
          </a:p>
          <a:p>
            <a:r>
              <a:rPr lang="en-IN" sz="2000" dirty="0"/>
              <a:t>Maintains real-time stock information</a:t>
            </a:r>
          </a:p>
          <a:p>
            <a:r>
              <a:rPr lang="en-IN" sz="2000" dirty="0"/>
              <a:t>Ensures data consistency</a:t>
            </a:r>
          </a:p>
          <a:p>
            <a:pPr marL="0" indent="0">
              <a:buNone/>
            </a:pPr>
            <a:r>
              <a:rPr lang="en-IN" sz="2000" b="1" dirty="0"/>
              <a:t>Output:</a:t>
            </a:r>
            <a:endParaRPr lang="en-IN" sz="2000" dirty="0"/>
          </a:p>
          <a:p>
            <a:r>
              <a:rPr lang="en-IN" sz="2000" dirty="0"/>
              <a:t>Updated inventory records</a:t>
            </a:r>
          </a:p>
          <a:p>
            <a:r>
              <a:rPr lang="en-IN" sz="2000" dirty="0"/>
              <a:t>Accurate stock availability displayed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961514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0F69A-2B49-DC18-D4E4-7BD784D74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classes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030725-A93D-F8CE-7018-7E823340B452}"/>
              </a:ext>
            </a:extLst>
          </p:cNvPr>
          <p:cNvSpPr txBox="1"/>
          <p:nvPr/>
        </p:nvSpPr>
        <p:spPr>
          <a:xfrm>
            <a:off x="344128" y="2758313"/>
            <a:ext cx="6636775" cy="2117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+mj-lt"/>
              </a:rPr>
              <a:t>Main Classes in this Module is  :</a:t>
            </a:r>
            <a:endParaRPr lang="en-IN" dirty="0">
              <a:latin typeface="+mj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Product  class : </a:t>
            </a:r>
            <a:r>
              <a:rPr lang="en-US" dirty="0"/>
              <a:t>Represents product details</a:t>
            </a:r>
            <a:endParaRPr lang="en-IN" dirty="0">
              <a:latin typeface="+mj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Product Controller  : give request to service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Product Service  : business logic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Product Repository : communicate with database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FE9B9A-4B01-CD5E-2565-5D7D22641D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0184" y="2341476"/>
            <a:ext cx="4866969" cy="451652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368754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32C21-6D02-2160-79CF-DE61473B5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800" b="1" dirty="0"/>
              <a:t>Module 3</a:t>
            </a:r>
            <a:br>
              <a:rPr lang="en-IN" sz="4800" b="1" dirty="0"/>
            </a:br>
            <a:r>
              <a:rPr lang="en-IN" sz="4800" b="1" dirty="0"/>
              <a:t>Inventory / Alerts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F8382-E0A2-D239-6350-E6DF45ADE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58" y="2603500"/>
            <a:ext cx="10992465" cy="3416300"/>
          </a:xfrm>
        </p:spPr>
        <p:txBody>
          <a:bodyPr>
            <a:normAutofit/>
          </a:bodyPr>
          <a:lstStyle/>
          <a:p>
            <a:r>
              <a:rPr lang="en-US" sz="2400" dirty="0"/>
              <a:t>Continuously monitors inventory levels in real time</a:t>
            </a:r>
          </a:p>
          <a:p>
            <a:r>
              <a:rPr lang="en-US" sz="2400" dirty="0"/>
              <a:t>Compares current stock against predefined threshold values</a:t>
            </a:r>
          </a:p>
          <a:p>
            <a:r>
              <a:rPr lang="en-US" sz="2400" dirty="0"/>
              <a:t>Automatically triggers alerts when stock reaches critical levels</a:t>
            </a:r>
          </a:p>
          <a:p>
            <a:r>
              <a:rPr lang="en-US" sz="2400" dirty="0"/>
              <a:t>Notifies users to take timely replenishment actions</a:t>
            </a:r>
          </a:p>
          <a:p>
            <a:r>
              <a:rPr lang="en-US" sz="2400" dirty="0"/>
              <a:t>Helps minimize stock-out risks and operational delays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859981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A72B0-29FB-F942-CAFA-2A2811EF5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496711"/>
            <a:ext cx="8825659" cy="1749777"/>
          </a:xfrm>
        </p:spPr>
        <p:txBody>
          <a:bodyPr/>
          <a:lstStyle/>
          <a:p>
            <a:pPr algn="ctr"/>
            <a:r>
              <a:rPr lang="en-IN" sz="4400" b="1" dirty="0"/>
              <a:t>Module 3</a:t>
            </a:r>
            <a:br>
              <a:rPr lang="en-IN" sz="4400" b="1" dirty="0"/>
            </a:br>
            <a:r>
              <a:rPr lang="en-IN" sz="4400" b="1" dirty="0"/>
              <a:t>Inventory / Alerts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D757A-023D-9192-8810-D4A45C43B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010" y="2322735"/>
            <a:ext cx="10291979" cy="384245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Input:</a:t>
            </a:r>
            <a:endParaRPr lang="en-US" sz="2000" dirty="0"/>
          </a:p>
          <a:p>
            <a:r>
              <a:rPr lang="en-US" sz="2000" dirty="0"/>
              <a:t>Current stock levels</a:t>
            </a:r>
          </a:p>
          <a:p>
            <a:r>
              <a:rPr lang="en-US" sz="2000" dirty="0"/>
              <a:t>Predefined threshold values</a:t>
            </a:r>
          </a:p>
          <a:p>
            <a:pPr marL="0" indent="0">
              <a:buNone/>
            </a:pPr>
            <a:r>
              <a:rPr lang="en-US" sz="2000" b="1" dirty="0"/>
              <a:t>Process:</a:t>
            </a:r>
            <a:endParaRPr lang="en-US" sz="2000" dirty="0"/>
          </a:p>
          <a:p>
            <a:r>
              <a:rPr lang="en-US" sz="2000" dirty="0"/>
              <a:t>Continuously monitors stock quantities</a:t>
            </a:r>
          </a:p>
          <a:p>
            <a:r>
              <a:rPr lang="en-US" sz="2000" dirty="0"/>
              <a:t>Compares stock with threshold limits</a:t>
            </a:r>
          </a:p>
          <a:p>
            <a:r>
              <a:rPr lang="en-US" sz="2000" dirty="0"/>
              <a:t>Triggers alert conditions</a:t>
            </a:r>
          </a:p>
          <a:p>
            <a:pPr marL="0" indent="0">
              <a:buNone/>
            </a:pPr>
            <a:r>
              <a:rPr lang="en-US" sz="2000" b="1" dirty="0"/>
              <a:t>Output:</a:t>
            </a:r>
            <a:endParaRPr lang="en-US" sz="2000" dirty="0"/>
          </a:p>
          <a:p>
            <a:r>
              <a:rPr lang="en-US" sz="2000" dirty="0"/>
              <a:t>Low-stock alerts generated</a:t>
            </a:r>
          </a:p>
          <a:p>
            <a:r>
              <a:rPr lang="en-US" sz="2000" dirty="0"/>
              <a:t>Notifications for timely replenishment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5451163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18BA4-46AC-53CE-47F9-2677D1FAE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classes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D11223-24A0-77A0-5C2A-39A5198FC55D}"/>
              </a:ext>
            </a:extLst>
          </p:cNvPr>
          <p:cNvSpPr txBox="1"/>
          <p:nvPr/>
        </p:nvSpPr>
        <p:spPr>
          <a:xfrm>
            <a:off x="471947" y="2533720"/>
            <a:ext cx="1147424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fundamental object representing an inventory item, containing the current stock and the threshold that triggers alerts.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Alert: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concrete record created by the system when a threshold is breached, detailing the issue, the product, and the status.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Alert Controller: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Handles external user requests (e.g., viewing or closing alerts) and routes them to the service layer.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Alert Service: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Executes the core business logic, constantly monitoring products, generating new alerts, and managing alert statuses.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Alert Repository: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Manages all data interactions, specifically saving, retrieving, and updating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Product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Alert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records in the database.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88364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6F35F-A526-02D9-61F9-ABC4C108D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20EF53-C798-D034-8887-2B3A8F180655}"/>
              </a:ext>
            </a:extLst>
          </p:cNvPr>
          <p:cNvSpPr txBox="1"/>
          <p:nvPr/>
        </p:nvSpPr>
        <p:spPr>
          <a:xfrm>
            <a:off x="7909173" y="2823878"/>
            <a:ext cx="352585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A</a:t>
            </a:r>
            <a:r>
              <a:rPr lang="en-US" sz="1800" dirty="0">
                <a:latin typeface="+mj-lt"/>
              </a:rPr>
              <a:t>lert service----product repository----checks quantity &lt; reorder level</a:t>
            </a:r>
          </a:p>
          <a:p>
            <a:endParaRPr lang="en-US" sz="1800" dirty="0"/>
          </a:p>
          <a:p>
            <a:r>
              <a:rPr lang="en-IN" dirty="0">
                <a:latin typeface="+mj-lt"/>
              </a:rPr>
              <a:t>A</a:t>
            </a:r>
            <a:r>
              <a:rPr lang="en-IN" sz="1800" dirty="0">
                <a:latin typeface="+mj-lt"/>
              </a:rPr>
              <a:t>lert service ----Alert repository-----creates alert</a:t>
            </a:r>
          </a:p>
          <a:p>
            <a:endParaRPr lang="en-IN" dirty="0"/>
          </a:p>
          <a:p>
            <a:r>
              <a:rPr lang="en-IN" sz="1800" dirty="0">
                <a:latin typeface="+mj-lt"/>
              </a:rPr>
              <a:t>Alert controller----shows alert to Ui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5E34A7-A430-A089-63D4-59800F6DFA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975" y="2434600"/>
            <a:ext cx="6705686" cy="434749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5678191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4080C-E8F0-4CF9-50BE-97602B825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570272"/>
            <a:ext cx="8825659" cy="1484670"/>
          </a:xfrm>
        </p:spPr>
        <p:txBody>
          <a:bodyPr/>
          <a:lstStyle/>
          <a:p>
            <a:pPr algn="ctr"/>
            <a:r>
              <a:rPr lang="en-IN" sz="4400" b="1" dirty="0"/>
              <a:t>Module 4 </a:t>
            </a:r>
            <a:br>
              <a:rPr lang="en-IN" sz="4400" b="1" dirty="0"/>
            </a:br>
            <a:r>
              <a:rPr lang="en-IN" sz="4400" b="1" dirty="0"/>
              <a:t>Reports &amp; Analytics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CD5DB-003E-372E-453E-27BD0BDE7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761" y="2603500"/>
            <a:ext cx="10992465" cy="3416300"/>
          </a:xfrm>
        </p:spPr>
        <p:txBody>
          <a:bodyPr>
            <a:normAutofit/>
          </a:bodyPr>
          <a:lstStyle/>
          <a:p>
            <a:r>
              <a:rPr lang="en-US" sz="2400" dirty="0"/>
              <a:t>Generates detailed inventory reports</a:t>
            </a:r>
          </a:p>
          <a:p>
            <a:r>
              <a:rPr lang="en-US" sz="2400" dirty="0"/>
              <a:t>Provides insights into stock availability and usage patterns</a:t>
            </a:r>
          </a:p>
          <a:p>
            <a:r>
              <a:rPr lang="en-US" sz="2400" dirty="0"/>
              <a:t>Supports analysis of inventory trends over time</a:t>
            </a:r>
          </a:p>
          <a:p>
            <a:r>
              <a:rPr lang="en-US" sz="2400" dirty="0"/>
              <a:t>Helps management in data-driven decision making</a:t>
            </a:r>
          </a:p>
          <a:p>
            <a:r>
              <a:rPr lang="en-US" sz="2400" dirty="0"/>
              <a:t>Improves planning and inventory optimization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507422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51FE5-88E4-6802-D3C2-482782DBF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400" b="1" dirty="0"/>
              <a:t>Module 4 </a:t>
            </a:r>
            <a:br>
              <a:rPr lang="en-IN" sz="4400" b="1" dirty="0"/>
            </a:br>
            <a:r>
              <a:rPr lang="en-IN" sz="4400" b="1" dirty="0"/>
              <a:t>Reports &amp; Analytics 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C82C3-1938-6032-5C80-80867E6B7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50024" cy="34163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Input:</a:t>
            </a:r>
            <a:endParaRPr lang="en-US" sz="2000" dirty="0"/>
          </a:p>
          <a:p>
            <a:r>
              <a:rPr lang="en-US" sz="2000" dirty="0"/>
              <a:t>Inventory and transaction data</a:t>
            </a:r>
          </a:p>
          <a:p>
            <a:pPr marL="0" indent="0">
              <a:buNone/>
            </a:pPr>
            <a:r>
              <a:rPr lang="en-US" sz="2000" b="1" dirty="0"/>
              <a:t>Process:</a:t>
            </a:r>
            <a:endParaRPr lang="en-US" sz="2000" dirty="0"/>
          </a:p>
          <a:p>
            <a:r>
              <a:rPr lang="en-US" sz="2000" dirty="0"/>
              <a:t>Analyzes stock usage and trends</a:t>
            </a:r>
          </a:p>
          <a:p>
            <a:r>
              <a:rPr lang="en-US" sz="2000" dirty="0"/>
              <a:t>Generates reports and summaries</a:t>
            </a:r>
          </a:p>
          <a:p>
            <a:pPr marL="0" indent="0">
              <a:buNone/>
            </a:pPr>
            <a:r>
              <a:rPr lang="en-US" sz="2000" b="1" dirty="0"/>
              <a:t>Output:</a:t>
            </a:r>
            <a:endParaRPr lang="en-US" sz="2000" dirty="0"/>
          </a:p>
          <a:p>
            <a:r>
              <a:rPr lang="en-US" sz="2000" dirty="0"/>
              <a:t>Inventory reports</a:t>
            </a:r>
          </a:p>
          <a:p>
            <a:r>
              <a:rPr lang="en-US" sz="2000" dirty="0"/>
              <a:t>Analytical insights for decision-making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0016270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41157-DC10-699E-6526-9ED9CAA1A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497FEB-E13E-E56D-17BF-CFD8E7C2EF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7458" y="2566853"/>
            <a:ext cx="7677083" cy="381316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6571066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900B2-5BC1-9868-9C4E-ED1116DD7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2500" y="688258"/>
            <a:ext cx="8825659" cy="1415845"/>
          </a:xfrm>
        </p:spPr>
        <p:txBody>
          <a:bodyPr>
            <a:normAutofit/>
          </a:bodyPr>
          <a:lstStyle/>
          <a:p>
            <a:pPr algn="ctr"/>
            <a:r>
              <a:rPr lang="en-IN" sz="6000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9AA3F-B246-1DDF-B78F-F79D4FF3B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098" y="2603500"/>
            <a:ext cx="10992464" cy="3416300"/>
          </a:xfrm>
        </p:spPr>
        <p:txBody>
          <a:bodyPr>
            <a:normAutofit/>
          </a:bodyPr>
          <a:lstStyle/>
          <a:p>
            <a:r>
              <a:rPr lang="en-US" sz="2600" dirty="0" err="1"/>
              <a:t>Inventra</a:t>
            </a:r>
            <a:r>
              <a:rPr lang="en-US" sz="2600" dirty="0"/>
              <a:t> simplifies inventory management and reporting.</a:t>
            </a:r>
          </a:p>
          <a:p>
            <a:r>
              <a:rPr lang="en-US" sz="2600" dirty="0"/>
              <a:t>Reduces human errors and improves decision-making.</a:t>
            </a:r>
          </a:p>
          <a:p>
            <a:r>
              <a:rPr lang="en-US" sz="2600" dirty="0"/>
              <a:t>Scalable solution for businesses of all sizes.</a:t>
            </a:r>
          </a:p>
          <a:p>
            <a:r>
              <a:rPr lang="en-US" sz="2600" dirty="0"/>
              <a:t>Future scope: Integration with AI for predictive stock management.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10027625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EF21A6-B7FA-9995-0596-B62F0F088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3429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9979FD-A29A-E013-3C5A-331411A2E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2813" y="52541"/>
            <a:ext cx="5909187" cy="332391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C3D4DE0-71B2-4854-D361-465406A34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174" y="3558968"/>
            <a:ext cx="6420465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610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740991-3FD3-284D-ACCB-147752D72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5742039" cy="32686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21CF44-C4D6-9AC5-9DA3-D73851AB8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42039" cy="32298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0AA4BC5-9947-D695-0767-46B2D15665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134" y="0"/>
            <a:ext cx="5810866" cy="32686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DE7E4D1-E9F8-E2F6-A2A5-0DC362A1DF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134" y="3589389"/>
            <a:ext cx="5810866" cy="3268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860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D027C3-DCCB-2727-F40C-6E0F31D30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655757"/>
            <a:ext cx="5594556" cy="31469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963EE36-E32C-CBEE-7434-E66DB8FBBA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3429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63E817-37AE-C977-F0A2-0BA614100A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55306"/>
            <a:ext cx="5899356" cy="33736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1F49A2-F84E-A9E3-9142-C4AA0956D7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484306"/>
            <a:ext cx="6096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1393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CBDBEC1-BFD5-7D1D-1B56-79DF7AD6995C}"/>
              </a:ext>
            </a:extLst>
          </p:cNvPr>
          <p:cNvSpPr txBox="1"/>
          <p:nvPr/>
        </p:nvSpPr>
        <p:spPr>
          <a:xfrm>
            <a:off x="3932903" y="2467897"/>
            <a:ext cx="51521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6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963036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EC7F02AD-9687-440F-A9DF-FAA6F22270D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459</TotalTime>
  <Words>991</Words>
  <Application>Microsoft Office PowerPoint</Application>
  <PresentationFormat>Widescreen</PresentationFormat>
  <Paragraphs>190</Paragraphs>
  <Slides>29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Arial</vt:lpstr>
      <vt:lpstr>Arial Unicode MS</vt:lpstr>
      <vt:lpstr>Calibri</vt:lpstr>
      <vt:lpstr>Century Gothic</vt:lpstr>
      <vt:lpstr>Courier New</vt:lpstr>
      <vt:lpstr>Times New Roman</vt:lpstr>
      <vt:lpstr>Wingdings</vt:lpstr>
      <vt:lpstr>Wingdings 3</vt:lpstr>
      <vt:lpstr>Ion Boardroom</vt:lpstr>
      <vt:lpstr>Inventra – Intelligent Inventory Management System</vt:lpstr>
      <vt:lpstr>INTRODUCTION </vt:lpstr>
      <vt:lpstr>PROBLEM STATEMENT</vt:lpstr>
      <vt:lpstr>Solution Overview</vt:lpstr>
      <vt:lpstr>System Architecture</vt:lpstr>
      <vt:lpstr>PowerPoint Presentation</vt:lpstr>
      <vt:lpstr>PowerPoint Presentation</vt:lpstr>
      <vt:lpstr>Module 1  Authentication</vt:lpstr>
      <vt:lpstr>Module 1  Authentication</vt:lpstr>
      <vt:lpstr>Classes</vt:lpstr>
      <vt:lpstr>Work flow</vt:lpstr>
      <vt:lpstr>Flow </vt:lpstr>
      <vt:lpstr>Authentication  Database Schema</vt:lpstr>
      <vt:lpstr>Module 2  Product / Inventory Management</vt:lpstr>
      <vt:lpstr>Database </vt:lpstr>
      <vt:lpstr>Module 2  Product / Inventory Management</vt:lpstr>
      <vt:lpstr>classes</vt:lpstr>
      <vt:lpstr>Module 3 Inventory / Alerts </vt:lpstr>
      <vt:lpstr>Module 3 Inventory / Alerts </vt:lpstr>
      <vt:lpstr>classes</vt:lpstr>
      <vt:lpstr>Flow </vt:lpstr>
      <vt:lpstr>Module 4  Reports &amp; Analytics </vt:lpstr>
      <vt:lpstr>Module 4  Reports &amp; Analytics </vt:lpstr>
      <vt:lpstr>Flow </vt:lpstr>
      <vt:lpstr>Conclusion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Keerthana. Chintala</dc:creator>
  <cp:lastModifiedBy>Srishty Shekhar</cp:lastModifiedBy>
  <cp:revision>26</cp:revision>
  <dcterms:created xsi:type="dcterms:W3CDTF">2025-12-02T17:46:12Z</dcterms:created>
  <dcterms:modified xsi:type="dcterms:W3CDTF">2026-02-04T17:28:35Z</dcterms:modified>
</cp:coreProperties>
</file>