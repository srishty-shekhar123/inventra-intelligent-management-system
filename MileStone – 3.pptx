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5"/>
  </p:notesMasterIdLst>
  <p:handoutMasterIdLst>
    <p:handoutMasterId r:id="rId36"/>
  </p:handoutMasterIdLst>
  <p:sldIdLst>
    <p:sldId id="318" r:id="rId5"/>
    <p:sldId id="321" r:id="rId6"/>
    <p:sldId id="319" r:id="rId7"/>
    <p:sldId id="320" r:id="rId8"/>
    <p:sldId id="322" r:id="rId9"/>
    <p:sldId id="323" r:id="rId10"/>
    <p:sldId id="324" r:id="rId11"/>
    <p:sldId id="325" r:id="rId12"/>
    <p:sldId id="326" r:id="rId13"/>
    <p:sldId id="327" r:id="rId14"/>
    <p:sldId id="328" r:id="rId15"/>
    <p:sldId id="329" r:id="rId16"/>
    <p:sldId id="330" r:id="rId17"/>
    <p:sldId id="331" r:id="rId18"/>
    <p:sldId id="332" r:id="rId19"/>
    <p:sldId id="333" r:id="rId20"/>
    <p:sldId id="334" r:id="rId21"/>
    <p:sldId id="335" r:id="rId22"/>
    <p:sldId id="336" r:id="rId23"/>
    <p:sldId id="317" r:id="rId24"/>
    <p:sldId id="307" r:id="rId25"/>
    <p:sldId id="278" r:id="rId26"/>
    <p:sldId id="309" r:id="rId27"/>
    <p:sldId id="308" r:id="rId28"/>
    <p:sldId id="263" r:id="rId29"/>
    <p:sldId id="310" r:id="rId30"/>
    <p:sldId id="311" r:id="rId31"/>
    <p:sldId id="312" r:id="rId32"/>
    <p:sldId id="316" r:id="rId33"/>
    <p:sldId id="30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8" autoAdjust="0"/>
    <p:restoredTop sz="95405" autoAdjust="0"/>
  </p:normalViewPr>
  <p:slideViewPr>
    <p:cSldViewPr snapToGrid="0">
      <p:cViewPr>
        <p:scale>
          <a:sx n="33" d="100"/>
          <a:sy n="33" d="100"/>
        </p:scale>
        <p:origin x="902" y="1037"/>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1/6/2026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20</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21</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22</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23</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24</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25</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26</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27</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28</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30</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7AD3D-A41C-4CBF-C2A9-613056F59A32}"/>
              </a:ext>
            </a:extLst>
          </p:cNvPr>
          <p:cNvSpPr>
            <a:spLocks noGrp="1"/>
          </p:cNvSpPr>
          <p:nvPr>
            <p:ph type="ctrTitle"/>
          </p:nvPr>
        </p:nvSpPr>
        <p:spPr/>
        <p:txBody>
          <a:bodyPr/>
          <a:lstStyle/>
          <a:p>
            <a:r>
              <a:rPr lang="en" dirty="0"/>
              <a:t>Inventra Intelligent Inventory Management System</a:t>
            </a:r>
            <a:endParaRPr lang="en-IN" dirty="0"/>
          </a:p>
        </p:txBody>
      </p:sp>
    </p:spTree>
    <p:extLst>
      <p:ext uri="{BB962C8B-B14F-4D97-AF65-F5344CB8AC3E}">
        <p14:creationId xmlns:p14="http://schemas.microsoft.com/office/powerpoint/2010/main" val="2144387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4E538B9-F401-4159-9259-A5D29B1CF7C4}"/>
              </a:ext>
            </a:extLst>
          </p:cNvPr>
          <p:cNvSpPr>
            <a:spLocks noGrp="1"/>
          </p:cNvSpPr>
          <p:nvPr>
            <p:ph type="sldNum" sz="quarter" idx="4"/>
          </p:nvPr>
        </p:nvSpPr>
        <p:spPr/>
        <p:txBody>
          <a:bodyPr/>
          <a:lstStyle/>
          <a:p>
            <a:fld id="{58FB4751-880F-D840-AAA9-3A15815CC996}" type="slidenum">
              <a:rPr lang="en-US" smtClean="0"/>
              <a:pPr/>
              <a:t>2</a:t>
            </a:fld>
            <a:endParaRPr lang="en-US" dirty="0"/>
          </a:p>
        </p:txBody>
      </p:sp>
      <p:pic>
        <p:nvPicPr>
          <p:cNvPr id="6" name="Picture 5">
            <a:extLst>
              <a:ext uri="{FF2B5EF4-FFF2-40B4-BE49-F238E27FC236}">
                <a16:creationId xmlns:a16="http://schemas.microsoft.com/office/drawing/2014/main" id="{250A436D-7E76-2B08-ABE0-FE5F83AB72C0}"/>
              </a:ext>
            </a:extLst>
          </p:cNvPr>
          <p:cNvPicPr>
            <a:picLocks noChangeAspect="1"/>
          </p:cNvPicPr>
          <p:nvPr/>
        </p:nvPicPr>
        <p:blipFill>
          <a:blip r:embed="rId2"/>
          <a:srcRect l="-21120" t="8066" r="1"/>
          <a:stretch>
            <a:fillRect/>
          </a:stretch>
        </p:blipFill>
        <p:spPr>
          <a:xfrm>
            <a:off x="5384800" y="423334"/>
            <a:ext cx="6096000" cy="5875866"/>
          </a:xfrm>
          <a:prstGeom prst="rect">
            <a:avLst/>
          </a:prstGeom>
        </p:spPr>
      </p:pic>
      <p:sp>
        <p:nvSpPr>
          <p:cNvPr id="8" name="TextBox 7">
            <a:extLst>
              <a:ext uri="{FF2B5EF4-FFF2-40B4-BE49-F238E27FC236}">
                <a16:creationId xmlns:a16="http://schemas.microsoft.com/office/drawing/2014/main" id="{A25FF2E2-604A-497E-DB79-1370D2AC03F9}"/>
              </a:ext>
            </a:extLst>
          </p:cNvPr>
          <p:cNvSpPr txBox="1"/>
          <p:nvPr/>
        </p:nvSpPr>
        <p:spPr>
          <a:xfrm>
            <a:off x="474133" y="423333"/>
            <a:ext cx="5621867" cy="6001643"/>
          </a:xfrm>
          <a:prstGeom prst="rect">
            <a:avLst/>
          </a:prstGeom>
          <a:noFill/>
        </p:spPr>
        <p:txBody>
          <a:bodyPr wrap="square">
            <a:spAutoFit/>
          </a:bodyPr>
          <a:lstStyle/>
          <a:p>
            <a:pPr marL="285750" indent="-285750">
              <a:buFont typeface="Arial" panose="020B0604020202020204" pitchFamily="34" charset="0"/>
              <a:buChar char="•"/>
            </a:pPr>
            <a:r>
              <a:rPr lang="en-US" sz="2400" dirty="0" err="1">
                <a:solidFill>
                  <a:schemeClr val="tx1"/>
                </a:solidFill>
                <a:latin typeface="+mj-lt"/>
              </a:rPr>
              <a:t>Inventra</a:t>
            </a:r>
            <a:r>
              <a:rPr lang="en-US" sz="2400" dirty="0">
                <a:solidFill>
                  <a:schemeClr val="tx1"/>
                </a:solidFill>
                <a:latin typeface="+mj-lt"/>
              </a:rPr>
              <a:t> is an Inventory Management System that automates stock tracking, forecasting, and order management.</a:t>
            </a:r>
          </a:p>
          <a:p>
            <a:pPr marL="139700"/>
            <a:endParaRPr lang="en-US" sz="2400" dirty="0">
              <a:solidFill>
                <a:schemeClr val="tx1"/>
              </a:solidFill>
              <a:latin typeface="+mj-lt"/>
            </a:endParaRPr>
          </a:p>
          <a:p>
            <a:pPr marL="285750" indent="-285750">
              <a:buFont typeface="Arial" panose="020B0604020202020204" pitchFamily="34" charset="0"/>
              <a:buChar char="•"/>
            </a:pPr>
            <a:r>
              <a:rPr lang="en-US" sz="2400" dirty="0">
                <a:solidFill>
                  <a:schemeClr val="tx1"/>
                </a:solidFill>
                <a:latin typeface="+mj-lt"/>
              </a:rPr>
              <a:t>It aims to reduce human errors, optimize stock levels, and improve business efficiency.</a:t>
            </a:r>
          </a:p>
          <a:p>
            <a:pPr marL="425450" indent="-285750">
              <a:buFont typeface="Arial" panose="020B0604020202020204" pitchFamily="34" charset="0"/>
              <a:buChar char="•"/>
            </a:pPr>
            <a:endParaRPr lang="en-US" sz="2400" dirty="0">
              <a:solidFill>
                <a:schemeClr val="tx1"/>
              </a:solidFill>
              <a:latin typeface="+mj-lt"/>
            </a:endParaRPr>
          </a:p>
          <a:p>
            <a:pPr marL="285750" indent="-285750">
              <a:buFont typeface="Arial" panose="020B0604020202020204" pitchFamily="34" charset="0"/>
              <a:buChar char="•"/>
            </a:pPr>
            <a:r>
              <a:rPr lang="en-US" sz="2400" dirty="0">
                <a:solidFill>
                  <a:schemeClr val="tx1"/>
                </a:solidFill>
                <a:latin typeface="+mj-lt"/>
              </a:rPr>
              <a:t>The system intelligently predicts inventory needs and ensures smooth supply chain operations.</a:t>
            </a:r>
          </a:p>
          <a:p>
            <a:endParaRPr lang="en-US" sz="2400" dirty="0">
              <a:latin typeface="+mj-lt"/>
            </a:endParaRPr>
          </a:p>
          <a:p>
            <a:r>
              <a:rPr lang="en-US" sz="2400" b="1" dirty="0">
                <a:solidFill>
                  <a:schemeClr val="bg2">
                    <a:lumMod val="10000"/>
                  </a:schemeClr>
                </a:solidFill>
                <a:latin typeface="+mj-lt"/>
              </a:rPr>
              <a:t>   </a:t>
            </a:r>
            <a:r>
              <a:rPr lang="en-US" sz="2400" b="1" dirty="0" err="1">
                <a:solidFill>
                  <a:schemeClr val="bg2">
                    <a:lumMod val="10000"/>
                  </a:schemeClr>
                </a:solidFill>
                <a:latin typeface="+mj-lt"/>
              </a:rPr>
              <a:t>Inventra</a:t>
            </a:r>
            <a:r>
              <a:rPr lang="en-US" sz="2400" b="1" dirty="0">
                <a:solidFill>
                  <a:schemeClr val="bg2">
                    <a:lumMod val="10000"/>
                  </a:schemeClr>
                </a:solidFill>
                <a:latin typeface="+mj-lt"/>
              </a:rPr>
              <a:t> = Inventory + Intelligent    Automation</a:t>
            </a:r>
            <a:endParaRPr lang="en-US" sz="2400" dirty="0">
              <a:solidFill>
                <a:schemeClr val="bg2">
                  <a:lumMod val="10000"/>
                </a:schemeClr>
              </a:solidFill>
              <a:latin typeface="+mj-lt"/>
            </a:endParaRPr>
          </a:p>
        </p:txBody>
      </p:sp>
    </p:spTree>
    <p:extLst>
      <p:ext uri="{BB962C8B-B14F-4D97-AF65-F5344CB8AC3E}">
        <p14:creationId xmlns:p14="http://schemas.microsoft.com/office/powerpoint/2010/main" val="4160066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E796E-582A-17ED-3A1E-2432B38CAC96}"/>
              </a:ext>
            </a:extLst>
          </p:cNvPr>
          <p:cNvSpPr>
            <a:spLocks noGrp="1"/>
          </p:cNvSpPr>
          <p:nvPr>
            <p:ph type="title"/>
          </p:nvPr>
        </p:nvSpPr>
        <p:spPr>
          <a:xfrm>
            <a:off x="2641600" y="355600"/>
            <a:ext cx="6925733" cy="931333"/>
          </a:xfrm>
        </p:spPr>
        <p:txBody>
          <a:bodyPr/>
          <a:lstStyle/>
          <a:p>
            <a:r>
              <a:rPr lang="en-IN" b="1" dirty="0">
                <a:solidFill>
                  <a:schemeClr val="tx1"/>
                </a:solidFill>
              </a:rPr>
              <a:t>Module 1: Authentication </a:t>
            </a:r>
            <a:br>
              <a:rPr lang="en-IN" dirty="0"/>
            </a:br>
            <a:endParaRPr lang="en-IN" dirty="0"/>
          </a:p>
        </p:txBody>
      </p:sp>
      <p:sp>
        <p:nvSpPr>
          <p:cNvPr id="6" name="TextBox 5">
            <a:extLst>
              <a:ext uri="{FF2B5EF4-FFF2-40B4-BE49-F238E27FC236}">
                <a16:creationId xmlns:a16="http://schemas.microsoft.com/office/drawing/2014/main" id="{FF7C6309-7292-94CF-D6EB-078BB9126EE2}"/>
              </a:ext>
            </a:extLst>
          </p:cNvPr>
          <p:cNvSpPr txBox="1"/>
          <p:nvPr/>
        </p:nvSpPr>
        <p:spPr>
          <a:xfrm>
            <a:off x="423333" y="863600"/>
            <a:ext cx="11413067" cy="5940088"/>
          </a:xfrm>
          <a:prstGeom prst="rect">
            <a:avLst/>
          </a:prstGeom>
          <a:noFill/>
        </p:spPr>
        <p:txBody>
          <a:bodyPr wrap="square">
            <a:spAutoFit/>
          </a:bodyPr>
          <a:lstStyle/>
          <a:p>
            <a:r>
              <a:rPr lang="en-IN" sz="2000" b="1" dirty="0">
                <a:latin typeface="+mj-lt"/>
              </a:rPr>
              <a:t>The Authentication Module manages user login, registration, and access control.</a:t>
            </a:r>
          </a:p>
          <a:p>
            <a:endParaRPr lang="en-IN" sz="2000" dirty="0">
              <a:latin typeface="+mj-lt"/>
            </a:endParaRPr>
          </a:p>
          <a:p>
            <a:r>
              <a:rPr lang="en-US" sz="2000" b="1" dirty="0">
                <a:latin typeface="+mj-lt"/>
              </a:rPr>
              <a:t>Classes are :</a:t>
            </a:r>
          </a:p>
          <a:p>
            <a:endParaRPr lang="en-US" sz="2000" b="1" dirty="0">
              <a:latin typeface="+mj-lt"/>
            </a:endParaRPr>
          </a:p>
          <a:p>
            <a:r>
              <a:rPr lang="en-US" sz="2000" b="1" dirty="0">
                <a:latin typeface="+mj-lt"/>
              </a:rPr>
              <a:t>1. User</a:t>
            </a:r>
          </a:p>
          <a:p>
            <a:r>
              <a:rPr lang="en-US" sz="2000" b="1" dirty="0">
                <a:latin typeface="+mj-lt"/>
              </a:rPr>
              <a:t>Use:</a:t>
            </a:r>
            <a:r>
              <a:rPr lang="en-US" sz="2000" dirty="0">
                <a:latin typeface="+mj-lt"/>
              </a:rPr>
              <a:t> Stores user information (name, email, role).</a:t>
            </a:r>
          </a:p>
          <a:p>
            <a:r>
              <a:rPr lang="en-US" sz="2000" b="1" dirty="0">
                <a:latin typeface="+mj-lt"/>
              </a:rPr>
              <a:t>Purpose:</a:t>
            </a:r>
            <a:r>
              <a:rPr lang="en-US" sz="2000" dirty="0">
                <a:latin typeface="+mj-lt"/>
              </a:rPr>
              <a:t> Identifies each user in the system.</a:t>
            </a:r>
          </a:p>
          <a:p>
            <a:r>
              <a:rPr lang="en-US" sz="2000" b="1" dirty="0">
                <a:latin typeface="+mj-lt"/>
              </a:rPr>
              <a:t>2. </a:t>
            </a:r>
            <a:r>
              <a:rPr lang="en-US" sz="2000" b="1" dirty="0" err="1">
                <a:latin typeface="+mj-lt"/>
              </a:rPr>
              <a:t>AuthController</a:t>
            </a:r>
            <a:endParaRPr lang="en-US" sz="2000" b="1" dirty="0">
              <a:latin typeface="+mj-lt"/>
            </a:endParaRPr>
          </a:p>
          <a:p>
            <a:r>
              <a:rPr lang="en-US" sz="2000" b="1" dirty="0">
                <a:latin typeface="+mj-lt"/>
              </a:rPr>
              <a:t>Use:</a:t>
            </a:r>
            <a:r>
              <a:rPr lang="en-US" sz="2000" dirty="0">
                <a:latin typeface="+mj-lt"/>
              </a:rPr>
              <a:t> Handles login, signup, and logout API requests.</a:t>
            </a:r>
          </a:p>
          <a:p>
            <a:r>
              <a:rPr lang="en-US" sz="2000" b="1" dirty="0">
                <a:latin typeface="+mj-lt"/>
              </a:rPr>
              <a:t>Purpose:</a:t>
            </a:r>
            <a:r>
              <a:rPr lang="en-US" sz="2000" dirty="0">
                <a:latin typeface="+mj-lt"/>
              </a:rPr>
              <a:t> Receives user input and communicates with </a:t>
            </a:r>
            <a:r>
              <a:rPr lang="en-US" sz="2000" dirty="0" err="1">
                <a:latin typeface="+mj-lt"/>
              </a:rPr>
              <a:t>AuthService</a:t>
            </a:r>
            <a:r>
              <a:rPr lang="en-US" sz="2000" dirty="0">
                <a:latin typeface="+mj-lt"/>
              </a:rPr>
              <a:t>.</a:t>
            </a:r>
          </a:p>
          <a:p>
            <a:r>
              <a:rPr lang="en-US" sz="2000" b="1" dirty="0">
                <a:latin typeface="+mj-lt"/>
              </a:rPr>
              <a:t>3. </a:t>
            </a:r>
            <a:r>
              <a:rPr lang="en-US" sz="2000" b="1" dirty="0" err="1">
                <a:latin typeface="+mj-lt"/>
              </a:rPr>
              <a:t>AuthService</a:t>
            </a:r>
            <a:endParaRPr lang="en-US" sz="2000" b="1" dirty="0">
              <a:latin typeface="+mj-lt"/>
            </a:endParaRPr>
          </a:p>
          <a:p>
            <a:r>
              <a:rPr lang="en-US" sz="2000" b="1" dirty="0">
                <a:latin typeface="+mj-lt"/>
              </a:rPr>
              <a:t>Use:</a:t>
            </a:r>
            <a:r>
              <a:rPr lang="en-US" sz="2000" dirty="0">
                <a:latin typeface="+mj-lt"/>
              </a:rPr>
              <a:t> Validates credentials, encrypts passwords, generates JWT tokens.</a:t>
            </a:r>
          </a:p>
          <a:p>
            <a:r>
              <a:rPr lang="en-US" sz="2000" b="1" dirty="0">
                <a:latin typeface="+mj-lt"/>
              </a:rPr>
              <a:t>Purpose:</a:t>
            </a:r>
            <a:r>
              <a:rPr lang="en-US" sz="2000" dirty="0">
                <a:latin typeface="+mj-lt"/>
              </a:rPr>
              <a:t> Core logic of authentication and authorization.</a:t>
            </a:r>
          </a:p>
          <a:p>
            <a:r>
              <a:rPr lang="en-US" sz="2000" b="1" dirty="0">
                <a:latin typeface="+mj-lt"/>
              </a:rPr>
              <a:t>4. </a:t>
            </a:r>
            <a:r>
              <a:rPr lang="en-US" sz="2000" b="1" dirty="0" err="1">
                <a:latin typeface="+mj-lt"/>
              </a:rPr>
              <a:t>UserRepository</a:t>
            </a:r>
            <a:endParaRPr lang="en-US" sz="2000" b="1" dirty="0">
              <a:latin typeface="+mj-lt"/>
            </a:endParaRPr>
          </a:p>
          <a:p>
            <a:r>
              <a:rPr lang="en-US" sz="2000" b="1" dirty="0">
                <a:latin typeface="+mj-lt"/>
              </a:rPr>
              <a:t>Use:</a:t>
            </a:r>
            <a:r>
              <a:rPr lang="en-US" sz="2000" dirty="0">
                <a:latin typeface="+mj-lt"/>
              </a:rPr>
              <a:t> Interacts with the database to fetch/save user records.</a:t>
            </a:r>
          </a:p>
          <a:p>
            <a:r>
              <a:rPr lang="en-US" sz="2000" b="1" dirty="0">
                <a:latin typeface="+mj-lt"/>
              </a:rPr>
              <a:t>Purpose:</a:t>
            </a:r>
            <a:r>
              <a:rPr lang="en-US" sz="2000" dirty="0">
                <a:latin typeface="+mj-lt"/>
              </a:rPr>
              <a:t> Provides CRUD operations for users.</a:t>
            </a:r>
          </a:p>
          <a:p>
            <a:r>
              <a:rPr lang="en-US" sz="2000" b="1" dirty="0">
                <a:latin typeface="+mj-lt"/>
              </a:rPr>
              <a:t>5. </a:t>
            </a:r>
            <a:r>
              <a:rPr lang="en-US" sz="2000" b="1" dirty="0" err="1">
                <a:latin typeface="+mj-lt"/>
              </a:rPr>
              <a:t>JwtUtil</a:t>
            </a:r>
            <a:endParaRPr lang="en-US" sz="2000" b="1" dirty="0">
              <a:latin typeface="+mj-lt"/>
            </a:endParaRPr>
          </a:p>
          <a:p>
            <a:r>
              <a:rPr lang="en-US" sz="2000" b="1" dirty="0">
                <a:latin typeface="+mj-lt"/>
              </a:rPr>
              <a:t>Use:</a:t>
            </a:r>
            <a:r>
              <a:rPr lang="en-US" sz="2000" dirty="0">
                <a:latin typeface="+mj-lt"/>
              </a:rPr>
              <a:t> Generates, validates, and refreshes JWT tokens.</a:t>
            </a:r>
          </a:p>
          <a:p>
            <a:r>
              <a:rPr lang="en-US" sz="2000" b="1" dirty="0">
                <a:latin typeface="+mj-lt"/>
              </a:rPr>
              <a:t>Purpose:</a:t>
            </a:r>
            <a:r>
              <a:rPr lang="en-US" sz="2000" dirty="0">
                <a:latin typeface="+mj-lt"/>
              </a:rPr>
              <a:t> Ensures secure communication between client and server.</a:t>
            </a:r>
          </a:p>
        </p:txBody>
      </p:sp>
    </p:spTree>
    <p:extLst>
      <p:ext uri="{BB962C8B-B14F-4D97-AF65-F5344CB8AC3E}">
        <p14:creationId xmlns:p14="http://schemas.microsoft.com/office/powerpoint/2010/main" val="1173412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CA8C0-0530-2B48-B075-BE4E3EBB6E8C}"/>
              </a:ext>
            </a:extLst>
          </p:cNvPr>
          <p:cNvSpPr>
            <a:spLocks noGrp="1"/>
          </p:cNvSpPr>
          <p:nvPr>
            <p:ph type="title"/>
          </p:nvPr>
        </p:nvSpPr>
        <p:spPr>
          <a:xfrm rot="10800000" flipV="1">
            <a:off x="914400" y="868681"/>
            <a:ext cx="8280400" cy="45719"/>
          </a:xfrm>
        </p:spPr>
        <p:txBody>
          <a:bodyPr/>
          <a:lstStyle/>
          <a:p>
            <a:r>
              <a:rPr lang="en-IN" b="1" dirty="0"/>
              <a:t>Database Schema</a:t>
            </a:r>
          </a:p>
        </p:txBody>
      </p:sp>
      <p:graphicFrame>
        <p:nvGraphicFramePr>
          <p:cNvPr id="8" name="Table 7">
            <a:extLst>
              <a:ext uri="{FF2B5EF4-FFF2-40B4-BE49-F238E27FC236}">
                <a16:creationId xmlns:a16="http://schemas.microsoft.com/office/drawing/2014/main" id="{99C2B962-6B10-9485-E4FE-C05C5B21E02B}"/>
              </a:ext>
            </a:extLst>
          </p:cNvPr>
          <p:cNvGraphicFramePr>
            <a:graphicFrameLocks noGrp="1"/>
          </p:cNvGraphicFramePr>
          <p:nvPr>
            <p:extLst>
              <p:ext uri="{D42A27DB-BD31-4B8C-83A1-F6EECF244321}">
                <p14:modId xmlns:p14="http://schemas.microsoft.com/office/powerpoint/2010/main" val="181288345"/>
              </p:ext>
            </p:extLst>
          </p:nvPr>
        </p:nvGraphicFramePr>
        <p:xfrm>
          <a:off x="1296365" y="1798700"/>
          <a:ext cx="8863635" cy="4449704"/>
        </p:xfrm>
        <a:graphic>
          <a:graphicData uri="http://schemas.openxmlformats.org/drawingml/2006/table">
            <a:tbl>
              <a:tblPr/>
              <a:tblGrid>
                <a:gridCol w="2954545">
                  <a:extLst>
                    <a:ext uri="{9D8B030D-6E8A-4147-A177-3AD203B41FA5}">
                      <a16:colId xmlns:a16="http://schemas.microsoft.com/office/drawing/2014/main" val="2247501993"/>
                    </a:ext>
                  </a:extLst>
                </a:gridCol>
                <a:gridCol w="2954545">
                  <a:extLst>
                    <a:ext uri="{9D8B030D-6E8A-4147-A177-3AD203B41FA5}">
                      <a16:colId xmlns:a16="http://schemas.microsoft.com/office/drawing/2014/main" val="888188665"/>
                    </a:ext>
                  </a:extLst>
                </a:gridCol>
                <a:gridCol w="2954545">
                  <a:extLst>
                    <a:ext uri="{9D8B030D-6E8A-4147-A177-3AD203B41FA5}">
                      <a16:colId xmlns:a16="http://schemas.microsoft.com/office/drawing/2014/main" val="422005254"/>
                    </a:ext>
                  </a:extLst>
                </a:gridCol>
              </a:tblGrid>
              <a:tr h="556213">
                <a:tc>
                  <a:txBody>
                    <a:bodyPr/>
                    <a:lstStyle/>
                    <a:p>
                      <a:pPr>
                        <a:buNone/>
                      </a:pPr>
                      <a:r>
                        <a:rPr lang="en-IN" sz="1800">
                          <a:latin typeface="+mj-lt"/>
                        </a:rPr>
                        <a:t>Column Name</a:t>
                      </a:r>
                    </a:p>
                  </a:txBody>
                  <a:tcPr anchor="ctr">
                    <a:lnL>
                      <a:noFill/>
                    </a:lnL>
                    <a:lnR>
                      <a:noFill/>
                    </a:lnR>
                    <a:lnT>
                      <a:noFill/>
                    </a:lnT>
                    <a:lnB>
                      <a:noFill/>
                    </a:lnB>
                    <a:noFill/>
                  </a:tcPr>
                </a:tc>
                <a:tc>
                  <a:txBody>
                    <a:bodyPr/>
                    <a:lstStyle/>
                    <a:p>
                      <a:pPr>
                        <a:buNone/>
                      </a:pPr>
                      <a:r>
                        <a:rPr lang="en-IN" sz="1800">
                          <a:latin typeface="+mj-lt"/>
                        </a:rPr>
                        <a:t>Type</a:t>
                      </a:r>
                    </a:p>
                  </a:txBody>
                  <a:tcPr anchor="ctr">
                    <a:lnL>
                      <a:noFill/>
                    </a:lnL>
                    <a:lnR>
                      <a:noFill/>
                    </a:lnR>
                    <a:lnT>
                      <a:noFill/>
                    </a:lnT>
                    <a:lnB>
                      <a:noFill/>
                    </a:lnB>
                    <a:noFill/>
                  </a:tcPr>
                </a:tc>
                <a:tc>
                  <a:txBody>
                    <a:bodyPr/>
                    <a:lstStyle/>
                    <a:p>
                      <a:pPr>
                        <a:buNone/>
                      </a:pPr>
                      <a:r>
                        <a:rPr lang="en-IN" sz="1800">
                          <a:latin typeface="+mj-lt"/>
                        </a:rPr>
                        <a:t>Description</a:t>
                      </a:r>
                    </a:p>
                  </a:txBody>
                  <a:tcPr anchor="ctr">
                    <a:lnL>
                      <a:noFill/>
                    </a:lnL>
                    <a:lnR>
                      <a:noFill/>
                    </a:lnR>
                    <a:lnT>
                      <a:noFill/>
                    </a:lnT>
                    <a:lnB>
                      <a:noFill/>
                    </a:lnB>
                    <a:noFill/>
                  </a:tcPr>
                </a:tc>
                <a:extLst>
                  <a:ext uri="{0D108BD9-81ED-4DB2-BD59-A6C34878D82A}">
                    <a16:rowId xmlns:a16="http://schemas.microsoft.com/office/drawing/2014/main" val="4100008076"/>
                  </a:ext>
                </a:extLst>
              </a:tr>
              <a:tr h="556213">
                <a:tc>
                  <a:txBody>
                    <a:bodyPr/>
                    <a:lstStyle/>
                    <a:p>
                      <a:pPr>
                        <a:buNone/>
                      </a:pPr>
                      <a:r>
                        <a:rPr lang="en-IN" sz="1800">
                          <a:latin typeface="+mj-lt"/>
                        </a:rPr>
                        <a:t>user_id (PK)</a:t>
                      </a:r>
                    </a:p>
                  </a:txBody>
                  <a:tcPr anchor="ctr">
                    <a:lnL>
                      <a:noFill/>
                    </a:lnL>
                    <a:lnR>
                      <a:noFill/>
                    </a:lnR>
                    <a:lnT>
                      <a:noFill/>
                    </a:lnT>
                    <a:lnB>
                      <a:noFill/>
                    </a:lnB>
                    <a:noFill/>
                  </a:tcPr>
                </a:tc>
                <a:tc>
                  <a:txBody>
                    <a:bodyPr/>
                    <a:lstStyle/>
                    <a:p>
                      <a:pPr>
                        <a:buNone/>
                      </a:pPr>
                      <a:r>
                        <a:rPr lang="en-IN" sz="1800" dirty="0">
                          <a:latin typeface="+mj-lt"/>
                        </a:rPr>
                        <a:t>INT </a:t>
                      </a:r>
                    </a:p>
                  </a:txBody>
                  <a:tcPr anchor="ctr">
                    <a:lnL>
                      <a:noFill/>
                    </a:lnL>
                    <a:lnR>
                      <a:noFill/>
                    </a:lnR>
                    <a:lnT>
                      <a:noFill/>
                    </a:lnT>
                    <a:lnB>
                      <a:noFill/>
                    </a:lnB>
                    <a:noFill/>
                  </a:tcPr>
                </a:tc>
                <a:tc>
                  <a:txBody>
                    <a:bodyPr/>
                    <a:lstStyle/>
                    <a:p>
                      <a:pPr>
                        <a:buNone/>
                      </a:pPr>
                      <a:r>
                        <a:rPr lang="en-IN" sz="1800" dirty="0">
                          <a:latin typeface="+mj-lt"/>
                        </a:rPr>
                        <a:t>Unique user identifier</a:t>
                      </a:r>
                    </a:p>
                  </a:txBody>
                  <a:tcPr anchor="ctr">
                    <a:lnL>
                      <a:noFill/>
                    </a:lnL>
                    <a:lnR>
                      <a:noFill/>
                    </a:lnR>
                    <a:lnT>
                      <a:noFill/>
                    </a:lnT>
                    <a:lnB>
                      <a:noFill/>
                    </a:lnB>
                    <a:noFill/>
                  </a:tcPr>
                </a:tc>
                <a:extLst>
                  <a:ext uri="{0D108BD9-81ED-4DB2-BD59-A6C34878D82A}">
                    <a16:rowId xmlns:a16="http://schemas.microsoft.com/office/drawing/2014/main" val="97990762"/>
                  </a:ext>
                </a:extLst>
              </a:tr>
              <a:tr h="556213">
                <a:tc>
                  <a:txBody>
                    <a:bodyPr/>
                    <a:lstStyle/>
                    <a:p>
                      <a:pPr>
                        <a:buNone/>
                      </a:pPr>
                      <a:r>
                        <a:rPr lang="en-IN" sz="1800">
                          <a:latin typeface="+mj-lt"/>
                        </a:rPr>
                        <a:t>name</a:t>
                      </a:r>
                    </a:p>
                  </a:txBody>
                  <a:tcPr anchor="ctr">
                    <a:lnL>
                      <a:noFill/>
                    </a:lnL>
                    <a:lnR>
                      <a:noFill/>
                    </a:lnR>
                    <a:lnT>
                      <a:noFill/>
                    </a:lnT>
                    <a:lnB>
                      <a:noFill/>
                    </a:lnB>
                    <a:noFill/>
                  </a:tcPr>
                </a:tc>
                <a:tc>
                  <a:txBody>
                    <a:bodyPr/>
                    <a:lstStyle/>
                    <a:p>
                      <a:pPr>
                        <a:buNone/>
                      </a:pPr>
                      <a:r>
                        <a:rPr lang="en-IN" sz="1800">
                          <a:latin typeface="+mj-lt"/>
                        </a:rPr>
                        <a:t>VARCHAR(100)</a:t>
                      </a:r>
                    </a:p>
                  </a:txBody>
                  <a:tcPr anchor="ctr">
                    <a:lnL>
                      <a:noFill/>
                    </a:lnL>
                    <a:lnR>
                      <a:noFill/>
                    </a:lnR>
                    <a:lnT>
                      <a:noFill/>
                    </a:lnT>
                    <a:lnB>
                      <a:noFill/>
                    </a:lnB>
                    <a:noFill/>
                  </a:tcPr>
                </a:tc>
                <a:tc>
                  <a:txBody>
                    <a:bodyPr/>
                    <a:lstStyle/>
                    <a:p>
                      <a:pPr>
                        <a:buNone/>
                      </a:pPr>
                      <a:r>
                        <a:rPr lang="en-IN" sz="1800">
                          <a:latin typeface="+mj-lt"/>
                        </a:rPr>
                        <a:t>User full name</a:t>
                      </a:r>
                    </a:p>
                  </a:txBody>
                  <a:tcPr anchor="ctr">
                    <a:lnL>
                      <a:noFill/>
                    </a:lnL>
                    <a:lnR>
                      <a:noFill/>
                    </a:lnR>
                    <a:lnT>
                      <a:noFill/>
                    </a:lnT>
                    <a:lnB>
                      <a:noFill/>
                    </a:lnB>
                    <a:noFill/>
                  </a:tcPr>
                </a:tc>
                <a:extLst>
                  <a:ext uri="{0D108BD9-81ED-4DB2-BD59-A6C34878D82A}">
                    <a16:rowId xmlns:a16="http://schemas.microsoft.com/office/drawing/2014/main" val="579622358"/>
                  </a:ext>
                </a:extLst>
              </a:tr>
              <a:tr h="556213">
                <a:tc>
                  <a:txBody>
                    <a:bodyPr/>
                    <a:lstStyle/>
                    <a:p>
                      <a:pPr>
                        <a:buNone/>
                      </a:pPr>
                      <a:r>
                        <a:rPr lang="en-IN" sz="1800">
                          <a:latin typeface="+mj-lt"/>
                        </a:rPr>
                        <a:t>email</a:t>
                      </a:r>
                    </a:p>
                  </a:txBody>
                  <a:tcPr anchor="ctr">
                    <a:lnL>
                      <a:noFill/>
                    </a:lnL>
                    <a:lnR>
                      <a:noFill/>
                    </a:lnR>
                    <a:lnT>
                      <a:noFill/>
                    </a:lnT>
                    <a:lnB>
                      <a:noFill/>
                    </a:lnB>
                    <a:noFill/>
                  </a:tcPr>
                </a:tc>
                <a:tc>
                  <a:txBody>
                    <a:bodyPr/>
                    <a:lstStyle/>
                    <a:p>
                      <a:pPr>
                        <a:buNone/>
                      </a:pPr>
                      <a:r>
                        <a:rPr lang="en-IN" sz="1800" dirty="0">
                          <a:latin typeface="+mj-lt"/>
                        </a:rPr>
                        <a:t>VARCHAR(150)</a:t>
                      </a:r>
                    </a:p>
                  </a:txBody>
                  <a:tcPr anchor="ctr">
                    <a:lnL>
                      <a:noFill/>
                    </a:lnL>
                    <a:lnR>
                      <a:noFill/>
                    </a:lnR>
                    <a:lnT>
                      <a:noFill/>
                    </a:lnT>
                    <a:lnB>
                      <a:noFill/>
                    </a:lnB>
                    <a:noFill/>
                  </a:tcPr>
                </a:tc>
                <a:tc>
                  <a:txBody>
                    <a:bodyPr/>
                    <a:lstStyle/>
                    <a:p>
                      <a:pPr>
                        <a:buNone/>
                      </a:pPr>
                      <a:r>
                        <a:rPr lang="en-IN" sz="1800">
                          <a:latin typeface="+mj-lt"/>
                        </a:rPr>
                        <a:t>Unique email for login</a:t>
                      </a:r>
                    </a:p>
                  </a:txBody>
                  <a:tcPr anchor="ctr">
                    <a:lnL>
                      <a:noFill/>
                    </a:lnL>
                    <a:lnR>
                      <a:noFill/>
                    </a:lnR>
                    <a:lnT>
                      <a:noFill/>
                    </a:lnT>
                    <a:lnB>
                      <a:noFill/>
                    </a:lnB>
                    <a:noFill/>
                  </a:tcPr>
                </a:tc>
                <a:extLst>
                  <a:ext uri="{0D108BD9-81ED-4DB2-BD59-A6C34878D82A}">
                    <a16:rowId xmlns:a16="http://schemas.microsoft.com/office/drawing/2014/main" val="2204246601"/>
                  </a:ext>
                </a:extLst>
              </a:tr>
              <a:tr h="556213">
                <a:tc>
                  <a:txBody>
                    <a:bodyPr/>
                    <a:lstStyle/>
                    <a:p>
                      <a:pPr>
                        <a:buNone/>
                      </a:pPr>
                      <a:r>
                        <a:rPr lang="en-IN" sz="1800" dirty="0">
                          <a:latin typeface="+mj-lt"/>
                        </a:rPr>
                        <a:t>password</a:t>
                      </a:r>
                    </a:p>
                  </a:txBody>
                  <a:tcPr anchor="ctr">
                    <a:lnL>
                      <a:noFill/>
                    </a:lnL>
                    <a:lnR>
                      <a:noFill/>
                    </a:lnR>
                    <a:lnT>
                      <a:noFill/>
                    </a:lnT>
                    <a:lnB>
                      <a:noFill/>
                    </a:lnB>
                    <a:noFill/>
                  </a:tcPr>
                </a:tc>
                <a:tc>
                  <a:txBody>
                    <a:bodyPr/>
                    <a:lstStyle/>
                    <a:p>
                      <a:pPr>
                        <a:buNone/>
                      </a:pPr>
                      <a:r>
                        <a:rPr lang="en-IN" sz="1800">
                          <a:latin typeface="+mj-lt"/>
                        </a:rPr>
                        <a:t>VARCHAR(255)</a:t>
                      </a:r>
                    </a:p>
                  </a:txBody>
                  <a:tcPr anchor="ctr">
                    <a:lnL>
                      <a:noFill/>
                    </a:lnL>
                    <a:lnR>
                      <a:noFill/>
                    </a:lnR>
                    <a:lnT>
                      <a:noFill/>
                    </a:lnT>
                    <a:lnB>
                      <a:noFill/>
                    </a:lnB>
                    <a:noFill/>
                  </a:tcPr>
                </a:tc>
                <a:tc>
                  <a:txBody>
                    <a:bodyPr/>
                    <a:lstStyle/>
                    <a:p>
                      <a:pPr>
                        <a:buNone/>
                      </a:pPr>
                      <a:r>
                        <a:rPr lang="en-IN" sz="1800">
                          <a:latin typeface="+mj-lt"/>
                        </a:rPr>
                        <a:t>Encrypted password</a:t>
                      </a:r>
                    </a:p>
                  </a:txBody>
                  <a:tcPr anchor="ctr">
                    <a:lnL>
                      <a:noFill/>
                    </a:lnL>
                    <a:lnR>
                      <a:noFill/>
                    </a:lnR>
                    <a:lnT>
                      <a:noFill/>
                    </a:lnT>
                    <a:lnB>
                      <a:noFill/>
                    </a:lnB>
                    <a:noFill/>
                  </a:tcPr>
                </a:tc>
                <a:extLst>
                  <a:ext uri="{0D108BD9-81ED-4DB2-BD59-A6C34878D82A}">
                    <a16:rowId xmlns:a16="http://schemas.microsoft.com/office/drawing/2014/main" val="3500559098"/>
                  </a:ext>
                </a:extLst>
              </a:tr>
              <a:tr h="556213">
                <a:tc>
                  <a:txBody>
                    <a:bodyPr/>
                    <a:lstStyle/>
                    <a:p>
                      <a:pPr>
                        <a:buNone/>
                      </a:pPr>
                      <a:r>
                        <a:rPr lang="en-IN" sz="1800">
                          <a:latin typeface="+mj-lt"/>
                        </a:rPr>
                        <a:t>role</a:t>
                      </a:r>
                    </a:p>
                  </a:txBody>
                  <a:tcPr anchor="ctr">
                    <a:lnL>
                      <a:noFill/>
                    </a:lnL>
                    <a:lnR>
                      <a:noFill/>
                    </a:lnR>
                    <a:lnT>
                      <a:noFill/>
                    </a:lnT>
                    <a:lnB>
                      <a:noFill/>
                    </a:lnB>
                    <a:noFill/>
                  </a:tcPr>
                </a:tc>
                <a:tc>
                  <a:txBody>
                    <a:bodyPr/>
                    <a:lstStyle/>
                    <a:p>
                      <a:pPr>
                        <a:buNone/>
                      </a:pPr>
                      <a:r>
                        <a:rPr lang="en-IN" sz="1800">
                          <a:latin typeface="+mj-lt"/>
                        </a:rPr>
                        <a:t>VARCHAR(50)</a:t>
                      </a:r>
                    </a:p>
                  </a:txBody>
                  <a:tcPr anchor="ctr">
                    <a:lnL>
                      <a:noFill/>
                    </a:lnL>
                    <a:lnR>
                      <a:noFill/>
                    </a:lnR>
                    <a:lnT>
                      <a:noFill/>
                    </a:lnT>
                    <a:lnB>
                      <a:noFill/>
                    </a:lnB>
                    <a:noFill/>
                  </a:tcPr>
                </a:tc>
                <a:tc>
                  <a:txBody>
                    <a:bodyPr/>
                    <a:lstStyle/>
                    <a:p>
                      <a:pPr>
                        <a:buNone/>
                      </a:pPr>
                      <a:r>
                        <a:rPr lang="en-IN" sz="1800" dirty="0">
                          <a:latin typeface="+mj-lt"/>
                        </a:rPr>
                        <a:t>Admin / Manager / Staff</a:t>
                      </a:r>
                    </a:p>
                  </a:txBody>
                  <a:tcPr anchor="ctr">
                    <a:lnL>
                      <a:noFill/>
                    </a:lnL>
                    <a:lnR>
                      <a:noFill/>
                    </a:lnR>
                    <a:lnT>
                      <a:noFill/>
                    </a:lnT>
                    <a:lnB>
                      <a:noFill/>
                    </a:lnB>
                    <a:noFill/>
                  </a:tcPr>
                </a:tc>
                <a:extLst>
                  <a:ext uri="{0D108BD9-81ED-4DB2-BD59-A6C34878D82A}">
                    <a16:rowId xmlns:a16="http://schemas.microsoft.com/office/drawing/2014/main" val="1468169398"/>
                  </a:ext>
                </a:extLst>
              </a:tr>
              <a:tr h="556213">
                <a:tc>
                  <a:txBody>
                    <a:bodyPr/>
                    <a:lstStyle/>
                    <a:p>
                      <a:pPr>
                        <a:buNone/>
                      </a:pPr>
                      <a:r>
                        <a:rPr lang="en-IN" sz="1800">
                          <a:latin typeface="+mj-lt"/>
                        </a:rPr>
                        <a:t>created_at</a:t>
                      </a:r>
                    </a:p>
                  </a:txBody>
                  <a:tcPr anchor="ctr">
                    <a:lnL>
                      <a:noFill/>
                    </a:lnL>
                    <a:lnR>
                      <a:noFill/>
                    </a:lnR>
                    <a:lnT>
                      <a:noFill/>
                    </a:lnT>
                    <a:lnB>
                      <a:noFill/>
                    </a:lnB>
                    <a:noFill/>
                  </a:tcPr>
                </a:tc>
                <a:tc>
                  <a:txBody>
                    <a:bodyPr/>
                    <a:lstStyle/>
                    <a:p>
                      <a:pPr>
                        <a:buNone/>
                      </a:pPr>
                      <a:r>
                        <a:rPr lang="en-IN" sz="1800" dirty="0">
                          <a:latin typeface="+mj-lt"/>
                        </a:rPr>
                        <a:t>DATETIME</a:t>
                      </a:r>
                    </a:p>
                  </a:txBody>
                  <a:tcPr anchor="ctr">
                    <a:lnL>
                      <a:noFill/>
                    </a:lnL>
                    <a:lnR>
                      <a:noFill/>
                    </a:lnR>
                    <a:lnT>
                      <a:noFill/>
                    </a:lnT>
                    <a:lnB>
                      <a:noFill/>
                    </a:lnB>
                    <a:noFill/>
                  </a:tcPr>
                </a:tc>
                <a:tc>
                  <a:txBody>
                    <a:bodyPr/>
                    <a:lstStyle/>
                    <a:p>
                      <a:pPr>
                        <a:buNone/>
                      </a:pPr>
                      <a:r>
                        <a:rPr lang="en-IN" sz="1800">
                          <a:latin typeface="+mj-lt"/>
                        </a:rPr>
                        <a:t>Account creation time</a:t>
                      </a:r>
                    </a:p>
                  </a:txBody>
                  <a:tcPr anchor="ctr">
                    <a:lnL>
                      <a:noFill/>
                    </a:lnL>
                    <a:lnR>
                      <a:noFill/>
                    </a:lnR>
                    <a:lnT>
                      <a:noFill/>
                    </a:lnT>
                    <a:lnB>
                      <a:noFill/>
                    </a:lnB>
                    <a:noFill/>
                  </a:tcPr>
                </a:tc>
                <a:extLst>
                  <a:ext uri="{0D108BD9-81ED-4DB2-BD59-A6C34878D82A}">
                    <a16:rowId xmlns:a16="http://schemas.microsoft.com/office/drawing/2014/main" val="1843932507"/>
                  </a:ext>
                </a:extLst>
              </a:tr>
              <a:tr h="556213">
                <a:tc>
                  <a:txBody>
                    <a:bodyPr/>
                    <a:lstStyle/>
                    <a:p>
                      <a:pPr>
                        <a:buNone/>
                      </a:pPr>
                      <a:r>
                        <a:rPr lang="en-IN" sz="1800" dirty="0" err="1">
                          <a:latin typeface="+mj-lt"/>
                        </a:rPr>
                        <a:t>updated_at</a:t>
                      </a:r>
                      <a:endParaRPr lang="en-IN" sz="1800" dirty="0">
                        <a:latin typeface="+mj-lt"/>
                      </a:endParaRPr>
                    </a:p>
                  </a:txBody>
                  <a:tcPr anchor="ctr">
                    <a:lnL>
                      <a:noFill/>
                    </a:lnL>
                    <a:lnR>
                      <a:noFill/>
                    </a:lnR>
                    <a:lnT>
                      <a:noFill/>
                    </a:lnT>
                    <a:lnB>
                      <a:noFill/>
                    </a:lnB>
                    <a:noFill/>
                  </a:tcPr>
                </a:tc>
                <a:tc>
                  <a:txBody>
                    <a:bodyPr/>
                    <a:lstStyle/>
                    <a:p>
                      <a:pPr>
                        <a:buNone/>
                      </a:pPr>
                      <a:r>
                        <a:rPr lang="en-IN" sz="1800">
                          <a:latin typeface="+mj-lt"/>
                        </a:rPr>
                        <a:t>DATETIME</a:t>
                      </a:r>
                    </a:p>
                  </a:txBody>
                  <a:tcPr anchor="ctr">
                    <a:lnL>
                      <a:noFill/>
                    </a:lnL>
                    <a:lnR>
                      <a:noFill/>
                    </a:lnR>
                    <a:lnT>
                      <a:noFill/>
                    </a:lnT>
                    <a:lnB>
                      <a:noFill/>
                    </a:lnB>
                    <a:noFill/>
                  </a:tcPr>
                </a:tc>
                <a:tc>
                  <a:txBody>
                    <a:bodyPr/>
                    <a:lstStyle/>
                    <a:p>
                      <a:pPr>
                        <a:buNone/>
                      </a:pPr>
                      <a:r>
                        <a:rPr lang="en-IN" sz="1800" dirty="0">
                          <a:latin typeface="+mj-lt"/>
                        </a:rPr>
                        <a:t>Last update timestamp</a:t>
                      </a:r>
                    </a:p>
                  </a:txBody>
                  <a:tcPr anchor="ctr">
                    <a:lnL>
                      <a:noFill/>
                    </a:lnL>
                    <a:lnR>
                      <a:noFill/>
                    </a:lnR>
                    <a:lnT>
                      <a:noFill/>
                    </a:lnT>
                    <a:lnB>
                      <a:noFill/>
                    </a:lnB>
                    <a:noFill/>
                  </a:tcPr>
                </a:tc>
                <a:extLst>
                  <a:ext uri="{0D108BD9-81ED-4DB2-BD59-A6C34878D82A}">
                    <a16:rowId xmlns:a16="http://schemas.microsoft.com/office/drawing/2014/main" val="3925625366"/>
                  </a:ext>
                </a:extLst>
              </a:tr>
            </a:tbl>
          </a:graphicData>
        </a:graphic>
      </p:graphicFrame>
      <p:sp>
        <p:nvSpPr>
          <p:cNvPr id="9" name="TextBox 8">
            <a:extLst>
              <a:ext uri="{FF2B5EF4-FFF2-40B4-BE49-F238E27FC236}">
                <a16:creationId xmlns:a16="http://schemas.microsoft.com/office/drawing/2014/main" id="{B172EA07-CD9F-D6A8-A7B4-1823BA7C822A}"/>
              </a:ext>
            </a:extLst>
          </p:cNvPr>
          <p:cNvSpPr txBox="1"/>
          <p:nvPr/>
        </p:nvSpPr>
        <p:spPr>
          <a:xfrm>
            <a:off x="914400" y="1188733"/>
            <a:ext cx="5961601" cy="461665"/>
          </a:xfrm>
          <a:prstGeom prst="rect">
            <a:avLst/>
          </a:prstGeom>
          <a:noFill/>
        </p:spPr>
        <p:txBody>
          <a:bodyPr wrap="square">
            <a:spAutoFit/>
          </a:bodyPr>
          <a:lstStyle/>
          <a:p>
            <a:r>
              <a:rPr kumimoji="0" lang="en-US" altLang="en-US" sz="2400" b="1" i="0" u="none" strike="noStrike" cap="none" normalizeH="0" baseline="0" dirty="0">
                <a:ln>
                  <a:noFill/>
                </a:ln>
                <a:solidFill>
                  <a:schemeClr val="tx1"/>
                </a:solidFill>
                <a:effectLst/>
                <a:latin typeface="Arial" panose="020B0604020202020204" pitchFamily="34" charset="0"/>
              </a:rPr>
              <a:t>Table: users</a:t>
            </a:r>
            <a:endParaRPr lang="en-IN" sz="2400" dirty="0"/>
          </a:p>
        </p:txBody>
      </p:sp>
    </p:spTree>
    <p:extLst>
      <p:ext uri="{BB962C8B-B14F-4D97-AF65-F5344CB8AC3E}">
        <p14:creationId xmlns:p14="http://schemas.microsoft.com/office/powerpoint/2010/main" val="618832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2D9737A-824A-51FC-35CC-A9A69A89D899}"/>
              </a:ext>
            </a:extLst>
          </p:cNvPr>
          <p:cNvSpPr>
            <a:spLocks noGrp="1"/>
          </p:cNvSpPr>
          <p:nvPr>
            <p:ph type="sldNum" sz="quarter" idx="4"/>
          </p:nvPr>
        </p:nvSpPr>
        <p:spPr/>
        <p:txBody>
          <a:bodyPr/>
          <a:lstStyle/>
          <a:p>
            <a:fld id="{58FB4751-880F-D840-AAA9-3A15815CC996}" type="slidenum">
              <a:rPr lang="en-US" smtClean="0"/>
              <a:pPr/>
              <a:t>5</a:t>
            </a:fld>
            <a:endParaRPr lang="en-US" dirty="0"/>
          </a:p>
        </p:txBody>
      </p:sp>
      <p:graphicFrame>
        <p:nvGraphicFramePr>
          <p:cNvPr id="10" name="Table 9">
            <a:extLst>
              <a:ext uri="{FF2B5EF4-FFF2-40B4-BE49-F238E27FC236}">
                <a16:creationId xmlns:a16="http://schemas.microsoft.com/office/drawing/2014/main" id="{B2D36372-7E5A-08B7-4A46-D3D7D202F1EA}"/>
              </a:ext>
            </a:extLst>
          </p:cNvPr>
          <p:cNvGraphicFramePr>
            <a:graphicFrameLocks noGrp="1"/>
          </p:cNvGraphicFramePr>
          <p:nvPr>
            <p:extLst>
              <p:ext uri="{D42A27DB-BD31-4B8C-83A1-F6EECF244321}">
                <p14:modId xmlns:p14="http://schemas.microsoft.com/office/powerpoint/2010/main" val="3304316959"/>
              </p:ext>
            </p:extLst>
          </p:nvPr>
        </p:nvGraphicFramePr>
        <p:xfrm>
          <a:off x="1811865" y="-483824"/>
          <a:ext cx="6925736" cy="3590454"/>
        </p:xfrm>
        <a:graphic>
          <a:graphicData uri="http://schemas.openxmlformats.org/drawingml/2006/table">
            <a:tbl>
              <a:tblPr/>
              <a:tblGrid>
                <a:gridCol w="1731434">
                  <a:extLst>
                    <a:ext uri="{9D8B030D-6E8A-4147-A177-3AD203B41FA5}">
                      <a16:colId xmlns:a16="http://schemas.microsoft.com/office/drawing/2014/main" val="2247501993"/>
                    </a:ext>
                  </a:extLst>
                </a:gridCol>
                <a:gridCol w="1731434">
                  <a:extLst>
                    <a:ext uri="{9D8B030D-6E8A-4147-A177-3AD203B41FA5}">
                      <a16:colId xmlns:a16="http://schemas.microsoft.com/office/drawing/2014/main" val="888188665"/>
                    </a:ext>
                  </a:extLst>
                </a:gridCol>
                <a:gridCol w="1731434">
                  <a:extLst>
                    <a:ext uri="{9D8B030D-6E8A-4147-A177-3AD203B41FA5}">
                      <a16:colId xmlns:a16="http://schemas.microsoft.com/office/drawing/2014/main" val="3595155534"/>
                    </a:ext>
                  </a:extLst>
                </a:gridCol>
                <a:gridCol w="1731434">
                  <a:extLst>
                    <a:ext uri="{9D8B030D-6E8A-4147-A177-3AD203B41FA5}">
                      <a16:colId xmlns:a16="http://schemas.microsoft.com/office/drawing/2014/main" val="422005254"/>
                    </a:ext>
                  </a:extLst>
                </a:gridCol>
              </a:tblGrid>
              <a:tr h="265113">
                <a:tc>
                  <a:txBody>
                    <a:bodyPr/>
                    <a:lstStyle/>
                    <a:p>
                      <a:pPr>
                        <a:buNone/>
                      </a:pPr>
                      <a:endParaRPr lang="en-IN" sz="1400" dirty="0"/>
                    </a:p>
                  </a:txBody>
                  <a:tcPr anchor="ctr">
                    <a:lnL>
                      <a:noFill/>
                    </a:lnL>
                    <a:lnR>
                      <a:noFill/>
                    </a:lnR>
                    <a:lnT>
                      <a:noFill/>
                    </a:lnT>
                    <a:lnB>
                      <a:noFill/>
                    </a:lnB>
                    <a:noFill/>
                  </a:tcPr>
                </a:tc>
                <a:tc>
                  <a:txBody>
                    <a:bodyPr/>
                    <a:lstStyle/>
                    <a:p>
                      <a:pPr>
                        <a:buNone/>
                      </a:pPr>
                      <a:endParaRPr lang="en-IN" sz="1400"/>
                    </a:p>
                  </a:txBody>
                  <a:tcPr anchor="ctr">
                    <a:lnL>
                      <a:noFill/>
                    </a:lnL>
                    <a:lnR>
                      <a:noFill/>
                    </a:lnR>
                    <a:lnT>
                      <a:noFill/>
                    </a:lnT>
                    <a:lnB>
                      <a:noFill/>
                    </a:lnB>
                    <a:noFill/>
                  </a:tcPr>
                </a:tc>
                <a:tc>
                  <a:txBody>
                    <a:bodyPr/>
                    <a:lstStyle/>
                    <a:p>
                      <a:pPr>
                        <a:buNone/>
                      </a:pPr>
                      <a:endParaRPr lang="en-IN" sz="1400"/>
                    </a:p>
                  </a:txBody>
                  <a:tcPr anchor="ctr">
                    <a:lnL>
                      <a:noFill/>
                    </a:lnL>
                    <a:lnR>
                      <a:noFill/>
                    </a:lnR>
                    <a:lnT>
                      <a:noFill/>
                    </a:lnT>
                    <a:lnB>
                      <a:noFill/>
                    </a:lnB>
                    <a:noFill/>
                  </a:tcPr>
                </a:tc>
                <a:tc>
                  <a:txBody>
                    <a:bodyPr/>
                    <a:lstStyle/>
                    <a:p>
                      <a:pPr>
                        <a:buNone/>
                      </a:pPr>
                      <a:endParaRPr lang="en-IN" sz="1400"/>
                    </a:p>
                  </a:txBody>
                  <a:tcPr anchor="ctr">
                    <a:lnL>
                      <a:noFill/>
                    </a:lnL>
                    <a:lnR>
                      <a:noFill/>
                    </a:lnR>
                    <a:lnT>
                      <a:noFill/>
                    </a:lnT>
                    <a:lnB>
                      <a:noFill/>
                    </a:lnB>
                    <a:noFill/>
                  </a:tcPr>
                </a:tc>
                <a:extLst>
                  <a:ext uri="{0D108BD9-81ED-4DB2-BD59-A6C34878D82A}">
                    <a16:rowId xmlns:a16="http://schemas.microsoft.com/office/drawing/2014/main" val="4100008076"/>
                  </a:ext>
                </a:extLst>
              </a:tr>
              <a:tr h="265113">
                <a:tc>
                  <a:txBody>
                    <a:bodyPr/>
                    <a:lstStyle/>
                    <a:p>
                      <a:pPr>
                        <a:buNone/>
                      </a:pPr>
                      <a:endParaRPr lang="en-IN" sz="1400"/>
                    </a:p>
                  </a:txBody>
                  <a:tcPr anchor="ctr">
                    <a:lnL>
                      <a:noFill/>
                    </a:lnL>
                    <a:lnR>
                      <a:noFill/>
                    </a:lnR>
                    <a:lnT>
                      <a:noFill/>
                    </a:lnT>
                    <a:lnB>
                      <a:noFill/>
                    </a:lnB>
                    <a:noFill/>
                  </a:tcPr>
                </a:tc>
                <a:tc>
                  <a:txBody>
                    <a:bodyPr/>
                    <a:lstStyle/>
                    <a:p>
                      <a:pPr>
                        <a:buNone/>
                      </a:pPr>
                      <a:endParaRPr lang="en-IN" sz="1400"/>
                    </a:p>
                  </a:txBody>
                  <a:tcPr anchor="ctr">
                    <a:lnL>
                      <a:noFill/>
                    </a:lnL>
                    <a:lnR>
                      <a:noFill/>
                    </a:lnR>
                    <a:lnT>
                      <a:noFill/>
                    </a:lnT>
                    <a:lnB>
                      <a:noFill/>
                    </a:lnB>
                    <a:noFill/>
                  </a:tcPr>
                </a:tc>
                <a:tc>
                  <a:txBody>
                    <a:bodyPr/>
                    <a:lstStyle/>
                    <a:p>
                      <a:pPr>
                        <a:buNone/>
                      </a:pPr>
                      <a:endParaRPr lang="en-IN" sz="1400"/>
                    </a:p>
                  </a:txBody>
                  <a:tcPr anchor="ctr">
                    <a:lnL>
                      <a:noFill/>
                    </a:lnL>
                    <a:lnR>
                      <a:noFill/>
                    </a:lnR>
                    <a:lnT>
                      <a:noFill/>
                    </a:lnT>
                    <a:lnB>
                      <a:noFill/>
                    </a:lnB>
                    <a:noFill/>
                  </a:tcPr>
                </a:tc>
                <a:tc>
                  <a:txBody>
                    <a:bodyPr/>
                    <a:lstStyle/>
                    <a:p>
                      <a:pPr>
                        <a:buNone/>
                      </a:pPr>
                      <a:endParaRPr lang="en-IN" sz="1400"/>
                    </a:p>
                  </a:txBody>
                  <a:tcPr anchor="ctr">
                    <a:lnL>
                      <a:noFill/>
                    </a:lnL>
                    <a:lnR>
                      <a:noFill/>
                    </a:lnR>
                    <a:lnT>
                      <a:noFill/>
                    </a:lnT>
                    <a:lnB>
                      <a:noFill/>
                    </a:lnB>
                    <a:noFill/>
                  </a:tcPr>
                </a:tc>
                <a:extLst>
                  <a:ext uri="{0D108BD9-81ED-4DB2-BD59-A6C34878D82A}">
                    <a16:rowId xmlns:a16="http://schemas.microsoft.com/office/drawing/2014/main" val="97990762"/>
                  </a:ext>
                </a:extLst>
              </a:tr>
              <a:tr h="265113">
                <a:tc>
                  <a:txBody>
                    <a:bodyPr/>
                    <a:lstStyle/>
                    <a:p>
                      <a:pPr>
                        <a:buNone/>
                      </a:pPr>
                      <a:endParaRPr lang="en-IN" sz="1400"/>
                    </a:p>
                  </a:txBody>
                  <a:tcPr anchor="ctr">
                    <a:lnL>
                      <a:noFill/>
                    </a:lnL>
                    <a:lnR>
                      <a:noFill/>
                    </a:lnR>
                    <a:lnT>
                      <a:noFill/>
                    </a:lnT>
                    <a:lnB>
                      <a:noFill/>
                    </a:lnB>
                    <a:noFill/>
                  </a:tcPr>
                </a:tc>
                <a:tc>
                  <a:txBody>
                    <a:bodyPr/>
                    <a:lstStyle/>
                    <a:p>
                      <a:pPr>
                        <a:buNone/>
                      </a:pPr>
                      <a:endParaRPr lang="en-IN" sz="1400"/>
                    </a:p>
                  </a:txBody>
                  <a:tcPr anchor="ctr">
                    <a:lnL>
                      <a:noFill/>
                    </a:lnL>
                    <a:lnR>
                      <a:noFill/>
                    </a:lnR>
                    <a:lnT>
                      <a:noFill/>
                    </a:lnT>
                    <a:lnB>
                      <a:noFill/>
                    </a:lnB>
                    <a:noFill/>
                  </a:tcPr>
                </a:tc>
                <a:tc>
                  <a:txBody>
                    <a:bodyPr/>
                    <a:lstStyle/>
                    <a:p>
                      <a:pPr>
                        <a:buNone/>
                      </a:pPr>
                      <a:endParaRPr lang="en-IN" sz="1400"/>
                    </a:p>
                  </a:txBody>
                  <a:tcPr anchor="ctr">
                    <a:lnL>
                      <a:noFill/>
                    </a:lnL>
                    <a:lnR>
                      <a:noFill/>
                    </a:lnR>
                    <a:lnT>
                      <a:noFill/>
                    </a:lnT>
                    <a:lnB>
                      <a:noFill/>
                    </a:lnB>
                    <a:noFill/>
                  </a:tcPr>
                </a:tc>
                <a:tc>
                  <a:txBody>
                    <a:bodyPr/>
                    <a:lstStyle/>
                    <a:p>
                      <a:pPr>
                        <a:buNone/>
                      </a:pPr>
                      <a:endParaRPr lang="en-IN" sz="1400"/>
                    </a:p>
                  </a:txBody>
                  <a:tcPr anchor="ctr">
                    <a:lnL>
                      <a:noFill/>
                    </a:lnL>
                    <a:lnR>
                      <a:noFill/>
                    </a:lnR>
                    <a:lnT>
                      <a:noFill/>
                    </a:lnT>
                    <a:lnB>
                      <a:noFill/>
                    </a:lnB>
                    <a:noFill/>
                  </a:tcPr>
                </a:tc>
                <a:extLst>
                  <a:ext uri="{0D108BD9-81ED-4DB2-BD59-A6C34878D82A}">
                    <a16:rowId xmlns:a16="http://schemas.microsoft.com/office/drawing/2014/main" val="579622358"/>
                  </a:ext>
                </a:extLst>
              </a:tr>
              <a:tr h="265113">
                <a:tc>
                  <a:txBody>
                    <a:bodyPr/>
                    <a:lstStyle/>
                    <a:p>
                      <a:pPr>
                        <a:buNone/>
                      </a:pPr>
                      <a:endParaRPr lang="en-IN" sz="1400"/>
                    </a:p>
                  </a:txBody>
                  <a:tcPr anchor="ctr">
                    <a:lnL>
                      <a:noFill/>
                    </a:lnL>
                    <a:lnR>
                      <a:noFill/>
                    </a:lnR>
                    <a:lnT>
                      <a:noFill/>
                    </a:lnT>
                    <a:lnB>
                      <a:noFill/>
                    </a:lnB>
                    <a:noFill/>
                  </a:tcPr>
                </a:tc>
                <a:tc>
                  <a:txBody>
                    <a:bodyPr/>
                    <a:lstStyle/>
                    <a:p>
                      <a:pPr>
                        <a:buNone/>
                      </a:pPr>
                      <a:endParaRPr lang="en-IN" sz="1400"/>
                    </a:p>
                  </a:txBody>
                  <a:tcPr anchor="ctr">
                    <a:lnL>
                      <a:noFill/>
                    </a:lnL>
                    <a:lnR>
                      <a:noFill/>
                    </a:lnR>
                    <a:lnT>
                      <a:noFill/>
                    </a:lnT>
                    <a:lnB>
                      <a:noFill/>
                    </a:lnB>
                    <a:noFill/>
                  </a:tcPr>
                </a:tc>
                <a:tc>
                  <a:txBody>
                    <a:bodyPr/>
                    <a:lstStyle/>
                    <a:p>
                      <a:pPr>
                        <a:buNone/>
                      </a:pPr>
                      <a:endParaRPr lang="en-IN" sz="1400"/>
                    </a:p>
                  </a:txBody>
                  <a:tcPr anchor="ctr">
                    <a:lnL>
                      <a:noFill/>
                    </a:lnL>
                    <a:lnR>
                      <a:noFill/>
                    </a:lnR>
                    <a:lnT>
                      <a:noFill/>
                    </a:lnT>
                    <a:lnB>
                      <a:noFill/>
                    </a:lnB>
                    <a:noFill/>
                  </a:tcPr>
                </a:tc>
                <a:tc>
                  <a:txBody>
                    <a:bodyPr/>
                    <a:lstStyle/>
                    <a:p>
                      <a:pPr>
                        <a:buNone/>
                      </a:pPr>
                      <a:endParaRPr lang="en-IN" sz="1400"/>
                    </a:p>
                  </a:txBody>
                  <a:tcPr anchor="ctr">
                    <a:lnL>
                      <a:noFill/>
                    </a:lnL>
                    <a:lnR>
                      <a:noFill/>
                    </a:lnR>
                    <a:lnT>
                      <a:noFill/>
                    </a:lnT>
                    <a:lnB>
                      <a:noFill/>
                    </a:lnB>
                    <a:noFill/>
                  </a:tcPr>
                </a:tc>
                <a:extLst>
                  <a:ext uri="{0D108BD9-81ED-4DB2-BD59-A6C34878D82A}">
                    <a16:rowId xmlns:a16="http://schemas.microsoft.com/office/drawing/2014/main" val="2204246601"/>
                  </a:ext>
                </a:extLst>
              </a:tr>
              <a:tr h="265113">
                <a:tc>
                  <a:txBody>
                    <a:bodyPr/>
                    <a:lstStyle/>
                    <a:p>
                      <a:pPr>
                        <a:buNone/>
                      </a:pPr>
                      <a:r>
                        <a:rPr lang="en-IN" sz="2000" b="1" dirty="0" err="1">
                          <a:latin typeface="+mj-lt"/>
                        </a:rPr>
                        <a:t>Table:roles</a:t>
                      </a:r>
                      <a:endParaRPr lang="en-IN" sz="2000" b="1" dirty="0">
                        <a:latin typeface="+mj-lt"/>
                      </a:endParaRPr>
                    </a:p>
                  </a:txBody>
                  <a:tcPr anchor="ctr">
                    <a:lnL>
                      <a:noFill/>
                    </a:lnL>
                    <a:lnR>
                      <a:noFill/>
                    </a:lnR>
                    <a:lnT>
                      <a:noFill/>
                    </a:lnT>
                    <a:lnB>
                      <a:noFill/>
                    </a:lnB>
                    <a:noFill/>
                  </a:tcPr>
                </a:tc>
                <a:tc>
                  <a:txBody>
                    <a:bodyPr/>
                    <a:lstStyle/>
                    <a:p>
                      <a:pPr>
                        <a:buNone/>
                      </a:pPr>
                      <a:endParaRPr lang="en-IN" sz="1400" dirty="0"/>
                    </a:p>
                  </a:txBody>
                  <a:tcPr anchor="ctr">
                    <a:lnL>
                      <a:noFill/>
                    </a:lnL>
                    <a:lnR>
                      <a:noFill/>
                    </a:lnR>
                    <a:lnT>
                      <a:noFill/>
                    </a:lnT>
                    <a:lnB>
                      <a:noFill/>
                    </a:lnB>
                    <a:noFill/>
                  </a:tcPr>
                </a:tc>
                <a:tc>
                  <a:txBody>
                    <a:bodyPr/>
                    <a:lstStyle/>
                    <a:p>
                      <a:pPr>
                        <a:buNone/>
                      </a:pPr>
                      <a:endParaRPr lang="en-IN" sz="1400" dirty="0"/>
                    </a:p>
                  </a:txBody>
                  <a:tcPr anchor="ctr">
                    <a:lnL>
                      <a:noFill/>
                    </a:lnL>
                    <a:lnR>
                      <a:noFill/>
                    </a:lnR>
                    <a:lnT>
                      <a:noFill/>
                    </a:lnT>
                    <a:lnB>
                      <a:noFill/>
                    </a:lnB>
                    <a:noFill/>
                  </a:tcPr>
                </a:tc>
                <a:tc>
                  <a:txBody>
                    <a:bodyPr/>
                    <a:lstStyle/>
                    <a:p>
                      <a:pPr>
                        <a:buNone/>
                      </a:pPr>
                      <a:endParaRPr lang="en-IN" sz="1400"/>
                    </a:p>
                  </a:txBody>
                  <a:tcPr anchor="ctr">
                    <a:lnL>
                      <a:noFill/>
                    </a:lnL>
                    <a:lnR>
                      <a:noFill/>
                    </a:lnR>
                    <a:lnT>
                      <a:noFill/>
                    </a:lnT>
                    <a:lnB>
                      <a:noFill/>
                    </a:lnB>
                    <a:noFill/>
                  </a:tcPr>
                </a:tc>
                <a:extLst>
                  <a:ext uri="{0D108BD9-81ED-4DB2-BD59-A6C34878D82A}">
                    <a16:rowId xmlns:a16="http://schemas.microsoft.com/office/drawing/2014/main" val="3500559098"/>
                  </a:ext>
                </a:extLst>
              </a:tr>
              <a:tr h="265113">
                <a:tc>
                  <a:txBody>
                    <a:bodyPr/>
                    <a:lstStyle/>
                    <a:p>
                      <a:pPr>
                        <a:buNone/>
                      </a:pPr>
                      <a:endParaRPr lang="en-IN" sz="1400" dirty="0"/>
                    </a:p>
                  </a:txBody>
                  <a:tcPr anchor="ctr">
                    <a:lnL>
                      <a:noFill/>
                    </a:lnL>
                    <a:lnR>
                      <a:noFill/>
                    </a:lnR>
                    <a:lnT>
                      <a:noFill/>
                    </a:lnT>
                    <a:lnB>
                      <a:noFill/>
                    </a:lnB>
                    <a:noFill/>
                  </a:tcPr>
                </a:tc>
                <a:tc>
                  <a:txBody>
                    <a:bodyPr/>
                    <a:lstStyle/>
                    <a:p>
                      <a:pPr>
                        <a:buNone/>
                      </a:pPr>
                      <a:endParaRPr lang="en-IN" sz="1400" dirty="0"/>
                    </a:p>
                  </a:txBody>
                  <a:tcPr anchor="ctr">
                    <a:lnL>
                      <a:noFill/>
                    </a:lnL>
                    <a:lnR>
                      <a:noFill/>
                    </a:lnR>
                    <a:lnT>
                      <a:noFill/>
                    </a:lnT>
                    <a:lnB>
                      <a:noFill/>
                    </a:lnB>
                    <a:noFill/>
                  </a:tcPr>
                </a:tc>
                <a:tc>
                  <a:txBody>
                    <a:bodyPr/>
                    <a:lstStyle/>
                    <a:p>
                      <a:pPr>
                        <a:buNone/>
                      </a:pPr>
                      <a:endParaRPr lang="en-IN" sz="1400"/>
                    </a:p>
                  </a:txBody>
                  <a:tcPr anchor="ctr">
                    <a:lnL>
                      <a:noFill/>
                    </a:lnL>
                    <a:lnR>
                      <a:noFill/>
                    </a:lnR>
                    <a:lnT>
                      <a:noFill/>
                    </a:lnT>
                    <a:lnB>
                      <a:noFill/>
                    </a:lnB>
                    <a:noFill/>
                  </a:tcPr>
                </a:tc>
                <a:tc>
                  <a:txBody>
                    <a:bodyPr/>
                    <a:lstStyle/>
                    <a:p>
                      <a:pPr>
                        <a:buNone/>
                      </a:pPr>
                      <a:endParaRPr lang="en-IN" sz="1400"/>
                    </a:p>
                  </a:txBody>
                  <a:tcPr anchor="ctr">
                    <a:lnL>
                      <a:noFill/>
                    </a:lnL>
                    <a:lnR>
                      <a:noFill/>
                    </a:lnR>
                    <a:lnT>
                      <a:noFill/>
                    </a:lnT>
                    <a:lnB>
                      <a:noFill/>
                    </a:lnB>
                    <a:noFill/>
                  </a:tcPr>
                </a:tc>
                <a:extLst>
                  <a:ext uri="{0D108BD9-81ED-4DB2-BD59-A6C34878D82A}">
                    <a16:rowId xmlns:a16="http://schemas.microsoft.com/office/drawing/2014/main" val="1468169398"/>
                  </a:ext>
                </a:extLst>
              </a:tr>
              <a:tr h="556738">
                <a:tc>
                  <a:txBody>
                    <a:bodyPr/>
                    <a:lstStyle/>
                    <a:p>
                      <a:pPr>
                        <a:buNone/>
                      </a:pPr>
                      <a:endParaRPr lang="en-IN" sz="1400" dirty="0"/>
                    </a:p>
                  </a:txBody>
                  <a:tcPr anchor="ctr">
                    <a:lnL>
                      <a:noFill/>
                    </a:lnL>
                    <a:lnR>
                      <a:noFill/>
                    </a:lnR>
                    <a:lnT>
                      <a:noFill/>
                    </a:lnT>
                    <a:lnB>
                      <a:noFill/>
                    </a:lnB>
                    <a:noFill/>
                  </a:tcPr>
                </a:tc>
                <a:tc>
                  <a:txBody>
                    <a:bodyPr/>
                    <a:lstStyle/>
                    <a:p>
                      <a:pPr>
                        <a:buNone/>
                      </a:pPr>
                      <a:r>
                        <a:rPr lang="en-IN" dirty="0"/>
                        <a:t>Column Name</a:t>
                      </a:r>
                    </a:p>
                  </a:txBody>
                  <a:tcPr anchor="ctr">
                    <a:lnL>
                      <a:noFill/>
                    </a:lnL>
                    <a:lnR>
                      <a:noFill/>
                    </a:lnR>
                    <a:lnT>
                      <a:noFill/>
                    </a:lnT>
                    <a:lnB>
                      <a:noFill/>
                    </a:lnB>
                    <a:noFill/>
                  </a:tcPr>
                </a:tc>
                <a:tc>
                  <a:txBody>
                    <a:bodyPr/>
                    <a:lstStyle/>
                    <a:p>
                      <a:pPr>
                        <a:buNone/>
                      </a:pPr>
                      <a:r>
                        <a:rPr lang="en-IN" dirty="0"/>
                        <a:t>Type</a:t>
                      </a:r>
                    </a:p>
                  </a:txBody>
                  <a:tcPr anchor="ctr">
                    <a:lnL>
                      <a:noFill/>
                    </a:lnL>
                    <a:lnR>
                      <a:noFill/>
                    </a:lnR>
                    <a:lnT>
                      <a:noFill/>
                    </a:lnT>
                    <a:lnB>
                      <a:noFill/>
                    </a:lnB>
                    <a:noFill/>
                  </a:tcPr>
                </a:tc>
                <a:tc>
                  <a:txBody>
                    <a:bodyPr/>
                    <a:lstStyle/>
                    <a:p>
                      <a:pPr>
                        <a:buNone/>
                      </a:pPr>
                      <a:r>
                        <a:rPr lang="en-IN" dirty="0"/>
                        <a:t>Description</a:t>
                      </a:r>
                    </a:p>
                  </a:txBody>
                  <a:tcPr anchor="ctr">
                    <a:lnL>
                      <a:noFill/>
                    </a:lnL>
                    <a:lnR>
                      <a:noFill/>
                    </a:lnR>
                    <a:lnT>
                      <a:noFill/>
                    </a:lnT>
                    <a:lnB>
                      <a:noFill/>
                    </a:lnB>
                    <a:noFill/>
                  </a:tcPr>
                </a:tc>
                <a:extLst>
                  <a:ext uri="{0D108BD9-81ED-4DB2-BD59-A6C34878D82A}">
                    <a16:rowId xmlns:a16="http://schemas.microsoft.com/office/drawing/2014/main" val="1843932507"/>
                  </a:ext>
                </a:extLst>
              </a:tr>
              <a:tr h="556738">
                <a:tc>
                  <a:txBody>
                    <a:bodyPr/>
                    <a:lstStyle/>
                    <a:p>
                      <a:pPr>
                        <a:buNone/>
                      </a:pPr>
                      <a:endParaRPr lang="en-IN" sz="1400" dirty="0"/>
                    </a:p>
                  </a:txBody>
                  <a:tcPr anchor="ctr">
                    <a:lnL>
                      <a:noFill/>
                    </a:lnL>
                    <a:lnR>
                      <a:noFill/>
                    </a:lnR>
                    <a:lnT>
                      <a:noFill/>
                    </a:lnT>
                    <a:lnB>
                      <a:noFill/>
                    </a:lnB>
                    <a:noFill/>
                  </a:tcPr>
                </a:tc>
                <a:tc>
                  <a:txBody>
                    <a:bodyPr/>
                    <a:lstStyle/>
                    <a:p>
                      <a:pPr>
                        <a:buNone/>
                      </a:pPr>
                      <a:r>
                        <a:rPr lang="en-IN" dirty="0" err="1"/>
                        <a:t>role_id</a:t>
                      </a:r>
                      <a:r>
                        <a:rPr lang="en-IN" dirty="0"/>
                        <a:t> (PK)</a:t>
                      </a:r>
                    </a:p>
                  </a:txBody>
                  <a:tcPr anchor="ctr">
                    <a:lnL>
                      <a:noFill/>
                    </a:lnL>
                    <a:lnR>
                      <a:noFill/>
                    </a:lnR>
                    <a:lnT>
                      <a:noFill/>
                    </a:lnT>
                    <a:lnB>
                      <a:noFill/>
                    </a:lnB>
                    <a:noFill/>
                  </a:tcPr>
                </a:tc>
                <a:tc>
                  <a:txBody>
                    <a:bodyPr/>
                    <a:lstStyle/>
                    <a:p>
                      <a:pPr>
                        <a:buNone/>
                      </a:pPr>
                      <a:r>
                        <a:rPr lang="en-IN" dirty="0"/>
                        <a:t>INT</a:t>
                      </a:r>
                    </a:p>
                  </a:txBody>
                  <a:tcPr anchor="ctr">
                    <a:lnL>
                      <a:noFill/>
                    </a:lnL>
                    <a:lnR>
                      <a:noFill/>
                    </a:lnR>
                    <a:lnT>
                      <a:noFill/>
                    </a:lnT>
                    <a:lnB>
                      <a:noFill/>
                    </a:lnB>
                    <a:noFill/>
                  </a:tcPr>
                </a:tc>
                <a:tc>
                  <a:txBody>
                    <a:bodyPr/>
                    <a:lstStyle/>
                    <a:p>
                      <a:pPr>
                        <a:buNone/>
                      </a:pPr>
                      <a:r>
                        <a:rPr lang="en-IN"/>
                        <a:t>Unique role ID</a:t>
                      </a:r>
                    </a:p>
                  </a:txBody>
                  <a:tcPr anchor="ctr">
                    <a:lnL>
                      <a:noFill/>
                    </a:lnL>
                    <a:lnR>
                      <a:noFill/>
                    </a:lnR>
                    <a:lnT>
                      <a:noFill/>
                    </a:lnT>
                    <a:lnB>
                      <a:noFill/>
                    </a:lnB>
                    <a:noFill/>
                  </a:tcPr>
                </a:tc>
                <a:extLst>
                  <a:ext uri="{0D108BD9-81ED-4DB2-BD59-A6C34878D82A}">
                    <a16:rowId xmlns:a16="http://schemas.microsoft.com/office/drawing/2014/main" val="3777188900"/>
                  </a:ext>
                </a:extLst>
              </a:tr>
              <a:tr h="556738">
                <a:tc>
                  <a:txBody>
                    <a:bodyPr/>
                    <a:lstStyle/>
                    <a:p>
                      <a:pPr>
                        <a:buNone/>
                      </a:pPr>
                      <a:endParaRPr lang="en-IN" sz="1400" dirty="0"/>
                    </a:p>
                  </a:txBody>
                  <a:tcPr anchor="ctr">
                    <a:lnL>
                      <a:noFill/>
                    </a:lnL>
                    <a:lnR>
                      <a:noFill/>
                    </a:lnR>
                    <a:lnT>
                      <a:noFill/>
                    </a:lnT>
                    <a:lnB>
                      <a:noFill/>
                    </a:lnB>
                    <a:noFill/>
                  </a:tcPr>
                </a:tc>
                <a:tc>
                  <a:txBody>
                    <a:bodyPr/>
                    <a:lstStyle/>
                    <a:p>
                      <a:pPr>
                        <a:buNone/>
                      </a:pPr>
                      <a:r>
                        <a:rPr lang="en-IN"/>
                        <a:t>role_name</a:t>
                      </a:r>
                    </a:p>
                  </a:txBody>
                  <a:tcPr anchor="ctr">
                    <a:lnL>
                      <a:noFill/>
                    </a:lnL>
                    <a:lnR>
                      <a:noFill/>
                    </a:lnR>
                    <a:lnT>
                      <a:noFill/>
                    </a:lnT>
                    <a:lnB>
                      <a:noFill/>
                    </a:lnB>
                    <a:noFill/>
                  </a:tcPr>
                </a:tc>
                <a:tc>
                  <a:txBody>
                    <a:bodyPr/>
                    <a:lstStyle/>
                    <a:p>
                      <a:pPr>
                        <a:buNone/>
                      </a:pPr>
                      <a:r>
                        <a:rPr lang="en-IN" dirty="0"/>
                        <a:t>VARCHAR(50)</a:t>
                      </a:r>
                    </a:p>
                  </a:txBody>
                  <a:tcPr anchor="ctr">
                    <a:lnL>
                      <a:noFill/>
                    </a:lnL>
                    <a:lnR>
                      <a:noFill/>
                    </a:lnR>
                    <a:lnT>
                      <a:noFill/>
                    </a:lnT>
                    <a:lnB>
                      <a:noFill/>
                    </a:lnB>
                    <a:noFill/>
                  </a:tcPr>
                </a:tc>
                <a:tc>
                  <a:txBody>
                    <a:bodyPr/>
                    <a:lstStyle/>
                    <a:p>
                      <a:pPr>
                        <a:buNone/>
                      </a:pPr>
                      <a:r>
                        <a:rPr lang="en-IN" dirty="0"/>
                        <a:t>Role type</a:t>
                      </a:r>
                    </a:p>
                  </a:txBody>
                  <a:tcPr anchor="ctr">
                    <a:lnL>
                      <a:noFill/>
                    </a:lnL>
                    <a:lnR>
                      <a:noFill/>
                    </a:lnR>
                    <a:lnT>
                      <a:noFill/>
                    </a:lnT>
                    <a:lnB>
                      <a:noFill/>
                    </a:lnB>
                    <a:noFill/>
                  </a:tcPr>
                </a:tc>
                <a:extLst>
                  <a:ext uri="{0D108BD9-81ED-4DB2-BD59-A6C34878D82A}">
                    <a16:rowId xmlns:a16="http://schemas.microsoft.com/office/drawing/2014/main" val="3925625366"/>
                  </a:ext>
                </a:extLst>
              </a:tr>
            </a:tbl>
          </a:graphicData>
        </a:graphic>
      </p:graphicFrame>
      <p:graphicFrame>
        <p:nvGraphicFramePr>
          <p:cNvPr id="11" name="Table 10">
            <a:extLst>
              <a:ext uri="{FF2B5EF4-FFF2-40B4-BE49-F238E27FC236}">
                <a16:creationId xmlns:a16="http://schemas.microsoft.com/office/drawing/2014/main" id="{08563206-0BA2-8558-9251-B61103BDDDC1}"/>
              </a:ext>
            </a:extLst>
          </p:cNvPr>
          <p:cNvGraphicFramePr>
            <a:graphicFrameLocks noGrp="1"/>
          </p:cNvGraphicFramePr>
          <p:nvPr>
            <p:extLst>
              <p:ext uri="{D42A27DB-BD31-4B8C-83A1-F6EECF244321}">
                <p14:modId xmlns:p14="http://schemas.microsoft.com/office/powerpoint/2010/main" val="725185597"/>
              </p:ext>
            </p:extLst>
          </p:nvPr>
        </p:nvGraphicFramePr>
        <p:xfrm>
          <a:off x="1811864" y="1539240"/>
          <a:ext cx="6692056" cy="4480560"/>
        </p:xfrm>
        <a:graphic>
          <a:graphicData uri="http://schemas.openxmlformats.org/drawingml/2006/table">
            <a:tbl>
              <a:tblPr/>
              <a:tblGrid>
                <a:gridCol w="1673014">
                  <a:extLst>
                    <a:ext uri="{9D8B030D-6E8A-4147-A177-3AD203B41FA5}">
                      <a16:colId xmlns:a16="http://schemas.microsoft.com/office/drawing/2014/main" val="2247501993"/>
                    </a:ext>
                  </a:extLst>
                </a:gridCol>
                <a:gridCol w="1673014">
                  <a:extLst>
                    <a:ext uri="{9D8B030D-6E8A-4147-A177-3AD203B41FA5}">
                      <a16:colId xmlns:a16="http://schemas.microsoft.com/office/drawing/2014/main" val="888188665"/>
                    </a:ext>
                  </a:extLst>
                </a:gridCol>
                <a:gridCol w="1673014">
                  <a:extLst>
                    <a:ext uri="{9D8B030D-6E8A-4147-A177-3AD203B41FA5}">
                      <a16:colId xmlns:a16="http://schemas.microsoft.com/office/drawing/2014/main" val="3595155534"/>
                    </a:ext>
                  </a:extLst>
                </a:gridCol>
                <a:gridCol w="1673014">
                  <a:extLst>
                    <a:ext uri="{9D8B030D-6E8A-4147-A177-3AD203B41FA5}">
                      <a16:colId xmlns:a16="http://schemas.microsoft.com/office/drawing/2014/main" val="422005254"/>
                    </a:ext>
                  </a:extLst>
                </a:gridCol>
              </a:tblGrid>
              <a:tr h="146946">
                <a:tc>
                  <a:txBody>
                    <a:bodyPr/>
                    <a:lstStyle/>
                    <a:p>
                      <a:pPr>
                        <a:buNone/>
                      </a:pPr>
                      <a:endParaRPr lang="en-IN" sz="2000" dirty="0"/>
                    </a:p>
                  </a:txBody>
                  <a:tcPr anchor="ctr">
                    <a:lnL>
                      <a:noFill/>
                    </a:lnL>
                    <a:lnR>
                      <a:noFill/>
                    </a:lnR>
                    <a:lnT>
                      <a:noFill/>
                    </a:lnT>
                    <a:lnB>
                      <a:noFill/>
                    </a:lnB>
                    <a:noFill/>
                  </a:tcPr>
                </a:tc>
                <a:tc>
                  <a:txBody>
                    <a:bodyPr/>
                    <a:lstStyle/>
                    <a:p>
                      <a:pPr>
                        <a:buNone/>
                      </a:pPr>
                      <a:endParaRPr lang="en-IN" sz="2000" dirty="0"/>
                    </a:p>
                  </a:txBody>
                  <a:tcPr anchor="ctr">
                    <a:lnL>
                      <a:noFill/>
                    </a:lnL>
                    <a:lnR>
                      <a:noFill/>
                    </a:lnR>
                    <a:lnT>
                      <a:noFill/>
                    </a:lnT>
                    <a:lnB>
                      <a:noFill/>
                    </a:lnB>
                    <a:noFill/>
                  </a:tcPr>
                </a:tc>
                <a:tc>
                  <a:txBody>
                    <a:bodyPr/>
                    <a:lstStyle/>
                    <a:p>
                      <a:pPr>
                        <a:buNone/>
                      </a:pPr>
                      <a:endParaRPr lang="en-IN" sz="2000" dirty="0"/>
                    </a:p>
                  </a:txBody>
                  <a:tcPr anchor="ctr">
                    <a:lnL>
                      <a:noFill/>
                    </a:lnL>
                    <a:lnR>
                      <a:noFill/>
                    </a:lnR>
                    <a:lnT>
                      <a:noFill/>
                    </a:lnT>
                    <a:lnB>
                      <a:noFill/>
                    </a:lnB>
                    <a:noFill/>
                  </a:tcPr>
                </a:tc>
                <a:tc>
                  <a:txBody>
                    <a:bodyPr/>
                    <a:lstStyle/>
                    <a:p>
                      <a:pPr>
                        <a:buNone/>
                      </a:pPr>
                      <a:endParaRPr lang="en-IN" sz="2000"/>
                    </a:p>
                  </a:txBody>
                  <a:tcPr anchor="ctr">
                    <a:lnL>
                      <a:noFill/>
                    </a:lnL>
                    <a:lnR>
                      <a:noFill/>
                    </a:lnR>
                    <a:lnT>
                      <a:noFill/>
                    </a:lnT>
                    <a:lnB>
                      <a:noFill/>
                    </a:lnB>
                    <a:noFill/>
                  </a:tcPr>
                </a:tc>
                <a:extLst>
                  <a:ext uri="{0D108BD9-81ED-4DB2-BD59-A6C34878D82A}">
                    <a16:rowId xmlns:a16="http://schemas.microsoft.com/office/drawing/2014/main" val="4100008076"/>
                  </a:ext>
                </a:extLst>
              </a:tr>
              <a:tr h="191030">
                <a:tc>
                  <a:txBody>
                    <a:bodyPr/>
                    <a:lstStyle/>
                    <a:p>
                      <a:pPr>
                        <a:buNone/>
                      </a:pPr>
                      <a:endParaRPr lang="en-IN" sz="2000" baseline="0" dirty="0"/>
                    </a:p>
                  </a:txBody>
                  <a:tcPr anchor="ctr">
                    <a:lnL>
                      <a:noFill/>
                    </a:lnL>
                    <a:lnR>
                      <a:noFill/>
                    </a:lnR>
                    <a:lnT>
                      <a:noFill/>
                    </a:lnT>
                    <a:lnB>
                      <a:noFill/>
                    </a:lnB>
                    <a:noFill/>
                  </a:tcPr>
                </a:tc>
                <a:tc>
                  <a:txBody>
                    <a:bodyPr/>
                    <a:lstStyle/>
                    <a:p>
                      <a:pPr>
                        <a:buNone/>
                      </a:pPr>
                      <a:endParaRPr lang="en-IN" sz="2000" baseline="0" dirty="0">
                        <a:latin typeface="+mj-lt"/>
                      </a:endParaRPr>
                    </a:p>
                  </a:txBody>
                  <a:tcPr anchor="ctr">
                    <a:lnL>
                      <a:noFill/>
                    </a:lnL>
                    <a:lnR>
                      <a:noFill/>
                    </a:lnR>
                    <a:lnT>
                      <a:noFill/>
                    </a:lnT>
                    <a:lnB>
                      <a:noFill/>
                    </a:lnB>
                    <a:noFill/>
                  </a:tcPr>
                </a:tc>
                <a:tc>
                  <a:txBody>
                    <a:bodyPr/>
                    <a:lstStyle/>
                    <a:p>
                      <a:pPr>
                        <a:buNone/>
                      </a:pPr>
                      <a:endParaRPr lang="en-IN" sz="2000" baseline="0" dirty="0"/>
                    </a:p>
                  </a:txBody>
                  <a:tcPr anchor="ctr">
                    <a:lnL>
                      <a:noFill/>
                    </a:lnL>
                    <a:lnR>
                      <a:noFill/>
                    </a:lnR>
                    <a:lnT>
                      <a:noFill/>
                    </a:lnT>
                    <a:lnB>
                      <a:noFill/>
                    </a:lnB>
                    <a:noFill/>
                  </a:tcPr>
                </a:tc>
                <a:tc>
                  <a:txBody>
                    <a:bodyPr/>
                    <a:lstStyle/>
                    <a:p>
                      <a:pPr>
                        <a:buNone/>
                      </a:pPr>
                      <a:endParaRPr lang="en-IN" sz="2000" baseline="0"/>
                    </a:p>
                  </a:txBody>
                  <a:tcPr anchor="ctr">
                    <a:lnL>
                      <a:noFill/>
                    </a:lnL>
                    <a:lnR>
                      <a:noFill/>
                    </a:lnR>
                    <a:lnT>
                      <a:noFill/>
                    </a:lnT>
                    <a:lnB>
                      <a:noFill/>
                    </a:lnB>
                    <a:noFill/>
                  </a:tcPr>
                </a:tc>
                <a:extLst>
                  <a:ext uri="{0D108BD9-81ED-4DB2-BD59-A6C34878D82A}">
                    <a16:rowId xmlns:a16="http://schemas.microsoft.com/office/drawing/2014/main" val="97990762"/>
                  </a:ext>
                </a:extLst>
              </a:tr>
              <a:tr h="191030">
                <a:tc>
                  <a:txBody>
                    <a:bodyPr/>
                    <a:lstStyle/>
                    <a:p>
                      <a:pPr>
                        <a:buNone/>
                      </a:pPr>
                      <a:endParaRPr lang="en-IN" sz="2000" baseline="0"/>
                    </a:p>
                  </a:txBody>
                  <a:tcPr anchor="ctr">
                    <a:lnL>
                      <a:noFill/>
                    </a:lnL>
                    <a:lnR>
                      <a:noFill/>
                    </a:lnR>
                    <a:lnT>
                      <a:noFill/>
                    </a:lnT>
                    <a:lnB>
                      <a:noFill/>
                    </a:lnB>
                    <a:noFill/>
                  </a:tcPr>
                </a:tc>
                <a:tc>
                  <a:txBody>
                    <a:bodyPr/>
                    <a:lstStyle/>
                    <a:p>
                      <a:pPr>
                        <a:buNone/>
                      </a:pPr>
                      <a:endParaRPr lang="en-IN" sz="2000" baseline="0" dirty="0"/>
                    </a:p>
                  </a:txBody>
                  <a:tcPr anchor="ctr">
                    <a:lnL>
                      <a:noFill/>
                    </a:lnL>
                    <a:lnR>
                      <a:noFill/>
                    </a:lnR>
                    <a:lnT>
                      <a:noFill/>
                    </a:lnT>
                    <a:lnB>
                      <a:noFill/>
                    </a:lnB>
                    <a:noFill/>
                  </a:tcPr>
                </a:tc>
                <a:tc>
                  <a:txBody>
                    <a:bodyPr/>
                    <a:lstStyle/>
                    <a:p>
                      <a:pPr>
                        <a:buNone/>
                      </a:pPr>
                      <a:endParaRPr lang="en-IN" sz="2000" baseline="0"/>
                    </a:p>
                  </a:txBody>
                  <a:tcPr anchor="ctr">
                    <a:lnL>
                      <a:noFill/>
                    </a:lnL>
                    <a:lnR>
                      <a:noFill/>
                    </a:lnR>
                    <a:lnT>
                      <a:noFill/>
                    </a:lnT>
                    <a:lnB>
                      <a:noFill/>
                    </a:lnB>
                    <a:noFill/>
                  </a:tcPr>
                </a:tc>
                <a:tc>
                  <a:txBody>
                    <a:bodyPr/>
                    <a:lstStyle/>
                    <a:p>
                      <a:pPr>
                        <a:buNone/>
                      </a:pPr>
                      <a:endParaRPr lang="en-IN" sz="2000" baseline="0"/>
                    </a:p>
                  </a:txBody>
                  <a:tcPr anchor="ctr">
                    <a:lnL>
                      <a:noFill/>
                    </a:lnL>
                    <a:lnR>
                      <a:noFill/>
                    </a:lnR>
                    <a:lnT>
                      <a:noFill/>
                    </a:lnT>
                    <a:lnB>
                      <a:noFill/>
                    </a:lnB>
                    <a:noFill/>
                  </a:tcPr>
                </a:tc>
                <a:extLst>
                  <a:ext uri="{0D108BD9-81ED-4DB2-BD59-A6C34878D82A}">
                    <a16:rowId xmlns:a16="http://schemas.microsoft.com/office/drawing/2014/main" val="579622358"/>
                  </a:ext>
                </a:extLst>
              </a:tr>
              <a:tr h="191030">
                <a:tc>
                  <a:txBody>
                    <a:bodyPr/>
                    <a:lstStyle/>
                    <a:p>
                      <a:pPr>
                        <a:buNone/>
                      </a:pPr>
                      <a:endParaRPr lang="en-IN" sz="2000" baseline="0"/>
                    </a:p>
                  </a:txBody>
                  <a:tcPr anchor="ctr">
                    <a:lnL>
                      <a:noFill/>
                    </a:lnL>
                    <a:lnR>
                      <a:noFill/>
                    </a:lnR>
                    <a:lnT>
                      <a:noFill/>
                    </a:lnT>
                    <a:lnB>
                      <a:noFill/>
                    </a:lnB>
                    <a:noFill/>
                  </a:tcPr>
                </a:tc>
                <a:tc>
                  <a:txBody>
                    <a:bodyPr/>
                    <a:lstStyle/>
                    <a:p>
                      <a:pPr>
                        <a:buNone/>
                      </a:pPr>
                      <a:endParaRPr lang="en-IN" sz="2000" baseline="0" dirty="0"/>
                    </a:p>
                  </a:txBody>
                  <a:tcPr anchor="ctr">
                    <a:lnL>
                      <a:noFill/>
                    </a:lnL>
                    <a:lnR>
                      <a:noFill/>
                    </a:lnR>
                    <a:lnT>
                      <a:noFill/>
                    </a:lnT>
                    <a:lnB>
                      <a:noFill/>
                    </a:lnB>
                    <a:noFill/>
                  </a:tcPr>
                </a:tc>
                <a:tc>
                  <a:txBody>
                    <a:bodyPr/>
                    <a:lstStyle/>
                    <a:p>
                      <a:pPr>
                        <a:buNone/>
                      </a:pPr>
                      <a:endParaRPr lang="en-IN" sz="2000" baseline="0" dirty="0"/>
                    </a:p>
                  </a:txBody>
                  <a:tcPr anchor="ctr">
                    <a:lnL>
                      <a:noFill/>
                    </a:lnL>
                    <a:lnR>
                      <a:noFill/>
                    </a:lnR>
                    <a:lnT>
                      <a:noFill/>
                    </a:lnT>
                    <a:lnB>
                      <a:noFill/>
                    </a:lnB>
                    <a:noFill/>
                  </a:tcPr>
                </a:tc>
                <a:tc>
                  <a:txBody>
                    <a:bodyPr/>
                    <a:lstStyle/>
                    <a:p>
                      <a:pPr>
                        <a:buNone/>
                      </a:pPr>
                      <a:endParaRPr lang="en-IN" sz="2000" baseline="0"/>
                    </a:p>
                  </a:txBody>
                  <a:tcPr anchor="ctr">
                    <a:lnL>
                      <a:noFill/>
                    </a:lnL>
                    <a:lnR>
                      <a:noFill/>
                    </a:lnR>
                    <a:lnT>
                      <a:noFill/>
                    </a:lnT>
                    <a:lnB>
                      <a:noFill/>
                    </a:lnB>
                    <a:noFill/>
                  </a:tcPr>
                </a:tc>
                <a:extLst>
                  <a:ext uri="{0D108BD9-81ED-4DB2-BD59-A6C34878D82A}">
                    <a16:rowId xmlns:a16="http://schemas.microsoft.com/office/drawing/2014/main" val="2204246601"/>
                  </a:ext>
                </a:extLst>
              </a:tr>
              <a:tr h="3379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1" baseline="0" dirty="0">
                          <a:latin typeface="+mj-lt"/>
                        </a:rPr>
                        <a:t>Table: User Roles</a:t>
                      </a:r>
                    </a:p>
                    <a:p>
                      <a:pPr>
                        <a:buNone/>
                      </a:pPr>
                      <a:endParaRPr lang="en-IN" sz="2000" baseline="0" dirty="0"/>
                    </a:p>
                  </a:txBody>
                  <a:tcPr anchor="ctr">
                    <a:lnL>
                      <a:noFill/>
                    </a:lnL>
                    <a:lnR>
                      <a:noFill/>
                    </a:lnR>
                    <a:lnT>
                      <a:noFill/>
                    </a:lnT>
                    <a:lnB>
                      <a:noFill/>
                    </a:lnB>
                    <a:noFill/>
                  </a:tcPr>
                </a:tc>
                <a:tc>
                  <a:txBody>
                    <a:bodyPr/>
                    <a:lstStyle/>
                    <a:p>
                      <a:pPr>
                        <a:buNone/>
                      </a:pPr>
                      <a:endParaRPr lang="en-IN" sz="2000" baseline="0" dirty="0"/>
                    </a:p>
                  </a:txBody>
                  <a:tcPr anchor="ctr">
                    <a:lnL>
                      <a:noFill/>
                    </a:lnL>
                    <a:lnR>
                      <a:noFill/>
                    </a:lnR>
                    <a:lnT>
                      <a:noFill/>
                    </a:lnT>
                    <a:lnB>
                      <a:noFill/>
                    </a:lnB>
                    <a:noFill/>
                  </a:tcPr>
                </a:tc>
                <a:tc>
                  <a:txBody>
                    <a:bodyPr/>
                    <a:lstStyle/>
                    <a:p>
                      <a:pPr>
                        <a:buNone/>
                      </a:pPr>
                      <a:endParaRPr lang="en-IN" sz="2000" baseline="0" dirty="0"/>
                    </a:p>
                  </a:txBody>
                  <a:tcPr anchor="ctr">
                    <a:lnL>
                      <a:noFill/>
                    </a:lnL>
                    <a:lnR>
                      <a:noFill/>
                    </a:lnR>
                    <a:lnT>
                      <a:noFill/>
                    </a:lnT>
                    <a:lnB>
                      <a:noFill/>
                    </a:lnB>
                    <a:noFill/>
                  </a:tcPr>
                </a:tc>
                <a:tc>
                  <a:txBody>
                    <a:bodyPr/>
                    <a:lstStyle/>
                    <a:p>
                      <a:pPr>
                        <a:buNone/>
                      </a:pPr>
                      <a:endParaRPr lang="en-IN" sz="2000" baseline="0"/>
                    </a:p>
                  </a:txBody>
                  <a:tcPr anchor="ctr">
                    <a:lnL>
                      <a:noFill/>
                    </a:lnL>
                    <a:lnR>
                      <a:noFill/>
                    </a:lnR>
                    <a:lnT>
                      <a:noFill/>
                    </a:lnT>
                    <a:lnB>
                      <a:noFill/>
                    </a:lnB>
                    <a:noFill/>
                  </a:tcPr>
                </a:tc>
                <a:extLst>
                  <a:ext uri="{0D108BD9-81ED-4DB2-BD59-A6C34878D82A}">
                    <a16:rowId xmlns:a16="http://schemas.microsoft.com/office/drawing/2014/main" val="3500559098"/>
                  </a:ext>
                </a:extLst>
              </a:tr>
              <a:tr h="191030">
                <a:tc>
                  <a:txBody>
                    <a:bodyPr/>
                    <a:lstStyle/>
                    <a:p>
                      <a:pPr>
                        <a:buNone/>
                      </a:pPr>
                      <a:endParaRPr lang="en-IN" sz="2000" baseline="0" dirty="0"/>
                    </a:p>
                  </a:txBody>
                  <a:tcPr anchor="ctr">
                    <a:lnL>
                      <a:noFill/>
                    </a:lnL>
                    <a:lnR>
                      <a:noFill/>
                    </a:lnR>
                    <a:lnT>
                      <a:noFill/>
                    </a:lnT>
                    <a:lnB>
                      <a:noFill/>
                    </a:lnB>
                    <a:noFill/>
                  </a:tcPr>
                </a:tc>
                <a:tc>
                  <a:txBody>
                    <a:bodyPr/>
                    <a:lstStyle/>
                    <a:p>
                      <a:pPr>
                        <a:buNone/>
                      </a:pPr>
                      <a:endParaRPr lang="en-IN" sz="2000" baseline="0" dirty="0"/>
                    </a:p>
                  </a:txBody>
                  <a:tcPr anchor="ctr">
                    <a:lnL>
                      <a:noFill/>
                    </a:lnL>
                    <a:lnR>
                      <a:noFill/>
                    </a:lnR>
                    <a:lnT>
                      <a:noFill/>
                    </a:lnT>
                    <a:lnB>
                      <a:noFill/>
                    </a:lnB>
                    <a:noFill/>
                  </a:tcPr>
                </a:tc>
                <a:tc>
                  <a:txBody>
                    <a:bodyPr/>
                    <a:lstStyle/>
                    <a:p>
                      <a:pPr>
                        <a:buNone/>
                      </a:pPr>
                      <a:endParaRPr lang="en-IN" sz="2000" baseline="0"/>
                    </a:p>
                  </a:txBody>
                  <a:tcPr anchor="ctr">
                    <a:lnL>
                      <a:noFill/>
                    </a:lnL>
                    <a:lnR>
                      <a:noFill/>
                    </a:lnR>
                    <a:lnT>
                      <a:noFill/>
                    </a:lnT>
                    <a:lnB>
                      <a:noFill/>
                    </a:lnB>
                    <a:noFill/>
                  </a:tcPr>
                </a:tc>
                <a:tc>
                  <a:txBody>
                    <a:bodyPr/>
                    <a:lstStyle/>
                    <a:p>
                      <a:pPr>
                        <a:buNone/>
                      </a:pPr>
                      <a:endParaRPr lang="en-IN" sz="2000" baseline="0" dirty="0"/>
                    </a:p>
                  </a:txBody>
                  <a:tcPr anchor="ctr">
                    <a:lnL>
                      <a:noFill/>
                    </a:lnL>
                    <a:lnR>
                      <a:noFill/>
                    </a:lnR>
                    <a:lnT>
                      <a:noFill/>
                    </a:lnT>
                    <a:lnB>
                      <a:noFill/>
                    </a:lnB>
                    <a:noFill/>
                  </a:tcPr>
                </a:tc>
                <a:extLst>
                  <a:ext uri="{0D108BD9-81ED-4DB2-BD59-A6C34878D82A}">
                    <a16:rowId xmlns:a16="http://schemas.microsoft.com/office/drawing/2014/main" val="1468169398"/>
                  </a:ext>
                </a:extLst>
              </a:tr>
              <a:tr h="191030">
                <a:tc>
                  <a:txBody>
                    <a:bodyPr/>
                    <a:lstStyle/>
                    <a:p>
                      <a:pPr>
                        <a:buNone/>
                      </a:pPr>
                      <a:endParaRPr lang="en-IN" sz="2000" baseline="0" dirty="0"/>
                    </a:p>
                  </a:txBody>
                  <a:tcPr anchor="ctr">
                    <a:lnL>
                      <a:noFill/>
                    </a:lnL>
                    <a:lnR>
                      <a:noFill/>
                    </a:lnR>
                    <a:lnT>
                      <a:noFill/>
                    </a:lnT>
                    <a:lnB>
                      <a:noFill/>
                    </a:lnB>
                    <a:noFill/>
                  </a:tcPr>
                </a:tc>
                <a:tc>
                  <a:txBody>
                    <a:bodyPr/>
                    <a:lstStyle/>
                    <a:p>
                      <a:pPr>
                        <a:buNone/>
                      </a:pPr>
                      <a:r>
                        <a:rPr lang="en-IN" sz="2000" baseline="0" dirty="0"/>
                        <a:t>Column Name</a:t>
                      </a:r>
                    </a:p>
                  </a:txBody>
                  <a:tcPr anchor="ctr">
                    <a:lnL>
                      <a:noFill/>
                    </a:lnL>
                    <a:lnR>
                      <a:noFill/>
                    </a:lnR>
                    <a:lnT>
                      <a:noFill/>
                    </a:lnT>
                    <a:lnB>
                      <a:noFill/>
                    </a:lnB>
                    <a:noFill/>
                  </a:tcPr>
                </a:tc>
                <a:tc>
                  <a:txBody>
                    <a:bodyPr/>
                    <a:lstStyle/>
                    <a:p>
                      <a:pPr>
                        <a:buNone/>
                      </a:pPr>
                      <a:r>
                        <a:rPr lang="en-IN" sz="2000" baseline="0"/>
                        <a:t>Type</a:t>
                      </a:r>
                    </a:p>
                  </a:txBody>
                  <a:tcPr anchor="ctr">
                    <a:lnL>
                      <a:noFill/>
                    </a:lnL>
                    <a:lnR>
                      <a:noFill/>
                    </a:lnR>
                    <a:lnT>
                      <a:noFill/>
                    </a:lnT>
                    <a:lnB>
                      <a:noFill/>
                    </a:lnB>
                    <a:noFill/>
                  </a:tcPr>
                </a:tc>
                <a:tc>
                  <a:txBody>
                    <a:bodyPr/>
                    <a:lstStyle/>
                    <a:p>
                      <a:pPr>
                        <a:buNone/>
                      </a:pPr>
                      <a:r>
                        <a:rPr lang="en-IN" sz="2000" baseline="0" dirty="0"/>
                        <a:t>Description</a:t>
                      </a:r>
                    </a:p>
                  </a:txBody>
                  <a:tcPr anchor="ctr">
                    <a:lnL>
                      <a:noFill/>
                    </a:lnL>
                    <a:lnR>
                      <a:noFill/>
                    </a:lnR>
                    <a:lnT>
                      <a:noFill/>
                    </a:lnT>
                    <a:lnB>
                      <a:noFill/>
                    </a:lnB>
                    <a:noFill/>
                  </a:tcPr>
                </a:tc>
                <a:extLst>
                  <a:ext uri="{0D108BD9-81ED-4DB2-BD59-A6C34878D82A}">
                    <a16:rowId xmlns:a16="http://schemas.microsoft.com/office/drawing/2014/main" val="1843932507"/>
                  </a:ext>
                </a:extLst>
              </a:tr>
              <a:tr h="191030">
                <a:tc>
                  <a:txBody>
                    <a:bodyPr/>
                    <a:lstStyle/>
                    <a:p>
                      <a:pPr>
                        <a:buNone/>
                      </a:pPr>
                      <a:endParaRPr lang="en-IN" sz="2000" baseline="0" dirty="0"/>
                    </a:p>
                  </a:txBody>
                  <a:tcPr anchor="ctr">
                    <a:lnL>
                      <a:noFill/>
                    </a:lnL>
                    <a:lnR>
                      <a:noFill/>
                    </a:lnR>
                    <a:lnT>
                      <a:noFill/>
                    </a:lnT>
                    <a:lnB>
                      <a:noFill/>
                    </a:lnB>
                    <a:noFill/>
                  </a:tcPr>
                </a:tc>
                <a:tc>
                  <a:txBody>
                    <a:bodyPr/>
                    <a:lstStyle/>
                    <a:p>
                      <a:pPr>
                        <a:buNone/>
                      </a:pPr>
                      <a:r>
                        <a:rPr lang="en-IN" sz="2000" baseline="0" dirty="0" err="1"/>
                        <a:t>role_id</a:t>
                      </a:r>
                      <a:r>
                        <a:rPr lang="en-IN" sz="2000" baseline="0" dirty="0"/>
                        <a:t> (PK)</a:t>
                      </a:r>
                    </a:p>
                  </a:txBody>
                  <a:tcPr anchor="ctr">
                    <a:lnL>
                      <a:noFill/>
                    </a:lnL>
                    <a:lnR>
                      <a:noFill/>
                    </a:lnR>
                    <a:lnT>
                      <a:noFill/>
                    </a:lnT>
                    <a:lnB>
                      <a:noFill/>
                    </a:lnB>
                    <a:noFill/>
                  </a:tcPr>
                </a:tc>
                <a:tc>
                  <a:txBody>
                    <a:bodyPr/>
                    <a:lstStyle/>
                    <a:p>
                      <a:pPr>
                        <a:buNone/>
                      </a:pPr>
                      <a:r>
                        <a:rPr lang="en-IN" sz="2000" baseline="0" dirty="0"/>
                        <a:t>INT</a:t>
                      </a:r>
                    </a:p>
                  </a:txBody>
                  <a:tcPr anchor="ctr">
                    <a:lnL>
                      <a:noFill/>
                    </a:lnL>
                    <a:lnR>
                      <a:noFill/>
                    </a:lnR>
                    <a:lnT>
                      <a:noFill/>
                    </a:lnT>
                    <a:lnB>
                      <a:noFill/>
                    </a:lnB>
                    <a:noFill/>
                  </a:tcPr>
                </a:tc>
                <a:tc>
                  <a:txBody>
                    <a:bodyPr/>
                    <a:lstStyle/>
                    <a:p>
                      <a:pPr>
                        <a:buNone/>
                      </a:pPr>
                      <a:r>
                        <a:rPr lang="en-IN" sz="2000" baseline="0" dirty="0"/>
                        <a:t>Unique role ID</a:t>
                      </a:r>
                    </a:p>
                  </a:txBody>
                  <a:tcPr anchor="ctr">
                    <a:lnL>
                      <a:noFill/>
                    </a:lnL>
                    <a:lnR>
                      <a:noFill/>
                    </a:lnR>
                    <a:lnT>
                      <a:noFill/>
                    </a:lnT>
                    <a:lnB>
                      <a:noFill/>
                    </a:lnB>
                    <a:noFill/>
                  </a:tcPr>
                </a:tc>
                <a:extLst>
                  <a:ext uri="{0D108BD9-81ED-4DB2-BD59-A6C34878D82A}">
                    <a16:rowId xmlns:a16="http://schemas.microsoft.com/office/drawing/2014/main" val="3777188900"/>
                  </a:ext>
                </a:extLst>
              </a:tr>
              <a:tr h="191030">
                <a:tc>
                  <a:txBody>
                    <a:bodyPr/>
                    <a:lstStyle/>
                    <a:p>
                      <a:pPr>
                        <a:buNone/>
                      </a:pPr>
                      <a:endParaRPr lang="en-IN" sz="2000" baseline="0" dirty="0"/>
                    </a:p>
                  </a:txBody>
                  <a:tcPr anchor="ctr">
                    <a:lnL>
                      <a:noFill/>
                    </a:lnL>
                    <a:lnR>
                      <a:noFill/>
                    </a:lnR>
                    <a:lnT>
                      <a:noFill/>
                    </a:lnT>
                    <a:lnB>
                      <a:noFill/>
                    </a:lnB>
                    <a:noFill/>
                  </a:tcPr>
                </a:tc>
                <a:tc>
                  <a:txBody>
                    <a:bodyPr/>
                    <a:lstStyle/>
                    <a:p>
                      <a:pPr>
                        <a:buNone/>
                      </a:pPr>
                      <a:r>
                        <a:rPr lang="en-IN" sz="2000" baseline="0"/>
                        <a:t>role_name</a:t>
                      </a:r>
                    </a:p>
                  </a:txBody>
                  <a:tcPr anchor="ctr">
                    <a:lnL>
                      <a:noFill/>
                    </a:lnL>
                    <a:lnR>
                      <a:noFill/>
                    </a:lnR>
                    <a:lnT>
                      <a:noFill/>
                    </a:lnT>
                    <a:lnB>
                      <a:noFill/>
                    </a:lnB>
                    <a:noFill/>
                  </a:tcPr>
                </a:tc>
                <a:tc>
                  <a:txBody>
                    <a:bodyPr/>
                    <a:lstStyle/>
                    <a:p>
                      <a:pPr>
                        <a:buNone/>
                      </a:pPr>
                      <a:r>
                        <a:rPr lang="en-IN" sz="2000" baseline="0" dirty="0"/>
                        <a:t>VARCHAR(50)</a:t>
                      </a:r>
                    </a:p>
                  </a:txBody>
                  <a:tcPr anchor="ctr">
                    <a:lnL>
                      <a:noFill/>
                    </a:lnL>
                    <a:lnR>
                      <a:noFill/>
                    </a:lnR>
                    <a:lnT>
                      <a:noFill/>
                    </a:lnT>
                    <a:lnB>
                      <a:noFill/>
                    </a:lnB>
                    <a:noFill/>
                  </a:tcPr>
                </a:tc>
                <a:tc>
                  <a:txBody>
                    <a:bodyPr/>
                    <a:lstStyle/>
                    <a:p>
                      <a:pPr>
                        <a:buNone/>
                      </a:pPr>
                      <a:r>
                        <a:rPr lang="en-IN" sz="2000" baseline="0" dirty="0"/>
                        <a:t>Role type</a:t>
                      </a:r>
                    </a:p>
                  </a:txBody>
                  <a:tcPr anchor="ctr">
                    <a:lnL>
                      <a:noFill/>
                    </a:lnL>
                    <a:lnR>
                      <a:noFill/>
                    </a:lnR>
                    <a:lnT>
                      <a:noFill/>
                    </a:lnT>
                    <a:lnB>
                      <a:noFill/>
                    </a:lnB>
                    <a:noFill/>
                  </a:tcPr>
                </a:tc>
                <a:extLst>
                  <a:ext uri="{0D108BD9-81ED-4DB2-BD59-A6C34878D82A}">
                    <a16:rowId xmlns:a16="http://schemas.microsoft.com/office/drawing/2014/main" val="3925625366"/>
                  </a:ext>
                </a:extLst>
              </a:tr>
            </a:tbl>
          </a:graphicData>
        </a:graphic>
      </p:graphicFrame>
    </p:spTree>
    <p:extLst>
      <p:ext uri="{BB962C8B-B14F-4D97-AF65-F5344CB8AC3E}">
        <p14:creationId xmlns:p14="http://schemas.microsoft.com/office/powerpoint/2010/main" val="1793313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DE95E5-4798-7F2C-475E-05F9F6C9441C}"/>
              </a:ext>
            </a:extLst>
          </p:cNvPr>
          <p:cNvSpPr>
            <a:spLocks noGrp="1"/>
          </p:cNvSpPr>
          <p:nvPr>
            <p:ph type="sldNum" sz="quarter" idx="4"/>
          </p:nvPr>
        </p:nvSpPr>
        <p:spPr/>
        <p:txBody>
          <a:bodyPr/>
          <a:lstStyle/>
          <a:p>
            <a:fld id="{58FB4751-880F-D840-AAA9-3A15815CC996}" type="slidenum">
              <a:rPr lang="en-US" smtClean="0"/>
              <a:pPr/>
              <a:t>6</a:t>
            </a:fld>
            <a:endParaRPr lang="en-US" dirty="0"/>
          </a:p>
        </p:txBody>
      </p:sp>
      <p:pic>
        <p:nvPicPr>
          <p:cNvPr id="3" name="Picture 2">
            <a:extLst>
              <a:ext uri="{FF2B5EF4-FFF2-40B4-BE49-F238E27FC236}">
                <a16:creationId xmlns:a16="http://schemas.microsoft.com/office/drawing/2014/main" id="{0A257060-8442-C3A9-023F-D949BB555DE6}"/>
              </a:ext>
            </a:extLst>
          </p:cNvPr>
          <p:cNvPicPr>
            <a:picLocks noChangeAspect="1"/>
          </p:cNvPicPr>
          <p:nvPr/>
        </p:nvPicPr>
        <p:blipFill>
          <a:blip r:embed="rId2"/>
          <a:stretch>
            <a:fillRect/>
          </a:stretch>
        </p:blipFill>
        <p:spPr>
          <a:xfrm>
            <a:off x="1270001" y="2626036"/>
            <a:ext cx="9093200" cy="959347"/>
          </a:xfrm>
          <a:prstGeom prst="rect">
            <a:avLst/>
          </a:prstGeom>
        </p:spPr>
      </p:pic>
      <p:sp>
        <p:nvSpPr>
          <p:cNvPr id="4" name="TextBox 3">
            <a:extLst>
              <a:ext uri="{FF2B5EF4-FFF2-40B4-BE49-F238E27FC236}">
                <a16:creationId xmlns:a16="http://schemas.microsoft.com/office/drawing/2014/main" id="{850B99E6-6493-1306-2436-62F0FAE1936E}"/>
              </a:ext>
            </a:extLst>
          </p:cNvPr>
          <p:cNvSpPr txBox="1"/>
          <p:nvPr/>
        </p:nvSpPr>
        <p:spPr>
          <a:xfrm>
            <a:off x="2827866" y="846667"/>
            <a:ext cx="5452533" cy="584775"/>
          </a:xfrm>
          <a:prstGeom prst="rect">
            <a:avLst/>
          </a:prstGeom>
          <a:noFill/>
        </p:spPr>
        <p:txBody>
          <a:bodyPr wrap="square" rtlCol="0">
            <a:spAutoFit/>
          </a:bodyPr>
          <a:lstStyle/>
          <a:p>
            <a:r>
              <a:rPr lang="en-IN" sz="3200" b="1" dirty="0">
                <a:latin typeface="+mj-lt"/>
              </a:rPr>
              <a:t>       Functional  Flow</a:t>
            </a:r>
          </a:p>
        </p:txBody>
      </p:sp>
    </p:spTree>
    <p:extLst>
      <p:ext uri="{BB962C8B-B14F-4D97-AF65-F5344CB8AC3E}">
        <p14:creationId xmlns:p14="http://schemas.microsoft.com/office/powerpoint/2010/main" val="1280979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0DEA0-94BF-3FBD-CAF9-F0229B7960FA}"/>
              </a:ext>
            </a:extLst>
          </p:cNvPr>
          <p:cNvSpPr>
            <a:spLocks noGrp="1"/>
          </p:cNvSpPr>
          <p:nvPr>
            <p:ph type="title"/>
          </p:nvPr>
        </p:nvSpPr>
        <p:spPr>
          <a:xfrm>
            <a:off x="745068" y="186268"/>
            <a:ext cx="10007599" cy="1693332"/>
          </a:xfrm>
        </p:spPr>
        <p:txBody>
          <a:bodyPr/>
          <a:lstStyle/>
          <a:p>
            <a:r>
              <a:rPr lang="en-IN" sz="3600" kern="1800" dirty="0">
                <a:latin typeface="Times New Roman" panose="02020603050405020304" pitchFamily="18" charset="0"/>
                <a:ea typeface="Times New Roman" panose="02020603050405020304" pitchFamily="18" charset="0"/>
                <a:cs typeface="Latha" panose="020B0604020202020204" pitchFamily="34" charset="0"/>
              </a:rPr>
              <a:t>AUTHENTICATION MODULE – PSEUDOCODE</a:t>
            </a:r>
            <a:endParaRPr lang="en-IN" sz="3600" dirty="0"/>
          </a:p>
        </p:txBody>
      </p:sp>
      <p:sp>
        <p:nvSpPr>
          <p:cNvPr id="4" name="TextBox 3">
            <a:extLst>
              <a:ext uri="{FF2B5EF4-FFF2-40B4-BE49-F238E27FC236}">
                <a16:creationId xmlns:a16="http://schemas.microsoft.com/office/drawing/2014/main" id="{8DE3AFB8-7BB2-C4C7-C4FE-3F5FAC449266}"/>
              </a:ext>
            </a:extLst>
          </p:cNvPr>
          <p:cNvSpPr txBox="1"/>
          <p:nvPr/>
        </p:nvSpPr>
        <p:spPr>
          <a:xfrm>
            <a:off x="1621535" y="1926334"/>
            <a:ext cx="8707797" cy="3912289"/>
          </a:xfrm>
          <a:prstGeom prst="rect">
            <a:avLst/>
          </a:prstGeom>
          <a:noFill/>
        </p:spPr>
        <p:txBody>
          <a:bodyPr wrap="square">
            <a:spAutoFit/>
          </a:bodyPr>
          <a:lstStyle/>
          <a:p>
            <a:pPr>
              <a:lnSpc>
                <a:spcPct val="107000"/>
              </a:lnSpc>
              <a:spcAft>
                <a:spcPts val="800"/>
              </a:spcAft>
              <a:buNone/>
            </a:pPr>
            <a:r>
              <a:rPr lang="en-IN" sz="2800" b="1" kern="0" dirty="0">
                <a:effectLst/>
                <a:latin typeface="Times New Roman" panose="02020603050405020304" pitchFamily="18" charset="0"/>
                <a:ea typeface="Times New Roman" panose="02020603050405020304" pitchFamily="18" charset="0"/>
                <a:cs typeface="Latha" panose="020B0604020202020204" pitchFamily="34" charset="0"/>
              </a:rPr>
              <a:t>Classes involved</a:t>
            </a:r>
            <a:endParaRPr lang="en-IN" sz="2800" kern="1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nSpc>
                <a:spcPct val="107000"/>
              </a:lnSpc>
              <a:spcAft>
                <a:spcPts val="800"/>
              </a:spcAft>
              <a:buFont typeface="+mj-lt"/>
              <a:buAutoNum type="arabicPeriod"/>
              <a:tabLst>
                <a:tab pos="457200" algn="l"/>
              </a:tabLst>
            </a:pPr>
            <a:r>
              <a:rPr lang="en-IN" sz="2800" b="1" kern="0" dirty="0" err="1">
                <a:effectLst/>
                <a:latin typeface="Times New Roman" panose="02020603050405020304" pitchFamily="18" charset="0"/>
                <a:ea typeface="Times New Roman" panose="02020603050405020304" pitchFamily="18" charset="0"/>
                <a:cs typeface="Latha" panose="020B0604020202020204" pitchFamily="34" charset="0"/>
              </a:rPr>
              <a:t>AuthController</a:t>
            </a:r>
            <a:endParaRPr lang="en-IN" sz="2800" kern="1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nSpc>
                <a:spcPct val="107000"/>
              </a:lnSpc>
              <a:spcAft>
                <a:spcPts val="800"/>
              </a:spcAft>
              <a:buFont typeface="+mj-lt"/>
              <a:buAutoNum type="arabicPeriod"/>
              <a:tabLst>
                <a:tab pos="457200" algn="l"/>
              </a:tabLst>
            </a:pPr>
            <a:r>
              <a:rPr lang="en-IN" sz="2800" b="1" kern="0" dirty="0" err="1">
                <a:effectLst/>
                <a:latin typeface="Times New Roman" panose="02020603050405020304" pitchFamily="18" charset="0"/>
                <a:ea typeface="Times New Roman" panose="02020603050405020304" pitchFamily="18" charset="0"/>
                <a:cs typeface="Latha" panose="020B0604020202020204" pitchFamily="34" charset="0"/>
              </a:rPr>
              <a:t>AuthService</a:t>
            </a:r>
            <a:endParaRPr lang="en-IN" sz="2800" kern="1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nSpc>
                <a:spcPct val="107000"/>
              </a:lnSpc>
              <a:spcAft>
                <a:spcPts val="800"/>
              </a:spcAft>
              <a:buFont typeface="+mj-lt"/>
              <a:buAutoNum type="arabicPeriod"/>
              <a:tabLst>
                <a:tab pos="457200" algn="l"/>
              </a:tabLst>
            </a:pPr>
            <a:r>
              <a:rPr lang="en-IN" sz="2800" b="1" kern="0" dirty="0">
                <a:effectLst/>
                <a:latin typeface="Times New Roman" panose="02020603050405020304" pitchFamily="18" charset="0"/>
                <a:ea typeface="Times New Roman" panose="02020603050405020304" pitchFamily="18" charset="0"/>
                <a:cs typeface="Latha" panose="020B0604020202020204" pitchFamily="34" charset="0"/>
              </a:rPr>
              <a:t>User</a:t>
            </a:r>
            <a:endParaRPr lang="en-IN" sz="2800" kern="1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nSpc>
                <a:spcPct val="107000"/>
              </a:lnSpc>
              <a:spcAft>
                <a:spcPts val="800"/>
              </a:spcAft>
              <a:buFont typeface="+mj-lt"/>
              <a:buAutoNum type="arabicPeriod"/>
              <a:tabLst>
                <a:tab pos="457200" algn="l"/>
              </a:tabLst>
            </a:pPr>
            <a:r>
              <a:rPr lang="en-IN" sz="2800" b="1" kern="0" dirty="0" err="1">
                <a:effectLst/>
                <a:latin typeface="Times New Roman" panose="02020603050405020304" pitchFamily="18" charset="0"/>
                <a:ea typeface="Times New Roman" panose="02020603050405020304" pitchFamily="18" charset="0"/>
                <a:cs typeface="Latha" panose="020B0604020202020204" pitchFamily="34" charset="0"/>
              </a:rPr>
              <a:t>UserRepository</a:t>
            </a:r>
            <a:endParaRPr lang="en-IN" sz="2800" kern="1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nSpc>
                <a:spcPct val="107000"/>
              </a:lnSpc>
              <a:spcAft>
                <a:spcPts val="800"/>
              </a:spcAft>
              <a:buFont typeface="+mj-lt"/>
              <a:buAutoNum type="arabicPeriod"/>
              <a:tabLst>
                <a:tab pos="457200" algn="l"/>
              </a:tabLst>
            </a:pPr>
            <a:r>
              <a:rPr lang="en-IN" sz="2800" b="1" kern="0" dirty="0" err="1">
                <a:effectLst/>
                <a:latin typeface="Times New Roman" panose="02020603050405020304" pitchFamily="18" charset="0"/>
                <a:ea typeface="Times New Roman" panose="02020603050405020304" pitchFamily="18" charset="0"/>
                <a:cs typeface="Latha" panose="020B0604020202020204" pitchFamily="34" charset="0"/>
              </a:rPr>
              <a:t>JWTUtility</a:t>
            </a:r>
            <a:endParaRPr lang="en-IN" sz="2800" kern="1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nSpc>
                <a:spcPct val="107000"/>
              </a:lnSpc>
              <a:spcAft>
                <a:spcPts val="800"/>
              </a:spcAft>
              <a:buFont typeface="+mj-lt"/>
              <a:buAutoNum type="arabicPeriod"/>
              <a:tabLst>
                <a:tab pos="457200" algn="l"/>
              </a:tabLst>
            </a:pPr>
            <a:r>
              <a:rPr lang="en-IN" sz="2800" b="1" kern="0" dirty="0" err="1">
                <a:effectLst/>
                <a:latin typeface="Times New Roman" panose="02020603050405020304" pitchFamily="18" charset="0"/>
                <a:ea typeface="Times New Roman" panose="02020603050405020304" pitchFamily="18" charset="0"/>
                <a:cs typeface="Latha" panose="020B0604020202020204" pitchFamily="34" charset="0"/>
              </a:rPr>
              <a:t>EmailService</a:t>
            </a:r>
            <a:r>
              <a:rPr lang="en-IN" sz="2800" kern="0" dirty="0">
                <a:effectLst/>
                <a:latin typeface="Times New Roman" panose="02020603050405020304" pitchFamily="18" charset="0"/>
                <a:ea typeface="Times New Roman" panose="02020603050405020304" pitchFamily="18" charset="0"/>
                <a:cs typeface="Latha" panose="020B0604020202020204" pitchFamily="34" charset="0"/>
              </a:rPr>
              <a:t> (for forgot password)</a:t>
            </a:r>
            <a:endParaRPr lang="en-IN" sz="2800" kern="100" dirty="0">
              <a:effectLst/>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66206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3CCD3-7453-1B63-1740-CA521AE4DD1D}"/>
              </a:ext>
            </a:extLst>
          </p:cNvPr>
          <p:cNvSpPr>
            <a:spLocks noGrp="1"/>
          </p:cNvSpPr>
          <p:nvPr>
            <p:ph type="ctrTitle"/>
          </p:nvPr>
        </p:nvSpPr>
        <p:spPr>
          <a:xfrm>
            <a:off x="0" y="-609600"/>
            <a:ext cx="6400800" cy="6553200"/>
          </a:xfrm>
        </p:spPr>
        <p:txBody>
          <a:bodyPr/>
          <a:lstStyle/>
          <a:p>
            <a:r>
              <a:rPr lang="en-IN" sz="2400" b="1" kern="1800" dirty="0">
                <a:ea typeface="Times New Roman" panose="02020603050405020304" pitchFamily="18" charset="0"/>
                <a:cs typeface="Latha" panose="020B0604020202020204" pitchFamily="34" charset="0"/>
              </a:rPr>
              <a:t>1.SIGN-UP (REGISTER USER)</a:t>
            </a:r>
            <a:br>
              <a:rPr lang="en-IN" sz="2000" kern="1800" dirty="0">
                <a:latin typeface="Times New Roman" panose="02020603050405020304" pitchFamily="18" charset="0"/>
                <a:ea typeface="Times New Roman" panose="02020603050405020304" pitchFamily="18" charset="0"/>
                <a:cs typeface="Latha" panose="020B0604020202020204" pitchFamily="34" charset="0"/>
              </a:rPr>
            </a:br>
            <a:r>
              <a:rPr lang="en-IN" sz="2000" kern="1800" dirty="0">
                <a:latin typeface="Times New Roman" panose="02020603050405020304" pitchFamily="18" charset="0"/>
                <a:ea typeface="Times New Roman" panose="02020603050405020304" pitchFamily="18" charset="0"/>
                <a:cs typeface="Latha" panose="020B0604020202020204" pitchFamily="34" charset="0"/>
              </a:rPr>
              <a:t>   </a:t>
            </a:r>
            <a:br>
              <a:rPr lang="en-IN" sz="2000" kern="1800" dirty="0">
                <a:latin typeface="Times New Roman" panose="02020603050405020304" pitchFamily="18" charset="0"/>
                <a:ea typeface="Times New Roman" panose="02020603050405020304" pitchFamily="18" charset="0"/>
                <a:cs typeface="Latha" panose="020B0604020202020204" pitchFamily="34" charset="0"/>
              </a:rPr>
            </a:br>
            <a:br>
              <a:rPr lang="en-IN" sz="2000" kern="1800" dirty="0">
                <a:latin typeface="Times New Roman" panose="02020603050405020304" pitchFamily="18" charset="0"/>
                <a:ea typeface="Times New Roman" panose="02020603050405020304" pitchFamily="18" charset="0"/>
                <a:cs typeface="Latha" panose="020B0604020202020204" pitchFamily="34" charset="0"/>
              </a:rPr>
            </a:br>
            <a:br>
              <a:rPr lang="en-IN" sz="2000" kern="1800" dirty="0">
                <a:latin typeface="Times New Roman" panose="02020603050405020304" pitchFamily="18" charset="0"/>
                <a:ea typeface="Times New Roman" panose="02020603050405020304" pitchFamily="18" charset="0"/>
                <a:cs typeface="Latha" panose="020B0604020202020204" pitchFamily="34" charset="0"/>
              </a:rPr>
            </a:br>
            <a:r>
              <a:rPr lang="en-IN" sz="2400" b="1" dirty="0">
                <a:ea typeface="Times New Roman" panose="02020603050405020304" pitchFamily="18" charset="0"/>
                <a:cs typeface="Latha" panose="020B0604020202020204" pitchFamily="34" charset="0"/>
              </a:rPr>
              <a:t>Purpose</a:t>
            </a:r>
            <a:br>
              <a:rPr lang="en-IN" sz="2000" dirty="0">
                <a:ea typeface="Times New Roman" panose="02020603050405020304" pitchFamily="18" charset="0"/>
                <a:cs typeface="Latha" panose="020B0604020202020204" pitchFamily="34" charset="0"/>
              </a:rPr>
            </a:br>
            <a:br>
              <a:rPr lang="en-IN" sz="2000" kern="100" dirty="0">
                <a:ea typeface="Calibri" panose="020F0502020204030204" pitchFamily="34" charset="0"/>
                <a:cs typeface="Latha" panose="020B0604020202020204" pitchFamily="34" charset="0"/>
              </a:rPr>
            </a:br>
            <a:r>
              <a:rPr lang="en-IN" sz="2400" dirty="0">
                <a:ea typeface="Times New Roman" panose="02020603050405020304" pitchFamily="18" charset="0"/>
                <a:cs typeface="Latha" panose="020B0604020202020204" pitchFamily="34" charset="0"/>
              </a:rPr>
              <a:t>Create a new user account</a:t>
            </a:r>
            <a:br>
              <a:rPr lang="en-IN" sz="2400" kern="100" dirty="0">
                <a:ea typeface="Calibri" panose="020F0502020204030204" pitchFamily="34" charset="0"/>
                <a:cs typeface="Latha" panose="020B0604020202020204" pitchFamily="34" charset="0"/>
              </a:rPr>
            </a:br>
            <a:r>
              <a:rPr lang="en-IN" sz="2400" dirty="0">
                <a:ea typeface="Times New Roman" panose="02020603050405020304" pitchFamily="18" charset="0"/>
                <a:cs typeface="Latha" panose="020B0604020202020204" pitchFamily="34" charset="0"/>
              </a:rPr>
              <a:t>Only Admin can register employees</a:t>
            </a:r>
            <a:br>
              <a:rPr lang="en-IN" sz="8000" kern="100" dirty="0">
                <a:latin typeface="Calibri" panose="020F0502020204030204" pitchFamily="34" charset="0"/>
                <a:ea typeface="Calibri" panose="020F0502020204030204" pitchFamily="34" charset="0"/>
                <a:cs typeface="Latha" panose="020B0604020202020204" pitchFamily="34" charset="0"/>
              </a:rPr>
            </a:br>
            <a:endParaRPr lang="en-IN" dirty="0"/>
          </a:p>
        </p:txBody>
      </p:sp>
      <p:sp>
        <p:nvSpPr>
          <p:cNvPr id="4" name="TextBox 3">
            <a:extLst>
              <a:ext uri="{FF2B5EF4-FFF2-40B4-BE49-F238E27FC236}">
                <a16:creationId xmlns:a16="http://schemas.microsoft.com/office/drawing/2014/main" id="{217FF500-F9D6-1A59-39D8-9AB76890F7D0}"/>
              </a:ext>
            </a:extLst>
          </p:cNvPr>
          <p:cNvSpPr txBox="1"/>
          <p:nvPr/>
        </p:nvSpPr>
        <p:spPr>
          <a:xfrm>
            <a:off x="6654800" y="1117600"/>
            <a:ext cx="5384800" cy="4524315"/>
          </a:xfrm>
          <a:prstGeom prst="rect">
            <a:avLst/>
          </a:prstGeom>
          <a:noFill/>
        </p:spPr>
        <p:txBody>
          <a:bodyPr wrap="square">
            <a:spAutoFit/>
          </a:bodyPr>
          <a:lstStyle/>
          <a:p>
            <a:pPr marL="0" lvl="0" indent="0" algn="l" rtl="0">
              <a:spcBef>
                <a:spcPts val="0"/>
              </a:spcBef>
              <a:spcAft>
                <a:spcPts val="0"/>
              </a:spcAft>
              <a:buNone/>
            </a:pPr>
            <a:r>
              <a:rPr lang="en-IN" sz="2400" dirty="0">
                <a:latin typeface="+mj-lt"/>
              </a:rPr>
              <a:t># </a:t>
            </a:r>
            <a:r>
              <a:rPr lang="en-IN" sz="2400" dirty="0" err="1">
                <a:latin typeface="+mj-lt"/>
              </a:rPr>
              <a:t>AuthController</a:t>
            </a:r>
            <a:r>
              <a:rPr lang="en-IN" sz="2400" dirty="0">
                <a:latin typeface="+mj-lt"/>
              </a:rPr>
              <a:t> – Signup</a:t>
            </a:r>
          </a:p>
          <a:p>
            <a:pPr marL="0" lvl="0" indent="0" algn="l" rtl="0">
              <a:spcBef>
                <a:spcPts val="0"/>
              </a:spcBef>
              <a:spcAft>
                <a:spcPts val="0"/>
              </a:spcAft>
              <a:buNone/>
            </a:pPr>
            <a:r>
              <a:rPr lang="en-IN" sz="2400" dirty="0">
                <a:latin typeface="+mj-lt"/>
              </a:rPr>
              <a:t>CLASS </a:t>
            </a:r>
            <a:r>
              <a:rPr lang="en-IN" sz="2400" dirty="0" err="1">
                <a:latin typeface="+mj-lt"/>
              </a:rPr>
              <a:t>AuthController</a:t>
            </a:r>
            <a:endParaRPr lang="en-IN" sz="2400" dirty="0">
              <a:latin typeface="+mj-lt"/>
            </a:endParaRPr>
          </a:p>
          <a:p>
            <a:pPr marL="0" lvl="0" indent="0" algn="l" rtl="0">
              <a:spcBef>
                <a:spcPts val="0"/>
              </a:spcBef>
              <a:spcAft>
                <a:spcPts val="0"/>
              </a:spcAft>
              <a:buNone/>
            </a:pPr>
            <a:r>
              <a:rPr lang="en-IN" sz="2400" dirty="0">
                <a:latin typeface="+mj-lt"/>
              </a:rPr>
              <a:t> </a:t>
            </a:r>
          </a:p>
          <a:p>
            <a:pPr marL="0" lvl="0" indent="0" algn="l" rtl="0">
              <a:spcBef>
                <a:spcPts val="0"/>
              </a:spcBef>
              <a:spcAft>
                <a:spcPts val="0"/>
              </a:spcAft>
              <a:buNone/>
            </a:pPr>
            <a:r>
              <a:rPr lang="en-IN" sz="2400" dirty="0">
                <a:latin typeface="+mj-lt"/>
              </a:rPr>
              <a:t>    FUNCTION signup(request)</a:t>
            </a:r>
          </a:p>
          <a:p>
            <a:pPr marL="0" lvl="0" indent="0" algn="l" rtl="0">
              <a:spcBef>
                <a:spcPts val="0"/>
              </a:spcBef>
              <a:spcAft>
                <a:spcPts val="0"/>
              </a:spcAft>
              <a:buNone/>
            </a:pPr>
            <a:r>
              <a:rPr lang="en-IN" sz="2400" dirty="0">
                <a:latin typeface="+mj-lt"/>
              </a:rPr>
              <a:t>        </a:t>
            </a:r>
            <a:r>
              <a:rPr lang="en-IN" sz="2400" dirty="0" err="1">
                <a:latin typeface="+mj-lt"/>
              </a:rPr>
              <a:t>userDetails</a:t>
            </a:r>
            <a:r>
              <a:rPr lang="en-IN" sz="2400" dirty="0">
                <a:latin typeface="+mj-lt"/>
              </a:rPr>
              <a:t> = request data</a:t>
            </a:r>
          </a:p>
          <a:p>
            <a:pPr marL="0" lvl="0" indent="0" algn="l" rtl="0">
              <a:spcBef>
                <a:spcPts val="0"/>
              </a:spcBef>
              <a:spcAft>
                <a:spcPts val="0"/>
              </a:spcAft>
              <a:buNone/>
            </a:pPr>
            <a:r>
              <a:rPr lang="en-IN" sz="2400" dirty="0">
                <a:latin typeface="+mj-lt"/>
              </a:rPr>
              <a:t>        result = </a:t>
            </a:r>
            <a:r>
              <a:rPr lang="en-IN" sz="2400" dirty="0" err="1">
                <a:latin typeface="+mj-lt"/>
              </a:rPr>
              <a:t>AuthService.registerUser</a:t>
            </a:r>
            <a:r>
              <a:rPr lang="en-IN" sz="2400" dirty="0">
                <a:latin typeface="+mj-lt"/>
              </a:rPr>
              <a:t>(</a:t>
            </a:r>
            <a:r>
              <a:rPr lang="en-IN" sz="2400" dirty="0" err="1">
                <a:latin typeface="+mj-lt"/>
              </a:rPr>
              <a:t>userDetails</a:t>
            </a:r>
            <a:r>
              <a:rPr lang="en-IN" sz="2400" dirty="0">
                <a:latin typeface="+mj-lt"/>
              </a:rPr>
              <a:t>)</a:t>
            </a:r>
          </a:p>
          <a:p>
            <a:pPr marL="0" lvl="0" indent="0" algn="l" rtl="0">
              <a:spcBef>
                <a:spcPts val="0"/>
              </a:spcBef>
              <a:spcAft>
                <a:spcPts val="0"/>
              </a:spcAft>
              <a:buNone/>
            </a:pPr>
            <a:r>
              <a:rPr lang="en-IN" sz="2400" dirty="0">
                <a:latin typeface="+mj-lt"/>
              </a:rPr>
              <a:t>        RETURN result</a:t>
            </a:r>
          </a:p>
          <a:p>
            <a:pPr marL="0" lvl="0" indent="0" algn="l" rtl="0">
              <a:spcBef>
                <a:spcPts val="0"/>
              </a:spcBef>
              <a:spcAft>
                <a:spcPts val="0"/>
              </a:spcAft>
              <a:buNone/>
            </a:pPr>
            <a:r>
              <a:rPr lang="en-IN" sz="2400" dirty="0">
                <a:latin typeface="+mj-lt"/>
              </a:rPr>
              <a:t>    END FUNCTION</a:t>
            </a:r>
          </a:p>
          <a:p>
            <a:pPr marL="0" lvl="0" indent="0" algn="l" rtl="0">
              <a:spcBef>
                <a:spcPts val="0"/>
              </a:spcBef>
              <a:spcAft>
                <a:spcPts val="0"/>
              </a:spcAft>
              <a:buNone/>
            </a:pPr>
            <a:r>
              <a:rPr lang="en-IN" sz="2400" dirty="0">
                <a:latin typeface="+mj-lt"/>
              </a:rPr>
              <a:t> </a:t>
            </a:r>
          </a:p>
          <a:p>
            <a:pPr marL="0" lvl="0" indent="0" algn="l" rtl="0">
              <a:spcBef>
                <a:spcPts val="0"/>
              </a:spcBef>
              <a:spcAft>
                <a:spcPts val="0"/>
              </a:spcAft>
              <a:buNone/>
            </a:pPr>
            <a:r>
              <a:rPr lang="en-IN" sz="2400" dirty="0">
                <a:latin typeface="+mj-lt"/>
              </a:rPr>
              <a:t>END CLASS</a:t>
            </a:r>
          </a:p>
        </p:txBody>
      </p:sp>
    </p:spTree>
    <p:extLst>
      <p:ext uri="{BB962C8B-B14F-4D97-AF65-F5344CB8AC3E}">
        <p14:creationId xmlns:p14="http://schemas.microsoft.com/office/powerpoint/2010/main" val="3372859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C8A90F5-DE23-6484-9FB4-457525E8F2A6}"/>
              </a:ext>
            </a:extLst>
          </p:cNvPr>
          <p:cNvSpPr txBox="1"/>
          <p:nvPr/>
        </p:nvSpPr>
        <p:spPr>
          <a:xfrm>
            <a:off x="169333" y="355600"/>
            <a:ext cx="7027333" cy="5659626"/>
          </a:xfrm>
          <a:prstGeom prst="rect">
            <a:avLst/>
          </a:prstGeom>
          <a:noFill/>
        </p:spPr>
        <p:txBody>
          <a:bodyPr wrap="square">
            <a:spAutoFit/>
          </a:bodyPr>
          <a:lstStyle/>
          <a:p>
            <a:r>
              <a:rPr lang="en-IN" sz="2400" b="1" kern="1800" dirty="0">
                <a:latin typeface="+mj-lt"/>
                <a:ea typeface="Times New Roman" panose="02020603050405020304" pitchFamily="18" charset="0"/>
                <a:cs typeface="Latha" panose="020B0604020202020204" pitchFamily="34" charset="0"/>
              </a:rPr>
              <a:t>##</a:t>
            </a:r>
            <a:r>
              <a:rPr lang="en-IN" sz="2400" b="1" dirty="0">
                <a:latin typeface="+mj-lt"/>
                <a:ea typeface="Times New Roman" panose="02020603050405020304" pitchFamily="18" charset="0"/>
                <a:cs typeface="Latha" panose="020B0604020202020204" pitchFamily="34" charset="0"/>
              </a:rPr>
              <a:t> </a:t>
            </a:r>
            <a:r>
              <a:rPr lang="en-IN" sz="2400" b="1" dirty="0" err="1">
                <a:latin typeface="+mj-lt"/>
                <a:ea typeface="Times New Roman" panose="02020603050405020304" pitchFamily="18" charset="0"/>
                <a:cs typeface="Latha" panose="020B0604020202020204" pitchFamily="34" charset="0"/>
              </a:rPr>
              <a:t>AuthService</a:t>
            </a:r>
            <a:r>
              <a:rPr lang="en-IN" sz="2400" b="1" dirty="0">
                <a:latin typeface="+mj-lt"/>
                <a:ea typeface="Times New Roman" panose="02020603050405020304" pitchFamily="18" charset="0"/>
                <a:cs typeface="Latha" panose="020B0604020202020204" pitchFamily="34" charset="0"/>
              </a:rPr>
              <a:t> – Signup Logic</a:t>
            </a:r>
          </a:p>
          <a:p>
            <a:endParaRPr lang="en-IN" sz="2400" kern="100" dirty="0">
              <a:latin typeface="Times New Roman" panose="02020603050405020304" pitchFamily="18" charset="0"/>
              <a:ea typeface="Calibri" panose="020F0502020204030204" pitchFamily="34" charset="0"/>
              <a:cs typeface="Latha" panose="020B0604020202020204" pitchFamily="34" charset="0"/>
            </a:endParaRPr>
          </a:p>
          <a:p>
            <a:br>
              <a:rPr lang="en-IN" sz="2000" kern="100" dirty="0">
                <a:latin typeface="Calibri" panose="020F0502020204030204" pitchFamily="34" charset="0"/>
                <a:ea typeface="Calibri" panose="020F0502020204030204" pitchFamily="34" charset="0"/>
                <a:cs typeface="Latha" panose="020B0604020202020204" pitchFamily="34" charset="0"/>
              </a:rPr>
            </a:br>
            <a:r>
              <a:rPr lang="en-IN" sz="1800" b="0" kern="1800" dirty="0">
                <a:latin typeface="Times New Roman" panose="02020603050405020304" pitchFamily="18" charset="0"/>
                <a:ea typeface="Times New Roman" panose="02020603050405020304" pitchFamily="18" charset="0"/>
                <a:cs typeface="Latha" panose="020B0604020202020204" pitchFamily="34" charset="0"/>
              </a:rPr>
              <a:t>CLASS </a:t>
            </a:r>
            <a:r>
              <a:rPr lang="en-IN" sz="1800" b="0" kern="1800" dirty="0" err="1">
                <a:latin typeface="Times New Roman" panose="02020603050405020304" pitchFamily="18" charset="0"/>
                <a:ea typeface="Times New Roman" panose="02020603050405020304" pitchFamily="18" charset="0"/>
                <a:cs typeface="Latha" panose="020B0604020202020204" pitchFamily="34" charset="0"/>
              </a:rPr>
              <a:t>AuthService</a:t>
            </a:r>
            <a:br>
              <a:rPr lang="en-IN" sz="1800" b="0" kern="1800" dirty="0">
                <a:latin typeface="Times New Roman" panose="02020603050405020304" pitchFamily="18" charset="0"/>
                <a:ea typeface="Times New Roman" panose="02020603050405020304" pitchFamily="18" charset="0"/>
                <a:cs typeface="Latha" panose="020B0604020202020204" pitchFamily="34" charset="0"/>
              </a:rPr>
            </a:br>
            <a:r>
              <a:rPr lang="en-IN" sz="1800" b="0" kern="1800" dirty="0">
                <a:latin typeface="Times New Roman" panose="02020603050405020304" pitchFamily="18" charset="0"/>
                <a:ea typeface="Times New Roman" panose="02020603050405020304" pitchFamily="18" charset="0"/>
                <a:cs typeface="Latha" panose="020B0604020202020204" pitchFamily="34" charset="0"/>
              </a:rPr>
              <a:t> </a:t>
            </a:r>
            <a:br>
              <a:rPr lang="en-IN" sz="1800" b="0" kern="1800" dirty="0">
                <a:latin typeface="Times New Roman" panose="02020603050405020304" pitchFamily="18" charset="0"/>
                <a:ea typeface="Times New Roman" panose="02020603050405020304" pitchFamily="18" charset="0"/>
                <a:cs typeface="Latha" panose="020B0604020202020204" pitchFamily="34" charset="0"/>
              </a:rPr>
            </a:br>
            <a:r>
              <a:rPr lang="en-IN" sz="1800" b="0" kern="1800" dirty="0">
                <a:latin typeface="Times New Roman" panose="02020603050405020304" pitchFamily="18" charset="0"/>
                <a:ea typeface="Times New Roman" panose="02020603050405020304" pitchFamily="18" charset="0"/>
                <a:cs typeface="Latha" panose="020B0604020202020204" pitchFamily="34" charset="0"/>
              </a:rPr>
              <a:t>    FUNCTION </a:t>
            </a:r>
            <a:r>
              <a:rPr lang="en-IN" sz="1800" b="0" kern="1800" dirty="0" err="1">
                <a:latin typeface="Times New Roman" panose="02020603050405020304" pitchFamily="18" charset="0"/>
                <a:ea typeface="Times New Roman" panose="02020603050405020304" pitchFamily="18" charset="0"/>
                <a:cs typeface="Latha" panose="020B0604020202020204" pitchFamily="34" charset="0"/>
              </a:rPr>
              <a:t>registerUser</a:t>
            </a:r>
            <a:r>
              <a:rPr lang="en-IN" sz="1800" b="0" kern="1800" dirty="0">
                <a:latin typeface="Times New Roman" panose="02020603050405020304" pitchFamily="18" charset="0"/>
                <a:ea typeface="Times New Roman" panose="02020603050405020304" pitchFamily="18" charset="0"/>
                <a:cs typeface="Latha" panose="020B0604020202020204" pitchFamily="34" charset="0"/>
              </a:rPr>
              <a:t>(</a:t>
            </a:r>
            <a:r>
              <a:rPr lang="en-IN" sz="1800" b="0" kern="1800" dirty="0" err="1">
                <a:latin typeface="Times New Roman" panose="02020603050405020304" pitchFamily="18" charset="0"/>
                <a:ea typeface="Times New Roman" panose="02020603050405020304" pitchFamily="18" charset="0"/>
                <a:cs typeface="Latha" panose="020B0604020202020204" pitchFamily="34" charset="0"/>
              </a:rPr>
              <a:t>userDetails</a:t>
            </a:r>
            <a:r>
              <a:rPr lang="en-IN" sz="1800" b="0" kern="1800" dirty="0">
                <a:latin typeface="Times New Roman" panose="02020603050405020304" pitchFamily="18" charset="0"/>
                <a:ea typeface="Times New Roman" panose="02020603050405020304" pitchFamily="18" charset="0"/>
                <a:cs typeface="Latha" panose="020B0604020202020204" pitchFamily="34" charset="0"/>
              </a:rPr>
              <a:t>)</a:t>
            </a:r>
            <a:br>
              <a:rPr lang="en-IN" sz="1800" b="0" kern="1800" dirty="0">
                <a:latin typeface="Times New Roman" panose="02020603050405020304" pitchFamily="18" charset="0"/>
                <a:ea typeface="Times New Roman" panose="02020603050405020304" pitchFamily="18" charset="0"/>
                <a:cs typeface="Latha" panose="020B0604020202020204" pitchFamily="34" charset="0"/>
              </a:rPr>
            </a:br>
            <a:r>
              <a:rPr lang="en-IN" sz="1800" b="0" kern="1800" dirty="0">
                <a:latin typeface="Times New Roman" panose="02020603050405020304" pitchFamily="18" charset="0"/>
                <a:ea typeface="Times New Roman" panose="02020603050405020304" pitchFamily="18" charset="0"/>
                <a:cs typeface="Latha" panose="020B0604020202020204" pitchFamily="34" charset="0"/>
              </a:rPr>
              <a:t> </a:t>
            </a:r>
            <a:br>
              <a:rPr lang="en-IN" sz="1800" b="0" kern="1800" dirty="0">
                <a:latin typeface="Times New Roman" panose="02020603050405020304" pitchFamily="18" charset="0"/>
                <a:ea typeface="Times New Roman" panose="02020603050405020304" pitchFamily="18" charset="0"/>
                <a:cs typeface="Latha" panose="020B0604020202020204" pitchFamily="34" charset="0"/>
              </a:rPr>
            </a:br>
            <a:r>
              <a:rPr lang="en-IN" sz="1800" b="0" kern="1800" dirty="0">
                <a:latin typeface="Times New Roman" panose="02020603050405020304" pitchFamily="18" charset="0"/>
                <a:ea typeface="Times New Roman" panose="02020603050405020304" pitchFamily="18" charset="0"/>
                <a:cs typeface="Latha" panose="020B0604020202020204" pitchFamily="34" charset="0"/>
              </a:rPr>
              <a:t>        </a:t>
            </a:r>
            <a:r>
              <a:rPr lang="en-IN" sz="1800" b="0" kern="1800" dirty="0" err="1">
                <a:latin typeface="Times New Roman" panose="02020603050405020304" pitchFamily="18" charset="0"/>
                <a:ea typeface="Times New Roman" panose="02020603050405020304" pitchFamily="18" charset="0"/>
                <a:cs typeface="Latha" panose="020B0604020202020204" pitchFamily="34" charset="0"/>
              </a:rPr>
              <a:t>existingUser</a:t>
            </a:r>
            <a:r>
              <a:rPr lang="en-IN" sz="1800" b="0" kern="1800" dirty="0">
                <a:latin typeface="Times New Roman" panose="02020603050405020304" pitchFamily="18" charset="0"/>
                <a:ea typeface="Times New Roman" panose="02020603050405020304" pitchFamily="18" charset="0"/>
                <a:cs typeface="Latha" panose="020B0604020202020204" pitchFamily="34" charset="0"/>
              </a:rPr>
              <a:t> = </a:t>
            </a:r>
            <a:r>
              <a:rPr lang="en-IN" sz="1800" b="0" kern="1800" dirty="0" err="1">
                <a:latin typeface="Times New Roman" panose="02020603050405020304" pitchFamily="18" charset="0"/>
                <a:ea typeface="Times New Roman" panose="02020603050405020304" pitchFamily="18" charset="0"/>
                <a:cs typeface="Latha" panose="020B0604020202020204" pitchFamily="34" charset="0"/>
              </a:rPr>
              <a:t>UserRepository.findByUsername</a:t>
            </a:r>
            <a:r>
              <a:rPr lang="en-IN" sz="1800" b="0" kern="1800" dirty="0">
                <a:latin typeface="Times New Roman" panose="02020603050405020304" pitchFamily="18" charset="0"/>
                <a:ea typeface="Times New Roman" panose="02020603050405020304" pitchFamily="18" charset="0"/>
                <a:cs typeface="Latha" panose="020B0604020202020204" pitchFamily="34" charset="0"/>
              </a:rPr>
              <a:t>(</a:t>
            </a:r>
            <a:r>
              <a:rPr lang="en-IN" sz="1800" b="0" kern="1800" dirty="0" err="1">
                <a:latin typeface="Times New Roman" panose="02020603050405020304" pitchFamily="18" charset="0"/>
                <a:ea typeface="Times New Roman" panose="02020603050405020304" pitchFamily="18" charset="0"/>
                <a:cs typeface="Latha" panose="020B0604020202020204" pitchFamily="34" charset="0"/>
              </a:rPr>
              <a:t>userDetails.username</a:t>
            </a:r>
            <a:r>
              <a:rPr lang="en-IN" sz="1800" b="0" kern="1800" dirty="0">
                <a:latin typeface="Times New Roman" panose="02020603050405020304" pitchFamily="18" charset="0"/>
                <a:ea typeface="Times New Roman" panose="02020603050405020304" pitchFamily="18" charset="0"/>
                <a:cs typeface="Latha" panose="020B0604020202020204" pitchFamily="34" charset="0"/>
              </a:rPr>
              <a:t>)</a:t>
            </a:r>
            <a:br>
              <a:rPr lang="en-IN" sz="1800" b="0" kern="1800" dirty="0">
                <a:latin typeface="Times New Roman" panose="02020603050405020304" pitchFamily="18" charset="0"/>
                <a:ea typeface="Times New Roman" panose="02020603050405020304" pitchFamily="18" charset="0"/>
                <a:cs typeface="Latha" panose="020B0604020202020204" pitchFamily="34" charset="0"/>
              </a:rPr>
            </a:br>
            <a:r>
              <a:rPr lang="en-US" sz="1800" b="0" kern="1800" dirty="0">
                <a:latin typeface="Times New Roman" panose="02020603050405020304" pitchFamily="18" charset="0"/>
                <a:ea typeface="Times New Roman" panose="02020603050405020304" pitchFamily="18" charset="0"/>
                <a:cs typeface="Latha" panose="020B0604020202020204" pitchFamily="34" charset="0"/>
              </a:rPr>
              <a:t>IF </a:t>
            </a:r>
            <a:r>
              <a:rPr lang="en-US" sz="1800" b="0" kern="1800" dirty="0" err="1">
                <a:latin typeface="Times New Roman" panose="02020603050405020304" pitchFamily="18" charset="0"/>
                <a:ea typeface="Times New Roman" panose="02020603050405020304" pitchFamily="18" charset="0"/>
                <a:cs typeface="Latha" panose="020B0604020202020204" pitchFamily="34" charset="0"/>
              </a:rPr>
              <a:t>existingUser</a:t>
            </a:r>
            <a:r>
              <a:rPr lang="en-US" sz="1800" b="0" kern="1800" dirty="0">
                <a:latin typeface="Times New Roman" panose="02020603050405020304" pitchFamily="18" charset="0"/>
                <a:ea typeface="Times New Roman" panose="02020603050405020304" pitchFamily="18" charset="0"/>
                <a:cs typeface="Latha" panose="020B0604020202020204" pitchFamily="34" charset="0"/>
              </a:rPr>
              <a:t> exists THEN</a:t>
            </a:r>
            <a:br>
              <a:rPr lang="en-US" sz="1800" b="0" kern="1800" dirty="0">
                <a:latin typeface="Times New Roman" panose="02020603050405020304" pitchFamily="18" charset="0"/>
                <a:ea typeface="Times New Roman" panose="02020603050405020304" pitchFamily="18" charset="0"/>
                <a:cs typeface="Latha" panose="020B0604020202020204" pitchFamily="34" charset="0"/>
              </a:rPr>
            </a:br>
            <a:r>
              <a:rPr lang="en-US" sz="1800" b="0" kern="1800" dirty="0">
                <a:latin typeface="Times New Roman" panose="02020603050405020304" pitchFamily="18" charset="0"/>
                <a:ea typeface="Times New Roman" panose="02020603050405020304" pitchFamily="18" charset="0"/>
                <a:cs typeface="Latha" panose="020B0604020202020204" pitchFamily="34" charset="0"/>
              </a:rPr>
              <a:t>            RETURN "User already exists"</a:t>
            </a:r>
            <a:br>
              <a:rPr lang="en-US" sz="1800" b="0" kern="1800" dirty="0">
                <a:latin typeface="Times New Roman" panose="02020603050405020304" pitchFamily="18" charset="0"/>
                <a:ea typeface="Times New Roman" panose="02020603050405020304" pitchFamily="18" charset="0"/>
                <a:cs typeface="Latha" panose="020B0604020202020204" pitchFamily="34" charset="0"/>
              </a:rPr>
            </a:br>
            <a:r>
              <a:rPr lang="en-US" sz="1800" b="0" kern="1800" dirty="0">
                <a:latin typeface="Times New Roman" panose="02020603050405020304" pitchFamily="18" charset="0"/>
                <a:ea typeface="Times New Roman" panose="02020603050405020304" pitchFamily="18" charset="0"/>
                <a:cs typeface="Latha" panose="020B0604020202020204" pitchFamily="34" charset="0"/>
              </a:rPr>
              <a:t>        END IF</a:t>
            </a:r>
            <a:br>
              <a:rPr lang="en-US" sz="1800" b="0" kern="1800" dirty="0">
                <a:latin typeface="Times New Roman" panose="02020603050405020304" pitchFamily="18" charset="0"/>
                <a:ea typeface="Times New Roman" panose="02020603050405020304" pitchFamily="18" charset="0"/>
                <a:cs typeface="Latha" panose="020B0604020202020204" pitchFamily="34" charset="0"/>
              </a:rPr>
            </a:br>
            <a:br>
              <a:rPr lang="en-US" sz="1800" b="0" kern="1800" dirty="0">
                <a:latin typeface="Times New Roman" panose="02020603050405020304" pitchFamily="18" charset="0"/>
                <a:ea typeface="Times New Roman" panose="02020603050405020304" pitchFamily="18" charset="0"/>
                <a:cs typeface="Latha" panose="020B0604020202020204" pitchFamily="34" charset="0"/>
              </a:rPr>
            </a:br>
            <a:r>
              <a:rPr lang="en-US" sz="1800" b="0" kern="1800" dirty="0">
                <a:latin typeface="Times New Roman" panose="02020603050405020304" pitchFamily="18" charset="0"/>
                <a:ea typeface="Times New Roman" panose="02020603050405020304" pitchFamily="18" charset="0"/>
                <a:cs typeface="Latha" panose="020B0604020202020204" pitchFamily="34" charset="0"/>
              </a:rPr>
              <a:t>        </a:t>
            </a:r>
            <a:r>
              <a:rPr lang="en-US" sz="1800" b="0" kern="1800" dirty="0" err="1">
                <a:latin typeface="Times New Roman" panose="02020603050405020304" pitchFamily="18" charset="0"/>
                <a:ea typeface="Times New Roman" panose="02020603050405020304" pitchFamily="18" charset="0"/>
                <a:cs typeface="Latha" panose="020B0604020202020204" pitchFamily="34" charset="0"/>
              </a:rPr>
              <a:t>encryptedPassword</a:t>
            </a:r>
            <a:r>
              <a:rPr lang="en-US" sz="1800" b="0" kern="1800" dirty="0">
                <a:latin typeface="Times New Roman" panose="02020603050405020304" pitchFamily="18" charset="0"/>
                <a:ea typeface="Times New Roman" panose="02020603050405020304" pitchFamily="18" charset="0"/>
                <a:cs typeface="Latha" panose="020B0604020202020204" pitchFamily="34" charset="0"/>
              </a:rPr>
              <a:t> = encrypt(</a:t>
            </a:r>
            <a:r>
              <a:rPr lang="en-US" sz="1800" b="0" kern="1800" dirty="0" err="1">
                <a:latin typeface="Times New Roman" panose="02020603050405020304" pitchFamily="18" charset="0"/>
                <a:ea typeface="Times New Roman" panose="02020603050405020304" pitchFamily="18" charset="0"/>
                <a:cs typeface="Latha" panose="020B0604020202020204" pitchFamily="34" charset="0"/>
              </a:rPr>
              <a:t>userDetails.password</a:t>
            </a:r>
            <a:r>
              <a:rPr lang="en-US" sz="1800" b="0" kern="1800" dirty="0">
                <a:latin typeface="Times New Roman" panose="02020603050405020304" pitchFamily="18" charset="0"/>
                <a:ea typeface="Times New Roman" panose="02020603050405020304" pitchFamily="18" charset="0"/>
                <a:cs typeface="Latha" panose="020B0604020202020204" pitchFamily="34" charset="0"/>
              </a:rPr>
              <a:t>)</a:t>
            </a: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kern="1800" dirty="0">
                <a:latin typeface="Times New Roman" panose="02020603050405020304" pitchFamily="18" charset="0"/>
                <a:cs typeface="Latha" panose="020B0604020202020204" pitchFamily="34" charset="0"/>
              </a:rPr>
              <a:t>        </a:t>
            </a:r>
            <a:r>
              <a:rPr lang="en-IN" dirty="0" err="1">
                <a:latin typeface="Times New Roman" panose="02020603050405020304" pitchFamily="18" charset="0"/>
                <a:ea typeface="Times New Roman" panose="02020603050405020304" pitchFamily="18" charset="0"/>
                <a:cs typeface="Latha" panose="020B0604020202020204" pitchFamily="34" charset="0"/>
              </a:rPr>
              <a:t>newUser</a:t>
            </a:r>
            <a:r>
              <a:rPr lang="en-IN" dirty="0">
                <a:latin typeface="Times New Roman" panose="02020603050405020304" pitchFamily="18" charset="0"/>
                <a:ea typeface="Times New Roman" panose="02020603050405020304" pitchFamily="18" charset="0"/>
                <a:cs typeface="Latha" panose="020B0604020202020204" pitchFamily="34" charset="0"/>
              </a:rPr>
              <a:t> = create User</a:t>
            </a:r>
            <a:endParaRPr lang="en-IN" sz="1600" kern="100" dirty="0">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Times New Roman" panose="02020603050405020304" pitchFamily="18" charset="0"/>
                <a:ea typeface="Times New Roman" panose="02020603050405020304" pitchFamily="18" charset="0"/>
                <a:cs typeface="Latha" panose="020B0604020202020204" pitchFamily="34" charset="0"/>
              </a:rPr>
              <a:t>        </a:t>
            </a:r>
            <a:r>
              <a:rPr lang="en-IN" dirty="0" err="1">
                <a:latin typeface="Times New Roman" panose="02020603050405020304" pitchFamily="18" charset="0"/>
                <a:ea typeface="Times New Roman" panose="02020603050405020304" pitchFamily="18" charset="0"/>
                <a:cs typeface="Latha" panose="020B0604020202020204" pitchFamily="34" charset="0"/>
              </a:rPr>
              <a:t>newUser.username</a:t>
            </a:r>
            <a:r>
              <a:rPr lang="en-IN" dirty="0">
                <a:latin typeface="Times New Roman" panose="02020603050405020304" pitchFamily="18" charset="0"/>
                <a:ea typeface="Times New Roman" panose="02020603050405020304" pitchFamily="18" charset="0"/>
                <a:cs typeface="Latha" panose="020B0604020202020204" pitchFamily="34" charset="0"/>
              </a:rPr>
              <a:t> = </a:t>
            </a:r>
            <a:r>
              <a:rPr lang="en-IN" dirty="0" err="1">
                <a:latin typeface="Times New Roman" panose="02020603050405020304" pitchFamily="18" charset="0"/>
                <a:ea typeface="Times New Roman" panose="02020603050405020304" pitchFamily="18" charset="0"/>
                <a:cs typeface="Latha" panose="020B0604020202020204" pitchFamily="34" charset="0"/>
              </a:rPr>
              <a:t>userDetails.username</a:t>
            </a:r>
            <a:endParaRPr lang="en-IN" sz="1600" kern="100" dirty="0">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Times New Roman" panose="02020603050405020304" pitchFamily="18" charset="0"/>
                <a:ea typeface="Times New Roman" panose="02020603050405020304" pitchFamily="18" charset="0"/>
                <a:cs typeface="Latha" panose="020B0604020202020204" pitchFamily="34" charset="0"/>
              </a:rPr>
              <a:t>        </a:t>
            </a:r>
            <a:r>
              <a:rPr lang="en-IN" dirty="0" err="1">
                <a:latin typeface="Times New Roman" panose="02020603050405020304" pitchFamily="18" charset="0"/>
                <a:ea typeface="Times New Roman" panose="02020603050405020304" pitchFamily="18" charset="0"/>
                <a:cs typeface="Latha" panose="020B0604020202020204" pitchFamily="34" charset="0"/>
              </a:rPr>
              <a:t>newUser.password</a:t>
            </a:r>
            <a:r>
              <a:rPr lang="en-IN" dirty="0">
                <a:latin typeface="Times New Roman" panose="02020603050405020304" pitchFamily="18" charset="0"/>
                <a:ea typeface="Times New Roman" panose="02020603050405020304" pitchFamily="18" charset="0"/>
                <a:cs typeface="Latha" panose="020B0604020202020204" pitchFamily="34" charset="0"/>
              </a:rPr>
              <a:t> = </a:t>
            </a:r>
            <a:r>
              <a:rPr lang="en-IN" dirty="0" err="1">
                <a:latin typeface="Times New Roman" panose="02020603050405020304" pitchFamily="18" charset="0"/>
                <a:ea typeface="Times New Roman" panose="02020603050405020304" pitchFamily="18" charset="0"/>
                <a:cs typeface="Latha" panose="020B0604020202020204" pitchFamily="34" charset="0"/>
              </a:rPr>
              <a:t>encryptedPassword</a:t>
            </a:r>
            <a:endParaRPr lang="en-IN" sz="1600" kern="100" dirty="0">
              <a:latin typeface="Calibri" panose="020F0502020204030204" pitchFamily="34" charset="0"/>
              <a:ea typeface="Calibri" panose="020F0502020204030204" pitchFamily="34" charset="0"/>
              <a:cs typeface="Latha" panose="020B0604020202020204" pitchFamily="34" charset="0"/>
            </a:endParaRPr>
          </a:p>
          <a:p>
            <a:endParaRPr lang="en-IN" dirty="0"/>
          </a:p>
        </p:txBody>
      </p:sp>
      <p:sp>
        <p:nvSpPr>
          <p:cNvPr id="11" name="TextBox 10">
            <a:extLst>
              <a:ext uri="{FF2B5EF4-FFF2-40B4-BE49-F238E27FC236}">
                <a16:creationId xmlns:a16="http://schemas.microsoft.com/office/drawing/2014/main" id="{88A77A30-8923-491E-1FE7-A7440140FCA3}"/>
              </a:ext>
            </a:extLst>
          </p:cNvPr>
          <p:cNvSpPr txBox="1"/>
          <p:nvPr/>
        </p:nvSpPr>
        <p:spPr>
          <a:xfrm>
            <a:off x="7196667" y="1446663"/>
            <a:ext cx="4825999" cy="3964675"/>
          </a:xfrm>
          <a:prstGeom prst="rect">
            <a:avLst/>
          </a:prstGeom>
          <a:noFill/>
        </p:spPr>
        <p:txBody>
          <a:bodyPr wrap="square">
            <a:spAutoFit/>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err="1">
                <a:latin typeface="Times New Roman" panose="02020603050405020304" pitchFamily="18" charset="0"/>
                <a:ea typeface="Times New Roman" panose="02020603050405020304" pitchFamily="18" charset="0"/>
                <a:cs typeface="Latha" panose="020B0604020202020204" pitchFamily="34" charset="0"/>
              </a:rPr>
              <a:t>newUser.role</a:t>
            </a:r>
            <a:r>
              <a:rPr lang="en-IN" dirty="0">
                <a:latin typeface="Times New Roman" panose="02020603050405020304" pitchFamily="18" charset="0"/>
                <a:ea typeface="Times New Roman" panose="02020603050405020304" pitchFamily="18" charset="0"/>
                <a:cs typeface="Latha" panose="020B0604020202020204" pitchFamily="34" charset="0"/>
              </a:rPr>
              <a:t> = </a:t>
            </a:r>
            <a:r>
              <a:rPr lang="en-IN" dirty="0" err="1">
                <a:latin typeface="Times New Roman" panose="02020603050405020304" pitchFamily="18" charset="0"/>
                <a:ea typeface="Times New Roman" panose="02020603050405020304" pitchFamily="18" charset="0"/>
                <a:cs typeface="Latha" panose="020B0604020202020204" pitchFamily="34" charset="0"/>
              </a:rPr>
              <a:t>userDetails.role</a:t>
            </a:r>
            <a:endParaRPr lang="en-IN" sz="1600" kern="100" dirty="0">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Times New Roman" panose="02020603050405020304" pitchFamily="18" charset="0"/>
                <a:ea typeface="Times New Roman" panose="02020603050405020304" pitchFamily="18" charset="0"/>
                <a:cs typeface="Latha" panose="020B0604020202020204" pitchFamily="34" charset="0"/>
              </a:rPr>
              <a:t>        </a:t>
            </a:r>
            <a:r>
              <a:rPr lang="en-IN" dirty="0" err="1">
                <a:latin typeface="Times New Roman" panose="02020603050405020304" pitchFamily="18" charset="0"/>
                <a:ea typeface="Times New Roman" panose="02020603050405020304" pitchFamily="18" charset="0"/>
                <a:cs typeface="Latha" panose="020B0604020202020204" pitchFamily="34" charset="0"/>
              </a:rPr>
              <a:t>newUser.email</a:t>
            </a:r>
            <a:r>
              <a:rPr lang="en-IN" dirty="0">
                <a:latin typeface="Times New Roman" panose="02020603050405020304" pitchFamily="18" charset="0"/>
                <a:ea typeface="Times New Roman" panose="02020603050405020304" pitchFamily="18" charset="0"/>
                <a:cs typeface="Latha" panose="020B0604020202020204" pitchFamily="34" charset="0"/>
              </a:rPr>
              <a:t> = </a:t>
            </a:r>
            <a:r>
              <a:rPr lang="en-IN" dirty="0" err="1">
                <a:latin typeface="Times New Roman" panose="02020603050405020304" pitchFamily="18" charset="0"/>
                <a:ea typeface="Times New Roman" panose="02020603050405020304" pitchFamily="18" charset="0"/>
                <a:cs typeface="Latha" panose="020B0604020202020204" pitchFamily="34" charset="0"/>
              </a:rPr>
              <a:t>userDetails.email</a:t>
            </a:r>
            <a:endParaRPr lang="en-IN" sz="1600" kern="100" dirty="0">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Times New Roman" panose="02020603050405020304" pitchFamily="18" charset="0"/>
                <a:ea typeface="Times New Roman" panose="02020603050405020304" pitchFamily="18" charset="0"/>
                <a:cs typeface="Latha" panose="020B0604020202020204" pitchFamily="34" charset="0"/>
              </a:rPr>
              <a:t> </a:t>
            </a:r>
            <a:endParaRPr lang="en-IN" sz="1600" kern="100" dirty="0">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Times New Roman" panose="02020603050405020304" pitchFamily="18" charset="0"/>
                <a:ea typeface="Times New Roman" panose="02020603050405020304" pitchFamily="18" charset="0"/>
                <a:cs typeface="Latha" panose="020B0604020202020204" pitchFamily="34" charset="0"/>
              </a:rPr>
              <a:t>        </a:t>
            </a:r>
            <a:r>
              <a:rPr lang="en-IN" dirty="0" err="1">
                <a:latin typeface="Times New Roman" panose="02020603050405020304" pitchFamily="18" charset="0"/>
                <a:ea typeface="Times New Roman" panose="02020603050405020304" pitchFamily="18" charset="0"/>
                <a:cs typeface="Latha" panose="020B0604020202020204" pitchFamily="34" charset="0"/>
              </a:rPr>
              <a:t>UserRepository.save</a:t>
            </a:r>
            <a:r>
              <a:rPr lang="en-IN" dirty="0">
                <a:latin typeface="Times New Roman" panose="02020603050405020304" pitchFamily="18" charset="0"/>
                <a:ea typeface="Times New Roman" panose="02020603050405020304" pitchFamily="18" charset="0"/>
                <a:cs typeface="Latha" panose="020B0604020202020204" pitchFamily="34" charset="0"/>
              </a:rPr>
              <a:t>(</a:t>
            </a:r>
            <a:r>
              <a:rPr lang="en-IN" dirty="0" err="1">
                <a:latin typeface="Times New Roman" panose="02020603050405020304" pitchFamily="18" charset="0"/>
                <a:ea typeface="Times New Roman" panose="02020603050405020304" pitchFamily="18" charset="0"/>
                <a:cs typeface="Latha" panose="020B0604020202020204" pitchFamily="34" charset="0"/>
              </a:rPr>
              <a:t>newUser</a:t>
            </a:r>
            <a:r>
              <a:rPr lang="en-IN" dirty="0">
                <a:latin typeface="Times New Roman" panose="02020603050405020304" pitchFamily="18" charset="0"/>
                <a:ea typeface="Times New Roman" panose="02020603050405020304" pitchFamily="18" charset="0"/>
                <a:cs typeface="Latha" panose="020B0604020202020204" pitchFamily="34" charset="0"/>
              </a:rPr>
              <a:t>)</a:t>
            </a:r>
            <a:endParaRPr lang="en-IN" sz="1600" kern="100" dirty="0">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Times New Roman" panose="02020603050405020304" pitchFamily="18" charset="0"/>
                <a:ea typeface="Times New Roman" panose="02020603050405020304" pitchFamily="18" charset="0"/>
                <a:cs typeface="Latha" panose="020B0604020202020204" pitchFamily="34" charset="0"/>
              </a:rPr>
              <a:t> </a:t>
            </a:r>
            <a:endParaRPr lang="en-IN" sz="1600" kern="100" dirty="0">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Times New Roman" panose="02020603050405020304" pitchFamily="18" charset="0"/>
                <a:ea typeface="Times New Roman" panose="02020603050405020304" pitchFamily="18" charset="0"/>
                <a:cs typeface="Latha" panose="020B0604020202020204" pitchFamily="34" charset="0"/>
              </a:rPr>
              <a:t>        RETURN "Signup successful"</a:t>
            </a:r>
            <a:endParaRPr lang="en-IN" sz="1600" kern="100" dirty="0">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Times New Roman" panose="02020603050405020304" pitchFamily="18" charset="0"/>
                <a:ea typeface="Times New Roman" panose="02020603050405020304" pitchFamily="18" charset="0"/>
                <a:cs typeface="Latha" panose="020B0604020202020204" pitchFamily="34" charset="0"/>
              </a:rPr>
              <a:t> </a:t>
            </a:r>
            <a:endParaRPr lang="en-IN" sz="1600" kern="100" dirty="0">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Times New Roman" panose="02020603050405020304" pitchFamily="18" charset="0"/>
                <a:ea typeface="Times New Roman" panose="02020603050405020304" pitchFamily="18" charset="0"/>
                <a:cs typeface="Latha" panose="020B0604020202020204" pitchFamily="34" charset="0"/>
              </a:rPr>
              <a:t>    END FUNCTION</a:t>
            </a:r>
            <a:endParaRPr lang="en-IN" sz="1600" kern="100" dirty="0">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Times New Roman" panose="02020603050405020304" pitchFamily="18" charset="0"/>
                <a:ea typeface="Times New Roman" panose="02020603050405020304" pitchFamily="18" charset="0"/>
                <a:cs typeface="Latha" panose="020B0604020202020204" pitchFamily="34" charset="0"/>
              </a:rPr>
              <a:t> </a:t>
            </a:r>
            <a:endParaRPr lang="en-IN" sz="1600" kern="100" dirty="0">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latin typeface="Times New Roman" panose="02020603050405020304" pitchFamily="18" charset="0"/>
                <a:ea typeface="Times New Roman" panose="02020603050405020304" pitchFamily="18" charset="0"/>
                <a:cs typeface="Latha" panose="020B0604020202020204" pitchFamily="34" charset="0"/>
              </a:rPr>
              <a:t>END CLASS</a:t>
            </a:r>
            <a:endParaRPr lang="en-IN" sz="1600" kern="100" dirty="0">
              <a:latin typeface="Calibri" panose="020F0502020204030204" pitchFamily="34" charset="0"/>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246814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934126-D2C9-3ED1-54C3-FD4C5F5804B6}"/>
              </a:ext>
            </a:extLst>
          </p:cNvPr>
          <p:cNvSpPr txBox="1"/>
          <p:nvPr/>
        </p:nvSpPr>
        <p:spPr>
          <a:xfrm>
            <a:off x="1151467" y="1049867"/>
            <a:ext cx="7992533" cy="1938992"/>
          </a:xfrm>
          <a:prstGeom prst="rect">
            <a:avLst/>
          </a:prstGeom>
          <a:noFill/>
        </p:spPr>
        <p:txBody>
          <a:bodyPr wrap="square">
            <a:spAutoFit/>
          </a:bodyPr>
          <a:lstStyle/>
          <a:p>
            <a:r>
              <a:rPr lang="en-IN" sz="2400" b="1" kern="1800" dirty="0">
                <a:latin typeface="+mj-lt"/>
                <a:ea typeface="Times New Roman" panose="02020603050405020304" pitchFamily="18" charset="0"/>
                <a:cs typeface="Latha" panose="020B0604020202020204" pitchFamily="34" charset="0"/>
              </a:rPr>
              <a:t> 2.</a:t>
            </a:r>
            <a:r>
              <a:rPr lang="en-IN" sz="2400" b="1" dirty="0">
                <a:latin typeface="+mj-lt"/>
                <a:ea typeface="Times New Roman" panose="02020603050405020304" pitchFamily="18" charset="0"/>
                <a:cs typeface="Latha" panose="020B0604020202020204" pitchFamily="34" charset="0"/>
              </a:rPr>
              <a:t> Sign-in (</a:t>
            </a:r>
            <a:r>
              <a:rPr lang="en-IN" sz="2400" b="1" kern="1800" dirty="0">
                <a:latin typeface="+mj-lt"/>
                <a:ea typeface="Times New Roman" panose="02020603050405020304" pitchFamily="18" charset="0"/>
                <a:cs typeface="Latha" panose="020B0604020202020204" pitchFamily="34" charset="0"/>
              </a:rPr>
              <a:t>LOGIN USER)</a:t>
            </a:r>
          </a:p>
          <a:p>
            <a:br>
              <a:rPr lang="en-IN" sz="2400" kern="100" dirty="0">
                <a:latin typeface="+mj-lt"/>
                <a:ea typeface="Calibri" panose="020F0502020204030204" pitchFamily="34" charset="0"/>
                <a:cs typeface="Latha" panose="020B0604020202020204" pitchFamily="34" charset="0"/>
              </a:rPr>
            </a:br>
            <a:r>
              <a:rPr lang="en-IN" sz="2400" dirty="0">
                <a:latin typeface="+mj-lt"/>
                <a:ea typeface="Times New Roman" panose="02020603050405020304" pitchFamily="18" charset="0"/>
                <a:cs typeface="Segoe UI Emoji" panose="020B0502040204020203" pitchFamily="34" charset="0"/>
              </a:rPr>
              <a:t>🔹</a:t>
            </a:r>
            <a:r>
              <a:rPr lang="en-IN" sz="2400" dirty="0">
                <a:latin typeface="+mj-lt"/>
                <a:ea typeface="Times New Roman" panose="02020603050405020304" pitchFamily="18" charset="0"/>
                <a:cs typeface="Latha" panose="020B0604020202020204" pitchFamily="34" charset="0"/>
              </a:rPr>
              <a:t> Purpose</a:t>
            </a:r>
            <a:br>
              <a:rPr lang="en-IN" sz="2400" kern="100" dirty="0">
                <a:latin typeface="+mj-lt"/>
                <a:ea typeface="Calibri" panose="020F0502020204030204" pitchFamily="34" charset="0"/>
                <a:cs typeface="Latha" panose="020B0604020202020204" pitchFamily="34" charset="0"/>
              </a:rPr>
            </a:br>
            <a:r>
              <a:rPr lang="en-IN" sz="2400" dirty="0">
                <a:latin typeface="+mj-lt"/>
                <a:ea typeface="Times New Roman" panose="02020603050405020304" pitchFamily="18" charset="0"/>
                <a:cs typeface="Latha" panose="020B0604020202020204" pitchFamily="34" charset="0"/>
              </a:rPr>
              <a:t>Authenticate user</a:t>
            </a:r>
            <a:br>
              <a:rPr lang="en-IN" sz="2400" kern="100" dirty="0">
                <a:latin typeface="+mj-lt"/>
                <a:ea typeface="Calibri" panose="020F0502020204030204" pitchFamily="34" charset="0"/>
                <a:cs typeface="Latha" panose="020B0604020202020204" pitchFamily="34" charset="0"/>
              </a:rPr>
            </a:br>
            <a:r>
              <a:rPr lang="en-IN" sz="2400" dirty="0">
                <a:latin typeface="+mj-lt"/>
                <a:ea typeface="Times New Roman" panose="02020603050405020304" pitchFamily="18" charset="0"/>
                <a:cs typeface="Latha" panose="020B0604020202020204" pitchFamily="34" charset="0"/>
              </a:rPr>
              <a:t>Generate secure token</a:t>
            </a:r>
            <a:endParaRPr lang="en-IN" sz="2400" dirty="0">
              <a:latin typeface="+mj-lt"/>
            </a:endParaRPr>
          </a:p>
        </p:txBody>
      </p:sp>
      <p:sp>
        <p:nvSpPr>
          <p:cNvPr id="7" name="TextBox 6">
            <a:extLst>
              <a:ext uri="{FF2B5EF4-FFF2-40B4-BE49-F238E27FC236}">
                <a16:creationId xmlns:a16="http://schemas.microsoft.com/office/drawing/2014/main" id="{6DF44152-EF7A-EE28-1102-952B369AF6B6}"/>
              </a:ext>
            </a:extLst>
          </p:cNvPr>
          <p:cNvSpPr txBox="1"/>
          <p:nvPr/>
        </p:nvSpPr>
        <p:spPr>
          <a:xfrm>
            <a:off x="5300132" y="702356"/>
            <a:ext cx="6756401" cy="5156925"/>
          </a:xfrm>
          <a:prstGeom prst="rect">
            <a:avLst/>
          </a:prstGeom>
          <a:noFill/>
        </p:spPr>
        <p:txBody>
          <a:bodyPr wrap="square">
            <a:spAutoFit/>
          </a:bodyPr>
          <a:lstStyle/>
          <a:p>
            <a:pPr>
              <a:lnSpc>
                <a:spcPct val="107000"/>
              </a:lnSpc>
              <a:spcAft>
                <a:spcPts val="800"/>
              </a:spcAft>
              <a:buNone/>
            </a:pPr>
            <a:r>
              <a:rPr lang="en-IN" sz="1800" b="1" kern="0" dirty="0">
                <a:effectLst/>
                <a:latin typeface="+mj-lt"/>
                <a:ea typeface="Times New Roman" panose="02020603050405020304" pitchFamily="18" charset="0"/>
                <a:cs typeface="Latha" panose="020B0604020202020204" pitchFamily="34" charset="0"/>
              </a:rPr>
              <a:t># </a:t>
            </a:r>
            <a:r>
              <a:rPr lang="en-IN" sz="1800" b="1" kern="0" dirty="0" err="1">
                <a:effectLst/>
                <a:latin typeface="+mj-lt"/>
                <a:ea typeface="Times New Roman" panose="02020603050405020304" pitchFamily="18" charset="0"/>
                <a:cs typeface="Latha" panose="020B0604020202020204" pitchFamily="34" charset="0"/>
              </a:rPr>
              <a:t>AuthController</a:t>
            </a:r>
            <a:r>
              <a:rPr lang="en-IN" sz="1800" b="1" kern="0" dirty="0">
                <a:effectLst/>
                <a:latin typeface="+mj-lt"/>
                <a:ea typeface="Times New Roman" panose="02020603050405020304" pitchFamily="18" charset="0"/>
                <a:cs typeface="Latha" panose="020B0604020202020204" pitchFamily="34" charset="0"/>
              </a:rPr>
              <a:t> – </a:t>
            </a:r>
            <a:r>
              <a:rPr lang="en-IN" sz="1800" b="1" kern="0" dirty="0" err="1">
                <a:effectLst/>
                <a:latin typeface="+mj-lt"/>
                <a:ea typeface="Times New Roman" panose="02020603050405020304" pitchFamily="18" charset="0"/>
                <a:cs typeface="Latha" panose="020B0604020202020204" pitchFamily="34" charset="0"/>
              </a:rPr>
              <a:t>Signin</a:t>
            </a:r>
            <a:endParaRPr lang="en-IN" sz="16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kern="0" dirty="0">
                <a:effectLst/>
                <a:latin typeface="+mj-lt"/>
                <a:ea typeface="Times New Roman" panose="02020603050405020304" pitchFamily="18" charset="0"/>
                <a:cs typeface="Latha" panose="020B0604020202020204" pitchFamily="34" charset="0"/>
              </a:rPr>
              <a:t>CLASS </a:t>
            </a:r>
            <a:r>
              <a:rPr lang="en-IN" sz="1800" kern="0" dirty="0" err="1">
                <a:effectLst/>
                <a:latin typeface="+mj-lt"/>
                <a:ea typeface="Times New Roman" panose="02020603050405020304" pitchFamily="18" charset="0"/>
                <a:cs typeface="Latha" panose="020B0604020202020204" pitchFamily="34" charset="0"/>
              </a:rPr>
              <a:t>AuthController</a:t>
            </a:r>
            <a:endParaRPr lang="en-IN" sz="16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kern="0" dirty="0">
                <a:effectLst/>
                <a:latin typeface="+mj-lt"/>
                <a:ea typeface="Times New Roman" panose="02020603050405020304" pitchFamily="18" charset="0"/>
                <a:cs typeface="Latha" panose="020B0604020202020204" pitchFamily="34" charset="0"/>
              </a:rPr>
              <a:t> </a:t>
            </a:r>
            <a:endParaRPr lang="en-IN" sz="16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kern="0" dirty="0">
                <a:effectLst/>
                <a:latin typeface="+mj-lt"/>
                <a:ea typeface="Times New Roman" panose="02020603050405020304" pitchFamily="18" charset="0"/>
                <a:cs typeface="Latha" panose="020B0604020202020204" pitchFamily="34" charset="0"/>
              </a:rPr>
              <a:t>    FUNCTION </a:t>
            </a:r>
            <a:r>
              <a:rPr lang="en-IN" sz="1800" kern="0" dirty="0" err="1">
                <a:effectLst/>
                <a:latin typeface="+mj-lt"/>
                <a:ea typeface="Times New Roman" panose="02020603050405020304" pitchFamily="18" charset="0"/>
                <a:cs typeface="Latha" panose="020B0604020202020204" pitchFamily="34" charset="0"/>
              </a:rPr>
              <a:t>signin</a:t>
            </a:r>
            <a:r>
              <a:rPr lang="en-IN" sz="1800" kern="0" dirty="0">
                <a:effectLst/>
                <a:latin typeface="+mj-lt"/>
                <a:ea typeface="Times New Roman" panose="02020603050405020304" pitchFamily="18" charset="0"/>
                <a:cs typeface="Latha" panose="020B0604020202020204" pitchFamily="34" charset="0"/>
              </a:rPr>
              <a:t>(request)</a:t>
            </a:r>
            <a:endParaRPr lang="en-IN" sz="16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kern="0" dirty="0">
                <a:effectLst/>
                <a:latin typeface="+mj-lt"/>
                <a:ea typeface="Times New Roman" panose="02020603050405020304" pitchFamily="18" charset="0"/>
                <a:cs typeface="Latha" panose="020B0604020202020204" pitchFamily="34" charset="0"/>
              </a:rPr>
              <a:t>        username = </a:t>
            </a:r>
            <a:r>
              <a:rPr lang="en-IN" sz="1800" kern="0" dirty="0" err="1">
                <a:effectLst/>
                <a:latin typeface="+mj-lt"/>
                <a:ea typeface="Times New Roman" panose="02020603050405020304" pitchFamily="18" charset="0"/>
                <a:cs typeface="Latha" panose="020B0604020202020204" pitchFamily="34" charset="0"/>
              </a:rPr>
              <a:t>request.username</a:t>
            </a:r>
            <a:endParaRPr lang="en-IN" sz="16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kern="0" dirty="0">
                <a:effectLst/>
                <a:latin typeface="+mj-lt"/>
                <a:ea typeface="Times New Roman" panose="02020603050405020304" pitchFamily="18" charset="0"/>
                <a:cs typeface="Latha" panose="020B0604020202020204" pitchFamily="34" charset="0"/>
              </a:rPr>
              <a:t>        password = </a:t>
            </a:r>
            <a:r>
              <a:rPr lang="en-IN" sz="1800" kern="0" dirty="0" err="1">
                <a:effectLst/>
                <a:latin typeface="+mj-lt"/>
                <a:ea typeface="Times New Roman" panose="02020603050405020304" pitchFamily="18" charset="0"/>
                <a:cs typeface="Latha" panose="020B0604020202020204" pitchFamily="34" charset="0"/>
              </a:rPr>
              <a:t>request.password</a:t>
            </a:r>
            <a:endParaRPr lang="en-IN" sz="16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kern="0" dirty="0">
                <a:effectLst/>
                <a:latin typeface="+mj-lt"/>
                <a:ea typeface="Times New Roman" panose="02020603050405020304" pitchFamily="18" charset="0"/>
                <a:cs typeface="Latha" panose="020B0604020202020204" pitchFamily="34" charset="0"/>
              </a:rPr>
              <a:t> </a:t>
            </a:r>
            <a:endParaRPr lang="en-IN" sz="16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kern="0" dirty="0">
                <a:effectLst/>
                <a:latin typeface="+mj-lt"/>
                <a:ea typeface="Times New Roman" panose="02020603050405020304" pitchFamily="18" charset="0"/>
                <a:cs typeface="Latha" panose="020B0604020202020204" pitchFamily="34" charset="0"/>
              </a:rPr>
              <a:t>        token = </a:t>
            </a:r>
            <a:r>
              <a:rPr lang="en-IN" sz="1800" kern="0" dirty="0" err="1">
                <a:effectLst/>
                <a:latin typeface="+mj-lt"/>
                <a:ea typeface="Times New Roman" panose="02020603050405020304" pitchFamily="18" charset="0"/>
                <a:cs typeface="Latha" panose="020B0604020202020204" pitchFamily="34" charset="0"/>
              </a:rPr>
              <a:t>AuthService.authenticate</a:t>
            </a:r>
            <a:r>
              <a:rPr lang="en-IN" sz="1800" kern="0" dirty="0">
                <a:effectLst/>
                <a:latin typeface="+mj-lt"/>
                <a:ea typeface="Times New Roman" panose="02020603050405020304" pitchFamily="18" charset="0"/>
                <a:cs typeface="Latha" panose="020B0604020202020204" pitchFamily="34" charset="0"/>
              </a:rPr>
              <a:t>(username, password)</a:t>
            </a:r>
            <a:endParaRPr lang="en-IN" sz="16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kern="0" dirty="0">
                <a:effectLst/>
                <a:latin typeface="+mj-lt"/>
                <a:ea typeface="Times New Roman" panose="02020603050405020304" pitchFamily="18" charset="0"/>
                <a:cs typeface="Latha" panose="020B0604020202020204" pitchFamily="34" charset="0"/>
              </a:rPr>
              <a:t> </a:t>
            </a:r>
            <a:endParaRPr lang="en-IN" sz="16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kern="0" dirty="0">
                <a:effectLst/>
                <a:latin typeface="+mj-lt"/>
                <a:ea typeface="Times New Roman" panose="02020603050405020304" pitchFamily="18" charset="0"/>
                <a:cs typeface="Latha" panose="020B0604020202020204" pitchFamily="34" charset="0"/>
              </a:rPr>
              <a:t>        RETURN token</a:t>
            </a:r>
            <a:endParaRPr lang="en-IN" sz="16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kern="0" dirty="0">
                <a:effectLst/>
                <a:latin typeface="+mj-lt"/>
                <a:ea typeface="Times New Roman" panose="02020603050405020304" pitchFamily="18" charset="0"/>
                <a:cs typeface="Latha" panose="020B0604020202020204" pitchFamily="34" charset="0"/>
              </a:rPr>
              <a:t>    END FUNCTION</a:t>
            </a:r>
            <a:endParaRPr lang="en-IN" sz="16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kern="0" dirty="0">
                <a:effectLst/>
                <a:latin typeface="+mj-lt"/>
                <a:ea typeface="Times New Roman" panose="02020603050405020304" pitchFamily="18" charset="0"/>
                <a:cs typeface="Latha" panose="020B0604020202020204" pitchFamily="34" charset="0"/>
              </a:rPr>
              <a:t> </a:t>
            </a:r>
            <a:endParaRPr lang="en-IN" sz="16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kern="0" dirty="0">
                <a:effectLst/>
                <a:latin typeface="+mj-lt"/>
                <a:ea typeface="Times New Roman" panose="02020603050405020304" pitchFamily="18" charset="0"/>
                <a:cs typeface="Latha" panose="020B0604020202020204" pitchFamily="34" charset="0"/>
              </a:rPr>
              <a:t>END CLASS</a:t>
            </a:r>
            <a:endParaRPr lang="en-IN" sz="1600" kern="100" dirty="0">
              <a:effectLst/>
              <a:latin typeface="+mj-lt"/>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1815240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B2247-3FBD-6C81-6FD4-C27219DD266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DD9D5BF-A650-C25A-C04C-0A15C966A53E}"/>
              </a:ext>
            </a:extLst>
          </p:cNvPr>
          <p:cNvSpPr txBox="1"/>
          <p:nvPr/>
        </p:nvSpPr>
        <p:spPr>
          <a:xfrm>
            <a:off x="3048000" y="335846"/>
            <a:ext cx="6096000" cy="6186309"/>
          </a:xfrm>
          <a:prstGeom prst="rect">
            <a:avLst/>
          </a:prstGeom>
          <a:noFill/>
        </p:spPr>
        <p:txBody>
          <a:bodyPr wrap="square">
            <a:spAutoFit/>
          </a:bodyPr>
          <a:lstStyle/>
          <a:p>
            <a:r>
              <a:rPr lang="en-IN" sz="1800" b="1" dirty="0">
                <a:latin typeface="+mj-lt"/>
                <a:ea typeface="SimSun-ExtB" panose="02010609060101010101" pitchFamily="49" charset="-122"/>
                <a:cs typeface="Latha" panose="020B0604020202020204" pitchFamily="34" charset="0"/>
              </a:rPr>
              <a:t>## </a:t>
            </a:r>
            <a:r>
              <a:rPr lang="en-IN" sz="1800" b="1" dirty="0" err="1">
                <a:latin typeface="+mj-lt"/>
                <a:ea typeface="SimSun-ExtB" panose="02010609060101010101" pitchFamily="49" charset="-122"/>
                <a:cs typeface="Latha" panose="020B0604020202020204" pitchFamily="34" charset="0"/>
              </a:rPr>
              <a:t>AuthService</a:t>
            </a:r>
            <a:r>
              <a:rPr lang="en-IN" sz="1800" b="1" dirty="0">
                <a:latin typeface="+mj-lt"/>
                <a:ea typeface="SimSun-ExtB" panose="02010609060101010101" pitchFamily="49" charset="-122"/>
                <a:cs typeface="Latha" panose="020B0604020202020204" pitchFamily="34" charset="0"/>
              </a:rPr>
              <a:t> – </a:t>
            </a:r>
            <a:r>
              <a:rPr lang="en-IN" sz="1800" b="1" dirty="0" err="1">
                <a:latin typeface="+mj-lt"/>
                <a:ea typeface="SimSun-ExtB" panose="02010609060101010101" pitchFamily="49" charset="-122"/>
                <a:cs typeface="Latha" panose="020B0604020202020204" pitchFamily="34" charset="0"/>
              </a:rPr>
              <a:t>Signin</a:t>
            </a:r>
            <a:r>
              <a:rPr lang="en-IN" sz="1800" b="1" dirty="0">
                <a:latin typeface="+mj-lt"/>
                <a:ea typeface="SimSun-ExtB" panose="02010609060101010101" pitchFamily="49" charset="-122"/>
                <a:cs typeface="Latha" panose="020B0604020202020204" pitchFamily="34" charset="0"/>
              </a:rPr>
              <a:t> Logic</a:t>
            </a:r>
            <a:br>
              <a:rPr lang="en-IN" sz="1800" dirty="0">
                <a:latin typeface="+mj-lt"/>
                <a:ea typeface="Times New Roman" panose="02020603050405020304" pitchFamily="18" charset="0"/>
                <a:cs typeface="Latha" panose="020B0604020202020204" pitchFamily="34" charset="0"/>
              </a:rPr>
            </a:br>
            <a:br>
              <a:rPr lang="en-IN" sz="180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CLASS </a:t>
            </a:r>
            <a:r>
              <a:rPr lang="en-IN" sz="1800" b="0" dirty="0" err="1">
                <a:latin typeface="+mj-lt"/>
                <a:ea typeface="Times New Roman" panose="02020603050405020304" pitchFamily="18" charset="0"/>
                <a:cs typeface="Latha" panose="020B0604020202020204" pitchFamily="34" charset="0"/>
              </a:rPr>
              <a:t>AuthService</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 </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    FUNCTION authenticate(username, password)</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 </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        user = </a:t>
            </a:r>
            <a:r>
              <a:rPr lang="en-IN" sz="1800" b="0" dirty="0" err="1">
                <a:latin typeface="+mj-lt"/>
                <a:ea typeface="Times New Roman" panose="02020603050405020304" pitchFamily="18" charset="0"/>
                <a:cs typeface="Latha" panose="020B0604020202020204" pitchFamily="34" charset="0"/>
              </a:rPr>
              <a:t>UserRepository.findByUsername</a:t>
            </a:r>
            <a:r>
              <a:rPr lang="en-IN" sz="1800" b="0" dirty="0">
                <a:latin typeface="+mj-lt"/>
                <a:ea typeface="Times New Roman" panose="02020603050405020304" pitchFamily="18" charset="0"/>
                <a:cs typeface="Latha" panose="020B0604020202020204" pitchFamily="34" charset="0"/>
              </a:rPr>
              <a:t>(username)</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 </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        IF user does not exist THEN</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            RETURN "Invalid username"</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        END IF</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 </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        </a:t>
            </a:r>
            <a:r>
              <a:rPr lang="en-IN" sz="1800" b="0" dirty="0" err="1">
                <a:latin typeface="+mj-lt"/>
                <a:ea typeface="Times New Roman" panose="02020603050405020304" pitchFamily="18" charset="0"/>
                <a:cs typeface="Latha" panose="020B0604020202020204" pitchFamily="34" charset="0"/>
              </a:rPr>
              <a:t>IF</a:t>
            </a:r>
            <a:r>
              <a:rPr lang="en-IN" sz="1800" b="0" dirty="0">
                <a:latin typeface="+mj-lt"/>
                <a:ea typeface="Times New Roman" panose="02020603050405020304" pitchFamily="18" charset="0"/>
                <a:cs typeface="Latha" panose="020B0604020202020204" pitchFamily="34" charset="0"/>
              </a:rPr>
              <a:t> password matches encrypted password THEN</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            token = </a:t>
            </a:r>
            <a:r>
              <a:rPr lang="en-IN" sz="1800" b="0" dirty="0" err="1">
                <a:latin typeface="+mj-lt"/>
                <a:ea typeface="Times New Roman" panose="02020603050405020304" pitchFamily="18" charset="0"/>
                <a:cs typeface="Latha" panose="020B0604020202020204" pitchFamily="34" charset="0"/>
              </a:rPr>
              <a:t>JWTUtility.generateToken</a:t>
            </a:r>
            <a:r>
              <a:rPr lang="en-IN" sz="1800" b="0" dirty="0">
                <a:latin typeface="+mj-lt"/>
                <a:ea typeface="Times New Roman" panose="02020603050405020304" pitchFamily="18" charset="0"/>
                <a:cs typeface="Latha" panose="020B0604020202020204" pitchFamily="34" charset="0"/>
              </a:rPr>
              <a:t>(user)</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            RETURN token</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        ELSE</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            RETURN "Invalid password"</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        END IF</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 </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    END FUNCTION</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 </a:t>
            </a:r>
            <a:br>
              <a:rPr lang="en-IN" sz="1800" b="0" kern="100" dirty="0">
                <a:latin typeface="+mj-lt"/>
                <a:ea typeface="Calibri" panose="020F0502020204030204" pitchFamily="34" charset="0"/>
                <a:cs typeface="Latha" panose="020B0604020202020204" pitchFamily="34" charset="0"/>
              </a:rPr>
            </a:br>
            <a:r>
              <a:rPr lang="en-IN" sz="1800" b="0" dirty="0">
                <a:latin typeface="+mj-lt"/>
                <a:ea typeface="Times New Roman" panose="02020603050405020304" pitchFamily="18" charset="0"/>
                <a:cs typeface="Latha" panose="020B0604020202020204" pitchFamily="34" charset="0"/>
              </a:rPr>
              <a:t>END CLASS</a:t>
            </a:r>
            <a:endParaRPr lang="en-IN" dirty="0">
              <a:latin typeface="+mj-lt"/>
            </a:endParaRPr>
          </a:p>
        </p:txBody>
      </p:sp>
    </p:spTree>
    <p:extLst>
      <p:ext uri="{BB962C8B-B14F-4D97-AF65-F5344CB8AC3E}">
        <p14:creationId xmlns:p14="http://schemas.microsoft.com/office/powerpoint/2010/main" val="566143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E80E4-AE4A-94CF-95F4-A71C37F222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6740AD-B253-A324-7E62-8F1DD02432C9}"/>
              </a:ext>
            </a:extLst>
          </p:cNvPr>
          <p:cNvSpPr txBox="1"/>
          <p:nvPr/>
        </p:nvSpPr>
        <p:spPr>
          <a:xfrm>
            <a:off x="999068" y="795867"/>
            <a:ext cx="4961466" cy="4247317"/>
          </a:xfrm>
          <a:prstGeom prst="rect">
            <a:avLst/>
          </a:prstGeom>
          <a:noFill/>
        </p:spPr>
        <p:txBody>
          <a:bodyPr wrap="square">
            <a:spAutoFit/>
          </a:bodyPr>
          <a:lstStyle/>
          <a:p>
            <a:r>
              <a:rPr lang="en-IN" b="1" dirty="0">
                <a:latin typeface="+mj-lt"/>
                <a:ea typeface="Times New Roman" panose="02020603050405020304" pitchFamily="18" charset="0"/>
                <a:cs typeface="Latha" panose="020B0604020202020204" pitchFamily="34" charset="0"/>
              </a:rPr>
              <a:t>### </a:t>
            </a:r>
            <a:r>
              <a:rPr lang="en-IN" b="1" dirty="0" err="1">
                <a:latin typeface="+mj-lt"/>
                <a:ea typeface="Times New Roman" panose="02020603050405020304" pitchFamily="18" charset="0"/>
                <a:cs typeface="Latha" panose="020B0604020202020204" pitchFamily="34" charset="0"/>
              </a:rPr>
              <a:t>AuthController</a:t>
            </a:r>
            <a:r>
              <a:rPr lang="en-IN" b="1" dirty="0">
                <a:latin typeface="+mj-lt"/>
                <a:ea typeface="Times New Roman" panose="02020603050405020304" pitchFamily="18" charset="0"/>
                <a:cs typeface="Latha" panose="020B0604020202020204" pitchFamily="34" charset="0"/>
              </a:rPr>
              <a:t> – Forgot Password</a:t>
            </a:r>
            <a:br>
              <a:rPr lang="en-IN" dirty="0">
                <a:latin typeface="+mj-lt"/>
                <a:ea typeface="Times New Roman" panose="02020603050405020304" pitchFamily="18" charset="0"/>
                <a:cs typeface="Latha" panose="020B0604020202020204" pitchFamily="34" charset="0"/>
              </a:rPr>
            </a:br>
            <a:br>
              <a:rPr lang="en-IN" dirty="0">
                <a:latin typeface="+mj-lt"/>
                <a:ea typeface="Times New Roman" panose="02020603050405020304" pitchFamily="18" charset="0"/>
                <a:cs typeface="Latha" panose="020B0604020202020204" pitchFamily="34" charset="0"/>
              </a:rPr>
            </a:br>
            <a:br>
              <a:rPr lang="en-IN" kern="100" dirty="0">
                <a:latin typeface="+mj-lt"/>
                <a:ea typeface="Calibri" panose="020F0502020204030204" pitchFamily="34" charset="0"/>
                <a:cs typeface="Latha" panose="020B0604020202020204" pitchFamily="34" charset="0"/>
              </a:rPr>
            </a:br>
            <a:r>
              <a:rPr lang="en-IN" b="0" dirty="0">
                <a:latin typeface="+mj-lt"/>
                <a:ea typeface="Times New Roman" panose="02020603050405020304" pitchFamily="18" charset="0"/>
                <a:cs typeface="Latha" panose="020B0604020202020204" pitchFamily="34" charset="0"/>
              </a:rPr>
              <a:t>CLASS </a:t>
            </a:r>
            <a:r>
              <a:rPr lang="en-IN" b="0" dirty="0" err="1">
                <a:latin typeface="+mj-lt"/>
                <a:ea typeface="Times New Roman" panose="02020603050405020304" pitchFamily="18" charset="0"/>
                <a:cs typeface="Latha" panose="020B0604020202020204" pitchFamily="34" charset="0"/>
              </a:rPr>
              <a:t>AuthController</a:t>
            </a:r>
            <a:br>
              <a:rPr lang="en-IN" b="0" kern="100" dirty="0">
                <a:latin typeface="+mj-lt"/>
                <a:ea typeface="Calibri" panose="020F0502020204030204" pitchFamily="34" charset="0"/>
                <a:cs typeface="Latha" panose="020B0604020202020204" pitchFamily="34" charset="0"/>
              </a:rPr>
            </a:br>
            <a:r>
              <a:rPr lang="en-IN" b="0" dirty="0">
                <a:latin typeface="+mj-lt"/>
                <a:ea typeface="Times New Roman" panose="02020603050405020304" pitchFamily="18" charset="0"/>
                <a:cs typeface="Latha" panose="020B0604020202020204" pitchFamily="34" charset="0"/>
              </a:rPr>
              <a:t> </a:t>
            </a:r>
            <a:br>
              <a:rPr lang="en-IN" b="0" kern="100" dirty="0">
                <a:latin typeface="+mj-lt"/>
                <a:ea typeface="Calibri" panose="020F0502020204030204" pitchFamily="34" charset="0"/>
                <a:cs typeface="Latha" panose="020B0604020202020204" pitchFamily="34" charset="0"/>
              </a:rPr>
            </a:br>
            <a:r>
              <a:rPr lang="en-IN" b="0" dirty="0">
                <a:latin typeface="+mj-lt"/>
                <a:ea typeface="Times New Roman" panose="02020603050405020304" pitchFamily="18" charset="0"/>
                <a:cs typeface="Latha" panose="020B0604020202020204" pitchFamily="34" charset="0"/>
              </a:rPr>
              <a:t>    FUNCTION </a:t>
            </a:r>
            <a:r>
              <a:rPr lang="en-IN" b="0" dirty="0" err="1">
                <a:latin typeface="+mj-lt"/>
                <a:ea typeface="Times New Roman" panose="02020603050405020304" pitchFamily="18" charset="0"/>
                <a:cs typeface="Latha" panose="020B0604020202020204" pitchFamily="34" charset="0"/>
              </a:rPr>
              <a:t>forgotPassword</a:t>
            </a:r>
            <a:r>
              <a:rPr lang="en-IN" b="0" dirty="0">
                <a:latin typeface="+mj-lt"/>
                <a:ea typeface="Times New Roman" panose="02020603050405020304" pitchFamily="18" charset="0"/>
                <a:cs typeface="Latha" panose="020B0604020202020204" pitchFamily="34" charset="0"/>
              </a:rPr>
              <a:t>(request)</a:t>
            </a:r>
            <a:br>
              <a:rPr lang="en-IN" b="0" kern="100" dirty="0">
                <a:latin typeface="+mj-lt"/>
                <a:ea typeface="Calibri" panose="020F0502020204030204" pitchFamily="34" charset="0"/>
                <a:cs typeface="Latha" panose="020B0604020202020204" pitchFamily="34" charset="0"/>
              </a:rPr>
            </a:br>
            <a:r>
              <a:rPr lang="en-IN" b="0" dirty="0">
                <a:latin typeface="+mj-lt"/>
                <a:ea typeface="Times New Roman" panose="02020603050405020304" pitchFamily="18" charset="0"/>
                <a:cs typeface="Latha" panose="020B0604020202020204" pitchFamily="34" charset="0"/>
              </a:rPr>
              <a:t>        email = </a:t>
            </a:r>
            <a:r>
              <a:rPr lang="en-IN" b="0" dirty="0" err="1">
                <a:latin typeface="+mj-lt"/>
                <a:ea typeface="Times New Roman" panose="02020603050405020304" pitchFamily="18" charset="0"/>
                <a:cs typeface="Latha" panose="020B0604020202020204" pitchFamily="34" charset="0"/>
              </a:rPr>
              <a:t>request.email</a:t>
            </a:r>
            <a:br>
              <a:rPr lang="en-IN" b="0" kern="100" dirty="0">
                <a:latin typeface="+mj-lt"/>
                <a:ea typeface="Calibri" panose="020F0502020204030204" pitchFamily="34" charset="0"/>
                <a:cs typeface="Latha" panose="020B0604020202020204" pitchFamily="34" charset="0"/>
              </a:rPr>
            </a:br>
            <a:r>
              <a:rPr lang="en-IN" b="0" dirty="0">
                <a:latin typeface="+mj-lt"/>
                <a:ea typeface="Times New Roman" panose="02020603050405020304" pitchFamily="18" charset="0"/>
                <a:cs typeface="Latha" panose="020B0604020202020204" pitchFamily="34" charset="0"/>
              </a:rPr>
              <a:t>        result = </a:t>
            </a:r>
            <a:r>
              <a:rPr lang="en-IN" b="0" dirty="0" err="1">
                <a:latin typeface="+mj-lt"/>
                <a:ea typeface="Times New Roman" panose="02020603050405020304" pitchFamily="18" charset="0"/>
                <a:cs typeface="Latha" panose="020B0604020202020204" pitchFamily="34" charset="0"/>
              </a:rPr>
              <a:t>AuthService.processForgotPassword</a:t>
            </a:r>
            <a:r>
              <a:rPr lang="en-IN" b="0" dirty="0">
                <a:latin typeface="+mj-lt"/>
                <a:ea typeface="Times New Roman" panose="02020603050405020304" pitchFamily="18" charset="0"/>
                <a:cs typeface="Latha" panose="020B0604020202020204" pitchFamily="34" charset="0"/>
              </a:rPr>
              <a:t>(email)</a:t>
            </a:r>
            <a:br>
              <a:rPr lang="en-IN" b="0" kern="100" dirty="0">
                <a:latin typeface="+mj-lt"/>
                <a:ea typeface="Calibri" panose="020F0502020204030204" pitchFamily="34" charset="0"/>
                <a:cs typeface="Latha" panose="020B0604020202020204" pitchFamily="34" charset="0"/>
              </a:rPr>
            </a:br>
            <a:r>
              <a:rPr lang="en-IN" b="0" dirty="0">
                <a:latin typeface="+mj-lt"/>
                <a:ea typeface="Times New Roman" panose="02020603050405020304" pitchFamily="18" charset="0"/>
                <a:cs typeface="Latha" panose="020B0604020202020204" pitchFamily="34" charset="0"/>
              </a:rPr>
              <a:t>        RETURN result</a:t>
            </a:r>
            <a:br>
              <a:rPr lang="en-IN" b="0" kern="100" dirty="0">
                <a:latin typeface="+mj-lt"/>
                <a:ea typeface="Calibri" panose="020F0502020204030204" pitchFamily="34" charset="0"/>
                <a:cs typeface="Latha" panose="020B0604020202020204" pitchFamily="34" charset="0"/>
              </a:rPr>
            </a:br>
            <a:r>
              <a:rPr lang="en-IN" b="0" dirty="0">
                <a:latin typeface="+mj-lt"/>
                <a:ea typeface="Times New Roman" panose="02020603050405020304" pitchFamily="18" charset="0"/>
                <a:cs typeface="Latha" panose="020B0604020202020204" pitchFamily="34" charset="0"/>
              </a:rPr>
              <a:t>    END FUNCTION</a:t>
            </a:r>
            <a:br>
              <a:rPr lang="en-IN" b="0" kern="100" dirty="0">
                <a:latin typeface="+mj-lt"/>
                <a:ea typeface="Calibri" panose="020F0502020204030204" pitchFamily="34" charset="0"/>
                <a:cs typeface="Latha" panose="020B0604020202020204" pitchFamily="34" charset="0"/>
              </a:rPr>
            </a:br>
            <a:r>
              <a:rPr lang="en-IN" b="0" dirty="0">
                <a:latin typeface="+mj-lt"/>
                <a:ea typeface="Times New Roman" panose="02020603050405020304" pitchFamily="18" charset="0"/>
                <a:cs typeface="Latha" panose="020B0604020202020204" pitchFamily="34" charset="0"/>
              </a:rPr>
              <a:t> </a:t>
            </a:r>
            <a:br>
              <a:rPr lang="en-IN" b="0" kern="100" dirty="0">
                <a:latin typeface="+mj-lt"/>
                <a:ea typeface="Calibri" panose="020F0502020204030204" pitchFamily="34" charset="0"/>
                <a:cs typeface="Latha" panose="020B0604020202020204" pitchFamily="34" charset="0"/>
              </a:rPr>
            </a:br>
            <a:r>
              <a:rPr lang="en-IN" b="0" dirty="0">
                <a:latin typeface="+mj-lt"/>
                <a:ea typeface="Times New Roman" panose="02020603050405020304" pitchFamily="18" charset="0"/>
                <a:cs typeface="Latha" panose="020B0604020202020204" pitchFamily="34" charset="0"/>
              </a:rPr>
              <a:t>END CLASS</a:t>
            </a:r>
            <a:br>
              <a:rPr lang="en-IN" kern="100" dirty="0">
                <a:latin typeface="Calibri" panose="020F0502020204030204" pitchFamily="34" charset="0"/>
                <a:ea typeface="Calibri" panose="020F0502020204030204" pitchFamily="34" charset="0"/>
                <a:cs typeface="Latha" panose="020B0604020202020204" pitchFamily="34" charset="0"/>
              </a:rPr>
            </a:br>
            <a:endParaRPr lang="en-IN" dirty="0"/>
          </a:p>
        </p:txBody>
      </p:sp>
      <p:sp>
        <p:nvSpPr>
          <p:cNvPr id="5" name="TextBox 4">
            <a:extLst>
              <a:ext uri="{FF2B5EF4-FFF2-40B4-BE49-F238E27FC236}">
                <a16:creationId xmlns:a16="http://schemas.microsoft.com/office/drawing/2014/main" id="{C4DB12E7-516E-C353-F764-0EE2503392A3}"/>
              </a:ext>
            </a:extLst>
          </p:cNvPr>
          <p:cNvSpPr txBox="1"/>
          <p:nvPr/>
        </p:nvSpPr>
        <p:spPr>
          <a:xfrm>
            <a:off x="6705600" y="197346"/>
            <a:ext cx="5198532" cy="6740307"/>
          </a:xfrm>
          <a:prstGeom prst="rect">
            <a:avLst/>
          </a:prstGeom>
          <a:noFill/>
        </p:spPr>
        <p:txBody>
          <a:bodyPr wrap="square">
            <a:spAutoFit/>
          </a:bodyPr>
          <a:lstStyle/>
          <a:p>
            <a:r>
              <a:rPr lang="en-IN" sz="1800" b="1" dirty="0">
                <a:latin typeface="+mj-lt"/>
              </a:rPr>
              <a:t>####AuthService – Forgot Password Logic</a:t>
            </a:r>
          </a:p>
          <a:p>
            <a:endParaRPr lang="en-IN" sz="1800" dirty="0">
              <a:latin typeface="+mj-lt"/>
            </a:endParaRPr>
          </a:p>
          <a:p>
            <a:endParaRPr lang="en-IN" sz="1800" dirty="0">
              <a:latin typeface="+mj-lt"/>
            </a:endParaRPr>
          </a:p>
          <a:p>
            <a:r>
              <a:rPr lang="en-IN" sz="1800" dirty="0">
                <a:latin typeface="+mj-lt"/>
              </a:rPr>
              <a:t>CLASS </a:t>
            </a:r>
            <a:r>
              <a:rPr lang="en-IN" sz="1800" dirty="0" err="1">
                <a:latin typeface="+mj-lt"/>
              </a:rPr>
              <a:t>AuthService</a:t>
            </a:r>
            <a:endParaRPr lang="en-IN" sz="1800" dirty="0">
              <a:latin typeface="+mj-lt"/>
            </a:endParaRPr>
          </a:p>
          <a:p>
            <a:endParaRPr lang="en-IN" sz="1800" dirty="0">
              <a:latin typeface="+mj-lt"/>
            </a:endParaRPr>
          </a:p>
          <a:p>
            <a:r>
              <a:rPr lang="en-IN" sz="1800" dirty="0">
                <a:latin typeface="+mj-lt"/>
              </a:rPr>
              <a:t>    FUNCTION </a:t>
            </a:r>
            <a:r>
              <a:rPr lang="en-IN" sz="1800" dirty="0" err="1">
                <a:latin typeface="+mj-lt"/>
              </a:rPr>
              <a:t>processForgotPassword</a:t>
            </a:r>
            <a:r>
              <a:rPr lang="en-IN" sz="1800" dirty="0">
                <a:latin typeface="+mj-lt"/>
              </a:rPr>
              <a:t>(email)</a:t>
            </a:r>
          </a:p>
          <a:p>
            <a:endParaRPr lang="en-IN" sz="1800" dirty="0">
              <a:latin typeface="+mj-lt"/>
            </a:endParaRPr>
          </a:p>
          <a:p>
            <a:r>
              <a:rPr lang="en-IN" sz="1800" dirty="0">
                <a:latin typeface="+mj-lt"/>
              </a:rPr>
              <a:t>        user = </a:t>
            </a:r>
            <a:r>
              <a:rPr lang="en-IN" sz="1800" dirty="0" err="1">
                <a:latin typeface="+mj-lt"/>
              </a:rPr>
              <a:t>UserRepository.findByEmail</a:t>
            </a:r>
            <a:r>
              <a:rPr lang="en-IN" sz="1800" dirty="0">
                <a:latin typeface="+mj-lt"/>
              </a:rPr>
              <a:t>(email)</a:t>
            </a:r>
          </a:p>
          <a:p>
            <a:endParaRPr lang="en-IN" sz="1800" dirty="0">
              <a:latin typeface="+mj-lt"/>
            </a:endParaRPr>
          </a:p>
          <a:p>
            <a:r>
              <a:rPr lang="en-IN" sz="1800" dirty="0">
                <a:latin typeface="+mj-lt"/>
              </a:rPr>
              <a:t>        IF user does not exist THEN</a:t>
            </a:r>
          </a:p>
          <a:p>
            <a:r>
              <a:rPr lang="en-IN" sz="1800" dirty="0">
                <a:latin typeface="+mj-lt"/>
              </a:rPr>
              <a:t>            RETURN "Email not registered"</a:t>
            </a:r>
          </a:p>
          <a:p>
            <a:r>
              <a:rPr lang="en-IN" sz="1800" dirty="0">
                <a:latin typeface="+mj-lt"/>
              </a:rPr>
              <a:t>        END IF</a:t>
            </a:r>
          </a:p>
          <a:p>
            <a:endParaRPr lang="en-IN" sz="1800" dirty="0">
              <a:latin typeface="+mj-lt"/>
            </a:endParaRPr>
          </a:p>
          <a:p>
            <a:r>
              <a:rPr lang="en-IN" sz="1800" dirty="0">
                <a:latin typeface="+mj-lt"/>
              </a:rPr>
              <a:t>        </a:t>
            </a:r>
            <a:r>
              <a:rPr lang="en-IN" sz="1800" dirty="0" err="1">
                <a:latin typeface="+mj-lt"/>
              </a:rPr>
              <a:t>resetToken</a:t>
            </a:r>
            <a:r>
              <a:rPr lang="en-IN" sz="1800" dirty="0">
                <a:latin typeface="+mj-lt"/>
              </a:rPr>
              <a:t> = </a:t>
            </a:r>
            <a:r>
              <a:rPr lang="en-IN" sz="1800" dirty="0" err="1">
                <a:latin typeface="+mj-lt"/>
              </a:rPr>
              <a:t>generateResetToken</a:t>
            </a:r>
            <a:r>
              <a:rPr lang="en-IN" sz="1800" dirty="0">
                <a:latin typeface="+mj-lt"/>
              </a:rPr>
              <a:t>()</a:t>
            </a:r>
          </a:p>
          <a:p>
            <a:r>
              <a:rPr lang="en-IN" sz="1800" dirty="0">
                <a:latin typeface="+mj-lt"/>
              </a:rPr>
              <a:t>        save </a:t>
            </a:r>
            <a:r>
              <a:rPr lang="en-IN" sz="1800" dirty="0" err="1">
                <a:latin typeface="+mj-lt"/>
              </a:rPr>
              <a:t>resetToken</a:t>
            </a:r>
            <a:r>
              <a:rPr lang="en-IN" sz="1800" dirty="0">
                <a:latin typeface="+mj-lt"/>
              </a:rPr>
              <a:t> with user</a:t>
            </a:r>
          </a:p>
          <a:p>
            <a:endParaRPr lang="en-IN" sz="1800" dirty="0">
              <a:latin typeface="+mj-lt"/>
            </a:endParaRPr>
          </a:p>
          <a:p>
            <a:r>
              <a:rPr lang="en-IN" sz="1800" dirty="0">
                <a:latin typeface="+mj-lt"/>
              </a:rPr>
              <a:t>        </a:t>
            </a:r>
            <a:r>
              <a:rPr lang="en-IN" sz="1800" dirty="0" err="1">
                <a:latin typeface="+mj-lt"/>
              </a:rPr>
              <a:t>EmailService.sendResetLink</a:t>
            </a:r>
            <a:r>
              <a:rPr lang="en-IN" sz="1800" dirty="0">
                <a:latin typeface="+mj-lt"/>
              </a:rPr>
              <a:t>(email, </a:t>
            </a:r>
            <a:r>
              <a:rPr lang="en-IN" sz="1800" dirty="0" err="1">
                <a:latin typeface="+mj-lt"/>
              </a:rPr>
              <a:t>resetToken</a:t>
            </a:r>
            <a:r>
              <a:rPr lang="en-IN" sz="1800" dirty="0">
                <a:latin typeface="+mj-lt"/>
              </a:rPr>
              <a:t>)</a:t>
            </a:r>
          </a:p>
          <a:p>
            <a:endParaRPr lang="en-IN" sz="1800" dirty="0">
              <a:latin typeface="+mj-lt"/>
            </a:endParaRPr>
          </a:p>
          <a:p>
            <a:r>
              <a:rPr lang="en-IN" sz="1800" dirty="0">
                <a:latin typeface="+mj-lt"/>
              </a:rPr>
              <a:t>        RETURN "Password reset link sent"</a:t>
            </a:r>
          </a:p>
          <a:p>
            <a:endParaRPr lang="en-IN" sz="1800" dirty="0">
              <a:latin typeface="+mj-lt"/>
            </a:endParaRPr>
          </a:p>
          <a:p>
            <a:r>
              <a:rPr lang="en-IN" sz="1800" dirty="0">
                <a:latin typeface="+mj-lt"/>
              </a:rPr>
              <a:t>    END FUNCTION</a:t>
            </a:r>
          </a:p>
          <a:p>
            <a:endParaRPr lang="en-IN" sz="1800" dirty="0">
              <a:latin typeface="+mj-lt"/>
            </a:endParaRPr>
          </a:p>
          <a:p>
            <a:r>
              <a:rPr lang="en-IN" sz="1800" dirty="0">
                <a:latin typeface="+mj-lt"/>
              </a:rPr>
              <a:t>END CLASS</a:t>
            </a:r>
          </a:p>
        </p:txBody>
      </p:sp>
    </p:spTree>
    <p:extLst>
      <p:ext uri="{BB962C8B-B14F-4D97-AF65-F5344CB8AC3E}">
        <p14:creationId xmlns:p14="http://schemas.microsoft.com/office/powerpoint/2010/main" val="391030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6A5D2-B80A-13BD-A9D4-DC8B88558B0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040DA0-6E2E-A1D9-5762-67E841125D8E}"/>
              </a:ext>
            </a:extLst>
          </p:cNvPr>
          <p:cNvSpPr txBox="1"/>
          <p:nvPr/>
        </p:nvSpPr>
        <p:spPr>
          <a:xfrm>
            <a:off x="457200" y="558800"/>
            <a:ext cx="3640667" cy="5539978"/>
          </a:xfrm>
          <a:prstGeom prst="rect">
            <a:avLst/>
          </a:prstGeom>
          <a:noFill/>
        </p:spPr>
        <p:txBody>
          <a:bodyPr wrap="square">
            <a:spAutoFit/>
          </a:bodyPr>
          <a:lstStyle/>
          <a:p>
            <a:r>
              <a:rPr lang="en-IN" sz="2400" b="1" dirty="0">
                <a:latin typeface="+mj-lt"/>
                <a:ea typeface="Times New Roman" panose="02020603050405020304" pitchFamily="18" charset="0"/>
                <a:cs typeface="Latha" panose="020B0604020202020204" pitchFamily="34" charset="0"/>
              </a:rPr>
              <a:t># </a:t>
            </a:r>
            <a:r>
              <a:rPr lang="en-IN" sz="2400" b="1" dirty="0" err="1">
                <a:latin typeface="+mj-lt"/>
                <a:ea typeface="Times New Roman" panose="02020603050405020304" pitchFamily="18" charset="0"/>
                <a:cs typeface="Latha" panose="020B0604020202020204" pitchFamily="34" charset="0"/>
              </a:rPr>
              <a:t>EmailService</a:t>
            </a:r>
            <a:r>
              <a:rPr lang="en-IN" sz="2400" b="1" dirty="0">
                <a:latin typeface="+mj-lt"/>
                <a:ea typeface="Times New Roman" panose="02020603050405020304" pitchFamily="18" charset="0"/>
                <a:cs typeface="Latha" panose="020B0604020202020204" pitchFamily="34" charset="0"/>
              </a:rPr>
              <a:t> – Reset Email</a:t>
            </a:r>
            <a:br>
              <a:rPr lang="en-IN" sz="2400" kern="100" dirty="0">
                <a:latin typeface="+mj-lt"/>
                <a:ea typeface="Calibri" panose="020F0502020204030204" pitchFamily="34" charset="0"/>
                <a:cs typeface="Latha" panose="020B0604020202020204" pitchFamily="34" charset="0"/>
              </a:rPr>
            </a:br>
            <a:r>
              <a:rPr lang="en-IN" sz="2400" b="0" dirty="0">
                <a:latin typeface="+mj-lt"/>
                <a:ea typeface="Times New Roman" panose="02020603050405020304" pitchFamily="18" charset="0"/>
                <a:cs typeface="Latha" panose="020B0604020202020204" pitchFamily="34" charset="0"/>
              </a:rPr>
              <a:t>CLASS </a:t>
            </a:r>
            <a:r>
              <a:rPr lang="en-IN" sz="2400" b="0" dirty="0" err="1">
                <a:latin typeface="+mj-lt"/>
                <a:ea typeface="Times New Roman" panose="02020603050405020304" pitchFamily="18" charset="0"/>
                <a:cs typeface="Latha" panose="020B0604020202020204" pitchFamily="34" charset="0"/>
              </a:rPr>
              <a:t>EmailService</a:t>
            </a:r>
            <a:br>
              <a:rPr lang="en-IN" sz="2400" b="0" kern="100" dirty="0">
                <a:latin typeface="+mj-lt"/>
                <a:ea typeface="Calibri" panose="020F0502020204030204" pitchFamily="34" charset="0"/>
                <a:cs typeface="Latha" panose="020B0604020202020204" pitchFamily="34" charset="0"/>
              </a:rPr>
            </a:br>
            <a:r>
              <a:rPr lang="en-IN" sz="2400" b="0" dirty="0">
                <a:latin typeface="+mj-lt"/>
                <a:ea typeface="Times New Roman" panose="02020603050405020304" pitchFamily="18" charset="0"/>
                <a:cs typeface="Latha" panose="020B0604020202020204" pitchFamily="34" charset="0"/>
              </a:rPr>
              <a:t> </a:t>
            </a:r>
            <a:br>
              <a:rPr lang="en-IN" sz="2400" b="0" kern="100" dirty="0">
                <a:latin typeface="+mj-lt"/>
                <a:ea typeface="Calibri" panose="020F0502020204030204" pitchFamily="34" charset="0"/>
                <a:cs typeface="Latha" panose="020B0604020202020204" pitchFamily="34" charset="0"/>
              </a:rPr>
            </a:br>
            <a:r>
              <a:rPr lang="en-IN" sz="2400" b="0" dirty="0">
                <a:latin typeface="+mj-lt"/>
                <a:ea typeface="Times New Roman" panose="02020603050405020304" pitchFamily="18" charset="0"/>
                <a:cs typeface="Latha" panose="020B0604020202020204" pitchFamily="34" charset="0"/>
              </a:rPr>
              <a:t>    FUNCTION </a:t>
            </a:r>
            <a:r>
              <a:rPr lang="en-IN" sz="2400" b="0" dirty="0" err="1">
                <a:latin typeface="+mj-lt"/>
                <a:ea typeface="Times New Roman" panose="02020603050405020304" pitchFamily="18" charset="0"/>
                <a:cs typeface="Latha" panose="020B0604020202020204" pitchFamily="34" charset="0"/>
              </a:rPr>
              <a:t>sendResetLink</a:t>
            </a:r>
            <a:r>
              <a:rPr lang="en-IN" sz="2400" b="0" dirty="0">
                <a:latin typeface="+mj-lt"/>
                <a:ea typeface="Times New Roman" panose="02020603050405020304" pitchFamily="18" charset="0"/>
                <a:cs typeface="Latha" panose="020B0604020202020204" pitchFamily="34" charset="0"/>
              </a:rPr>
              <a:t>(email, token)</a:t>
            </a:r>
            <a:br>
              <a:rPr lang="en-IN" sz="2400" b="0" kern="100" dirty="0">
                <a:latin typeface="+mj-lt"/>
                <a:ea typeface="Calibri" panose="020F0502020204030204" pitchFamily="34" charset="0"/>
                <a:cs typeface="Latha" panose="020B0604020202020204" pitchFamily="34" charset="0"/>
              </a:rPr>
            </a:br>
            <a:r>
              <a:rPr lang="en-IN" sz="2400" b="0" dirty="0">
                <a:latin typeface="+mj-lt"/>
                <a:ea typeface="Times New Roman" panose="02020603050405020304" pitchFamily="18" charset="0"/>
                <a:cs typeface="Latha" panose="020B0604020202020204" pitchFamily="34" charset="0"/>
              </a:rPr>
              <a:t>        create reset password link using token</a:t>
            </a:r>
            <a:br>
              <a:rPr lang="en-IN" sz="2400" b="0" kern="100" dirty="0">
                <a:latin typeface="+mj-lt"/>
                <a:ea typeface="Calibri" panose="020F0502020204030204" pitchFamily="34" charset="0"/>
                <a:cs typeface="Latha" panose="020B0604020202020204" pitchFamily="34" charset="0"/>
              </a:rPr>
            </a:br>
            <a:r>
              <a:rPr lang="en-IN" sz="2400" b="0" dirty="0">
                <a:latin typeface="+mj-lt"/>
                <a:ea typeface="Times New Roman" panose="02020603050405020304" pitchFamily="18" charset="0"/>
                <a:cs typeface="Latha" panose="020B0604020202020204" pitchFamily="34" charset="0"/>
              </a:rPr>
              <a:t>        send email to user</a:t>
            </a:r>
            <a:br>
              <a:rPr lang="en-IN" sz="2400" b="0" kern="100" dirty="0">
                <a:latin typeface="+mj-lt"/>
                <a:ea typeface="Calibri" panose="020F0502020204030204" pitchFamily="34" charset="0"/>
                <a:cs typeface="Latha" panose="020B0604020202020204" pitchFamily="34" charset="0"/>
              </a:rPr>
            </a:br>
            <a:r>
              <a:rPr lang="en-IN" sz="2400" b="0" dirty="0">
                <a:latin typeface="+mj-lt"/>
                <a:ea typeface="Times New Roman" panose="02020603050405020304" pitchFamily="18" charset="0"/>
                <a:cs typeface="Latha" panose="020B0604020202020204" pitchFamily="34" charset="0"/>
              </a:rPr>
              <a:t>    END FUNCTION</a:t>
            </a:r>
            <a:br>
              <a:rPr lang="en-IN" sz="2400" b="0" kern="100" dirty="0">
                <a:latin typeface="+mj-lt"/>
                <a:ea typeface="Calibri" panose="020F0502020204030204" pitchFamily="34" charset="0"/>
                <a:cs typeface="Latha" panose="020B0604020202020204" pitchFamily="34" charset="0"/>
              </a:rPr>
            </a:br>
            <a:r>
              <a:rPr lang="en-IN" sz="2400" b="0" dirty="0">
                <a:latin typeface="+mj-lt"/>
                <a:ea typeface="Times New Roman" panose="02020603050405020304" pitchFamily="18" charset="0"/>
                <a:cs typeface="Latha" panose="020B0604020202020204" pitchFamily="34" charset="0"/>
              </a:rPr>
              <a:t> </a:t>
            </a:r>
            <a:br>
              <a:rPr lang="en-IN" sz="2400" b="0" kern="100" dirty="0">
                <a:latin typeface="+mj-lt"/>
                <a:ea typeface="Calibri" panose="020F0502020204030204" pitchFamily="34" charset="0"/>
                <a:cs typeface="Latha" panose="020B0604020202020204" pitchFamily="34" charset="0"/>
              </a:rPr>
            </a:br>
            <a:r>
              <a:rPr lang="en-IN" sz="2400" b="0" dirty="0">
                <a:latin typeface="+mj-lt"/>
                <a:ea typeface="Times New Roman" panose="02020603050405020304" pitchFamily="18" charset="0"/>
                <a:cs typeface="Latha" panose="020B0604020202020204" pitchFamily="34" charset="0"/>
              </a:rPr>
              <a:t>END CLASS</a:t>
            </a:r>
            <a:br>
              <a:rPr lang="en-IN" sz="1600" kern="100" dirty="0">
                <a:latin typeface="Calibri" panose="020F0502020204030204" pitchFamily="34" charset="0"/>
                <a:ea typeface="Calibri" panose="020F0502020204030204" pitchFamily="34" charset="0"/>
                <a:cs typeface="Latha" panose="020B0604020202020204" pitchFamily="34" charset="0"/>
              </a:rPr>
            </a:br>
            <a:endParaRPr lang="en-IN" dirty="0"/>
          </a:p>
        </p:txBody>
      </p:sp>
      <p:sp>
        <p:nvSpPr>
          <p:cNvPr id="5" name="TextBox 4">
            <a:extLst>
              <a:ext uri="{FF2B5EF4-FFF2-40B4-BE49-F238E27FC236}">
                <a16:creationId xmlns:a16="http://schemas.microsoft.com/office/drawing/2014/main" id="{5B070C8C-A78F-4665-9867-85900BB8B058}"/>
              </a:ext>
            </a:extLst>
          </p:cNvPr>
          <p:cNvSpPr txBox="1"/>
          <p:nvPr/>
        </p:nvSpPr>
        <p:spPr>
          <a:xfrm>
            <a:off x="4504267" y="957308"/>
            <a:ext cx="8297333" cy="6112429"/>
          </a:xfrm>
          <a:prstGeom prst="rect">
            <a:avLst/>
          </a:prstGeom>
          <a:noFill/>
        </p:spPr>
        <p:txBody>
          <a:bodyPr wrap="square">
            <a:spAutoFit/>
          </a:bodyPr>
          <a:lstStyle/>
          <a:p>
            <a:r>
              <a:rPr lang="en-IN" sz="1400" dirty="0">
                <a:latin typeface="+mj-lt"/>
              </a:rPr>
              <a:t>CLASS </a:t>
            </a:r>
            <a:r>
              <a:rPr lang="en-IN" sz="1400" dirty="0" err="1">
                <a:latin typeface="+mj-lt"/>
              </a:rPr>
              <a:t>AuthController</a:t>
            </a:r>
            <a:endParaRPr lang="en-IN" sz="1400" dirty="0">
              <a:latin typeface="+mj-lt"/>
            </a:endParaRPr>
          </a:p>
          <a:p>
            <a:endParaRPr lang="en-IN" sz="1400" dirty="0">
              <a:latin typeface="+mj-lt"/>
            </a:endParaRPr>
          </a:p>
          <a:p>
            <a:r>
              <a:rPr lang="en-IN" sz="1400" dirty="0">
                <a:latin typeface="+mj-lt"/>
              </a:rPr>
              <a:t>    FUNCTION </a:t>
            </a:r>
            <a:r>
              <a:rPr lang="en-IN" sz="1400" dirty="0" err="1">
                <a:latin typeface="+mj-lt"/>
              </a:rPr>
              <a:t>resetPassword</a:t>
            </a:r>
            <a:r>
              <a:rPr lang="en-IN" sz="1400" dirty="0">
                <a:latin typeface="+mj-lt"/>
              </a:rPr>
              <a:t>(token, </a:t>
            </a:r>
            <a:r>
              <a:rPr lang="en-IN" sz="1400" dirty="0" err="1">
                <a:latin typeface="+mj-lt"/>
              </a:rPr>
              <a:t>newPassword</a:t>
            </a:r>
            <a:r>
              <a:rPr lang="en-IN" sz="1400" dirty="0">
                <a:latin typeface="+mj-lt"/>
              </a:rPr>
              <a:t>)</a:t>
            </a:r>
          </a:p>
          <a:p>
            <a:r>
              <a:rPr lang="en-IN" sz="1400" dirty="0">
                <a:latin typeface="+mj-lt"/>
              </a:rPr>
              <a:t>        result = </a:t>
            </a:r>
            <a:r>
              <a:rPr lang="en-IN" sz="1400" dirty="0" err="1">
                <a:latin typeface="+mj-lt"/>
              </a:rPr>
              <a:t>AuthService.resetPassword</a:t>
            </a:r>
            <a:r>
              <a:rPr lang="en-IN" sz="1400" dirty="0">
                <a:latin typeface="+mj-lt"/>
              </a:rPr>
              <a:t>(token, </a:t>
            </a:r>
            <a:r>
              <a:rPr lang="en-IN" sz="1400" dirty="0" err="1">
                <a:latin typeface="+mj-lt"/>
              </a:rPr>
              <a:t>newPassword</a:t>
            </a:r>
            <a:r>
              <a:rPr lang="en-IN" sz="1400" dirty="0">
                <a:latin typeface="+mj-lt"/>
              </a:rPr>
              <a:t>)</a:t>
            </a:r>
          </a:p>
          <a:p>
            <a:r>
              <a:rPr lang="en-IN" sz="1400" dirty="0">
                <a:latin typeface="+mj-lt"/>
              </a:rPr>
              <a:t>        RETURN result</a:t>
            </a:r>
          </a:p>
          <a:p>
            <a:r>
              <a:rPr lang="en-IN" sz="1400" dirty="0">
                <a:latin typeface="+mj-lt"/>
              </a:rPr>
              <a:t>    END FUNCTION</a:t>
            </a:r>
          </a:p>
          <a:p>
            <a:endParaRPr lang="en-IN" sz="1400" dirty="0">
              <a:latin typeface="+mj-lt"/>
            </a:endParaRPr>
          </a:p>
          <a:p>
            <a:r>
              <a:rPr lang="en-IN" sz="1400" dirty="0">
                <a:latin typeface="+mj-lt"/>
              </a:rPr>
              <a:t>END CLASS</a:t>
            </a:r>
          </a:p>
          <a:p>
            <a:r>
              <a:rPr lang="en-IN" sz="1400" dirty="0">
                <a:latin typeface="+mj-lt"/>
              </a:rPr>
              <a:t>CLASS </a:t>
            </a:r>
            <a:r>
              <a:rPr lang="en-IN" sz="1400" dirty="0" err="1">
                <a:latin typeface="+mj-lt"/>
              </a:rPr>
              <a:t>AuthService</a:t>
            </a:r>
            <a:endParaRPr lang="en-IN" sz="1400" dirty="0">
              <a:latin typeface="+mj-lt"/>
            </a:endParaRPr>
          </a:p>
          <a:p>
            <a:endParaRPr lang="en-IN" sz="1400" dirty="0">
              <a:latin typeface="+mj-lt"/>
            </a:endParaRPr>
          </a:p>
          <a:p>
            <a:r>
              <a:rPr lang="en-IN" sz="1400" dirty="0">
                <a:latin typeface="+mj-lt"/>
              </a:rPr>
              <a:t>    FUNCTION </a:t>
            </a:r>
            <a:r>
              <a:rPr lang="en-IN" sz="1400" dirty="0" err="1">
                <a:latin typeface="+mj-lt"/>
              </a:rPr>
              <a:t>resetPassword</a:t>
            </a:r>
            <a:r>
              <a:rPr lang="en-IN" sz="1400" dirty="0">
                <a:latin typeface="+mj-lt"/>
              </a:rPr>
              <a:t>(token, </a:t>
            </a:r>
            <a:r>
              <a:rPr lang="en-IN" sz="1400" dirty="0" err="1">
                <a:latin typeface="+mj-lt"/>
              </a:rPr>
              <a:t>newPassword</a:t>
            </a:r>
            <a:r>
              <a:rPr lang="en-IN" sz="1400" dirty="0">
                <a:latin typeface="+mj-lt"/>
              </a:rPr>
              <a:t>)</a:t>
            </a:r>
          </a:p>
          <a:p>
            <a:endParaRPr lang="en-IN" sz="1400" dirty="0">
              <a:latin typeface="+mj-lt"/>
            </a:endParaRPr>
          </a:p>
          <a:p>
            <a:r>
              <a:rPr lang="en-IN" sz="1400" dirty="0">
                <a:latin typeface="+mj-lt"/>
              </a:rPr>
              <a:t>        user = find user by reset token</a:t>
            </a:r>
          </a:p>
          <a:p>
            <a:endParaRPr lang="en-IN" sz="1400" dirty="0">
              <a:latin typeface="+mj-lt"/>
            </a:endParaRPr>
          </a:p>
          <a:p>
            <a:r>
              <a:rPr lang="en-IN" sz="1400" dirty="0">
                <a:latin typeface="+mj-lt"/>
              </a:rPr>
              <a:t>        IF token invalid or expired THEN</a:t>
            </a:r>
          </a:p>
          <a:p>
            <a:r>
              <a:rPr lang="en-IN" sz="1400" dirty="0">
                <a:latin typeface="+mj-lt"/>
              </a:rPr>
              <a:t>            RETURN "Invalid token"</a:t>
            </a:r>
          </a:p>
          <a:p>
            <a:r>
              <a:rPr lang="en-IN" sz="1400" dirty="0">
                <a:latin typeface="+mj-lt"/>
              </a:rPr>
              <a:t>        END IF</a:t>
            </a: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latin typeface="+mj-lt"/>
                <a:ea typeface="Times New Roman" panose="02020603050405020304" pitchFamily="18" charset="0"/>
                <a:cs typeface="Latha" panose="020B0604020202020204" pitchFamily="34" charset="0"/>
              </a:rPr>
              <a:t> </a:t>
            </a:r>
            <a:r>
              <a:rPr lang="en-IN" sz="1400" dirty="0" err="1">
                <a:latin typeface="+mj-lt"/>
                <a:ea typeface="Times New Roman" panose="02020603050405020304" pitchFamily="18" charset="0"/>
                <a:cs typeface="Latha" panose="020B0604020202020204" pitchFamily="34" charset="0"/>
              </a:rPr>
              <a:t>encryptedPassword</a:t>
            </a:r>
            <a:r>
              <a:rPr lang="en-IN" sz="1400" dirty="0">
                <a:latin typeface="+mj-lt"/>
                <a:ea typeface="Times New Roman" panose="02020603050405020304" pitchFamily="18" charset="0"/>
                <a:cs typeface="Latha" panose="020B0604020202020204" pitchFamily="34" charset="0"/>
              </a:rPr>
              <a:t> = encrypt(</a:t>
            </a:r>
            <a:r>
              <a:rPr lang="en-IN" sz="1400" dirty="0" err="1">
                <a:latin typeface="+mj-lt"/>
                <a:ea typeface="Times New Roman" panose="02020603050405020304" pitchFamily="18" charset="0"/>
                <a:cs typeface="Latha" panose="020B0604020202020204" pitchFamily="34" charset="0"/>
              </a:rPr>
              <a:t>newPassword</a:t>
            </a:r>
            <a:r>
              <a:rPr lang="en-IN" sz="1400" dirty="0">
                <a:latin typeface="+mj-lt"/>
                <a:ea typeface="Times New Roman" panose="02020603050405020304" pitchFamily="18" charset="0"/>
                <a:cs typeface="Latha" panose="020B0604020202020204" pitchFamily="34" charset="0"/>
              </a:rPr>
              <a:t>)</a:t>
            </a:r>
            <a:endParaRPr lang="en-IN" sz="1400" kern="100" dirty="0">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latin typeface="+mj-lt"/>
                <a:ea typeface="Times New Roman" panose="02020603050405020304" pitchFamily="18" charset="0"/>
                <a:cs typeface="Latha" panose="020B0604020202020204" pitchFamily="34" charset="0"/>
              </a:rPr>
              <a:t>        </a:t>
            </a:r>
            <a:r>
              <a:rPr lang="en-IN" sz="1400" dirty="0" err="1">
                <a:latin typeface="+mj-lt"/>
                <a:ea typeface="Times New Roman" panose="02020603050405020304" pitchFamily="18" charset="0"/>
                <a:cs typeface="Latha" panose="020B0604020202020204" pitchFamily="34" charset="0"/>
              </a:rPr>
              <a:t>user.password</a:t>
            </a:r>
            <a:r>
              <a:rPr lang="en-IN" sz="1400" dirty="0">
                <a:latin typeface="+mj-lt"/>
                <a:ea typeface="Times New Roman" panose="02020603050405020304" pitchFamily="18" charset="0"/>
                <a:cs typeface="Latha" panose="020B0604020202020204" pitchFamily="34" charset="0"/>
              </a:rPr>
              <a:t> = </a:t>
            </a:r>
            <a:r>
              <a:rPr lang="en-IN" sz="1400" dirty="0" err="1">
                <a:latin typeface="+mj-lt"/>
                <a:ea typeface="Times New Roman" panose="02020603050405020304" pitchFamily="18" charset="0"/>
                <a:cs typeface="Latha" panose="020B0604020202020204" pitchFamily="34" charset="0"/>
              </a:rPr>
              <a:t>encryptedPassword</a:t>
            </a:r>
            <a:endParaRPr lang="en-IN" sz="1400" kern="100" dirty="0">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latin typeface="+mj-lt"/>
                <a:ea typeface="Times New Roman" panose="02020603050405020304" pitchFamily="18" charset="0"/>
                <a:cs typeface="Latha" panose="020B0604020202020204" pitchFamily="34" charset="0"/>
              </a:rPr>
              <a:t>clear reset token</a:t>
            </a:r>
            <a:endParaRPr lang="en-IN" sz="1400" kern="100" dirty="0">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latin typeface="+mj-lt"/>
                <a:ea typeface="Times New Roman" panose="02020603050405020304" pitchFamily="18" charset="0"/>
                <a:cs typeface="Latha" panose="020B0604020202020204" pitchFamily="34" charset="0"/>
              </a:rPr>
              <a:t>        save user</a:t>
            </a:r>
            <a:endParaRPr lang="en-IN" sz="1400" kern="100" dirty="0">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latin typeface="+mj-lt"/>
                <a:ea typeface="Times New Roman" panose="02020603050405020304" pitchFamily="18" charset="0"/>
                <a:cs typeface="Latha" panose="020B0604020202020204" pitchFamily="34" charset="0"/>
              </a:rPr>
              <a:t>RETURN "Password reset successful"</a:t>
            </a:r>
            <a:endParaRPr lang="en-IN" sz="1400" kern="100" dirty="0">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latin typeface="+mj-lt"/>
                <a:ea typeface="Times New Roman" panose="02020603050405020304" pitchFamily="18" charset="0"/>
                <a:cs typeface="Latha" panose="020B0604020202020204" pitchFamily="34" charset="0"/>
              </a:rPr>
              <a:t> END FUNCTION</a:t>
            </a:r>
            <a:endParaRPr lang="en-IN" sz="1400" kern="100" dirty="0">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latin typeface="+mj-lt"/>
                <a:ea typeface="Times New Roman" panose="02020603050405020304" pitchFamily="18" charset="0"/>
                <a:cs typeface="Latha" panose="020B0604020202020204" pitchFamily="34" charset="0"/>
              </a:rPr>
              <a:t>END CLASS</a:t>
            </a:r>
            <a:endParaRPr lang="en-IN" sz="1400" dirty="0">
              <a:latin typeface="+mj-lt"/>
            </a:endParaRPr>
          </a:p>
        </p:txBody>
      </p:sp>
      <p:sp>
        <p:nvSpPr>
          <p:cNvPr id="7" name="TextBox 6">
            <a:extLst>
              <a:ext uri="{FF2B5EF4-FFF2-40B4-BE49-F238E27FC236}">
                <a16:creationId xmlns:a16="http://schemas.microsoft.com/office/drawing/2014/main" id="{A4482F21-99C9-644B-E605-A8310ACCA915}"/>
              </a:ext>
            </a:extLst>
          </p:cNvPr>
          <p:cNvSpPr txBox="1"/>
          <p:nvPr/>
        </p:nvSpPr>
        <p:spPr>
          <a:xfrm>
            <a:off x="4504267" y="372533"/>
            <a:ext cx="6096000" cy="584775"/>
          </a:xfrm>
          <a:prstGeom prst="rect">
            <a:avLst/>
          </a:prstGeom>
          <a:noFill/>
        </p:spPr>
        <p:txBody>
          <a:bodyPr wrap="square">
            <a:spAutoFit/>
          </a:bodyPr>
          <a:lstStyle/>
          <a:p>
            <a:r>
              <a:rPr lang="en-IN" sz="3200" kern="100" dirty="0">
                <a:latin typeface="Calibri" panose="020F0502020204030204" pitchFamily="34" charset="0"/>
                <a:ea typeface="Calibri" panose="020F0502020204030204" pitchFamily="34" charset="0"/>
                <a:cs typeface="Latha" panose="020B0604020202020204" pitchFamily="34" charset="0"/>
              </a:rPr>
              <a:t> </a:t>
            </a:r>
            <a:r>
              <a:rPr lang="en-IN" sz="2400" b="1" kern="100" dirty="0">
                <a:latin typeface="Calibri" panose="020F0502020204030204" pitchFamily="34" charset="0"/>
                <a:ea typeface="Calibri" panose="020F0502020204030204" pitchFamily="34" charset="0"/>
                <a:cs typeface="Latha" panose="020B0604020202020204" pitchFamily="34" charset="0"/>
              </a:rPr>
              <a:t>#####</a:t>
            </a:r>
            <a:r>
              <a:rPr lang="en-US" sz="2400" b="1" dirty="0"/>
              <a:t>RESET PASSWORD (After clicking link)</a:t>
            </a:r>
            <a:endParaRPr lang="en-IN" sz="2400" dirty="0"/>
          </a:p>
        </p:txBody>
      </p:sp>
    </p:spTree>
    <p:extLst>
      <p:ext uri="{BB962C8B-B14F-4D97-AF65-F5344CB8AC3E}">
        <p14:creationId xmlns:p14="http://schemas.microsoft.com/office/powerpoint/2010/main" val="2509233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73158-765D-A406-425C-35560498C2F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66BAC3-ED22-E7BB-47D6-726D53BBD8ED}"/>
              </a:ext>
            </a:extLst>
          </p:cNvPr>
          <p:cNvSpPr txBox="1"/>
          <p:nvPr/>
        </p:nvSpPr>
        <p:spPr>
          <a:xfrm>
            <a:off x="558800" y="762001"/>
            <a:ext cx="11904133" cy="584775"/>
          </a:xfrm>
          <a:prstGeom prst="rect">
            <a:avLst/>
          </a:prstGeom>
          <a:noFill/>
        </p:spPr>
        <p:txBody>
          <a:bodyPr wrap="square">
            <a:spAutoFit/>
          </a:bodyPr>
          <a:lstStyle/>
          <a:p>
            <a:r>
              <a:rPr lang="en-IN" sz="3200" b="1" dirty="0">
                <a:latin typeface="+mj-lt"/>
              </a:rPr>
              <a:t>Module 2 : Product and Inventory Management System</a:t>
            </a:r>
          </a:p>
        </p:txBody>
      </p:sp>
      <p:sp>
        <p:nvSpPr>
          <p:cNvPr id="5" name="TextBox 4">
            <a:extLst>
              <a:ext uri="{FF2B5EF4-FFF2-40B4-BE49-F238E27FC236}">
                <a16:creationId xmlns:a16="http://schemas.microsoft.com/office/drawing/2014/main" id="{205F941D-DDB5-7BB0-420B-B27DB0176FD6}"/>
              </a:ext>
            </a:extLst>
          </p:cNvPr>
          <p:cNvSpPr txBox="1"/>
          <p:nvPr/>
        </p:nvSpPr>
        <p:spPr>
          <a:xfrm>
            <a:off x="812799" y="1859340"/>
            <a:ext cx="10854267" cy="2862322"/>
          </a:xfrm>
          <a:prstGeom prst="rect">
            <a:avLst/>
          </a:prstGeom>
          <a:noFill/>
        </p:spPr>
        <p:txBody>
          <a:bodyPr wrap="square">
            <a:spAutoFit/>
          </a:bodyPr>
          <a:lstStyle/>
          <a:p>
            <a:r>
              <a:rPr lang="en-US" b="1" dirty="0">
                <a:latin typeface="+mj-lt"/>
              </a:rPr>
              <a:t>The purpose of this module is to allow the system to store complete product details such as:</a:t>
            </a:r>
            <a:br>
              <a:rPr lang="en-US" dirty="0">
                <a:latin typeface="+mj-lt"/>
              </a:rPr>
            </a:br>
            <a:br>
              <a:rPr lang="en-US" dirty="0">
                <a:latin typeface="+mj-lt"/>
              </a:rPr>
            </a:br>
            <a:r>
              <a:rPr lang="en-US" dirty="0">
                <a:latin typeface="+mj-lt"/>
              </a:rPr>
              <a:t>1.Product name</a:t>
            </a:r>
            <a:br>
              <a:rPr lang="en-US" dirty="0">
                <a:latin typeface="+mj-lt"/>
              </a:rPr>
            </a:br>
            <a:r>
              <a:rPr lang="en-US" dirty="0">
                <a:latin typeface="+mj-lt"/>
              </a:rPr>
              <a:t>2.Category</a:t>
            </a:r>
            <a:br>
              <a:rPr lang="en-US" dirty="0">
                <a:latin typeface="+mj-lt"/>
              </a:rPr>
            </a:br>
            <a:r>
              <a:rPr lang="en-US" dirty="0">
                <a:latin typeface="+mj-lt"/>
              </a:rPr>
              <a:t>3.Quantity</a:t>
            </a:r>
            <a:br>
              <a:rPr lang="en-US" dirty="0">
                <a:latin typeface="+mj-lt"/>
              </a:rPr>
            </a:br>
            <a:r>
              <a:rPr lang="en-US" dirty="0">
                <a:latin typeface="+mj-lt"/>
              </a:rPr>
              <a:t>4.Price</a:t>
            </a:r>
            <a:br>
              <a:rPr lang="en-US" dirty="0">
                <a:latin typeface="+mj-lt"/>
              </a:rPr>
            </a:br>
            <a:r>
              <a:rPr lang="en-US" dirty="0">
                <a:latin typeface="+mj-lt"/>
              </a:rPr>
              <a:t>5.Suppliers</a:t>
            </a:r>
            <a:br>
              <a:rPr lang="en-US" dirty="0">
                <a:latin typeface="+mj-lt"/>
              </a:rPr>
            </a:br>
            <a:r>
              <a:rPr lang="en-US" dirty="0">
                <a:latin typeface="+mj-lt"/>
              </a:rPr>
              <a:t>6.Reorder Level</a:t>
            </a:r>
            <a:br>
              <a:rPr lang="en-US" dirty="0">
                <a:latin typeface="+mj-lt"/>
              </a:rPr>
            </a:br>
            <a:r>
              <a:rPr lang="en-US" dirty="0">
                <a:latin typeface="+mj-lt"/>
              </a:rPr>
              <a:t>7.Stock Transactions</a:t>
            </a:r>
            <a:br>
              <a:rPr lang="en-US" dirty="0"/>
            </a:br>
            <a:endParaRPr lang="en-IN" dirty="0"/>
          </a:p>
        </p:txBody>
      </p:sp>
      <p:sp>
        <p:nvSpPr>
          <p:cNvPr id="7" name="TextBox 6">
            <a:extLst>
              <a:ext uri="{FF2B5EF4-FFF2-40B4-BE49-F238E27FC236}">
                <a16:creationId xmlns:a16="http://schemas.microsoft.com/office/drawing/2014/main" id="{C0C6FC36-163D-5214-C2AA-FEDA0EEEEF30}"/>
              </a:ext>
            </a:extLst>
          </p:cNvPr>
          <p:cNvSpPr txBox="1"/>
          <p:nvPr/>
        </p:nvSpPr>
        <p:spPr>
          <a:xfrm rot="10800000" flipV="1">
            <a:off x="677333" y="4796756"/>
            <a:ext cx="7078134" cy="1754326"/>
          </a:xfrm>
          <a:prstGeom prst="rect">
            <a:avLst/>
          </a:prstGeom>
          <a:noFill/>
        </p:spPr>
        <p:txBody>
          <a:bodyPr wrap="square">
            <a:spAutoFit/>
          </a:bodyPr>
          <a:lstStyle/>
          <a:p>
            <a:r>
              <a:rPr lang="en-IN" b="1" dirty="0">
                <a:latin typeface="+mj-lt"/>
              </a:rPr>
              <a:t>Main Classes in this Module is:</a:t>
            </a:r>
          </a:p>
          <a:p>
            <a:endParaRPr lang="en-IN" dirty="0">
              <a:latin typeface="+mj-lt"/>
            </a:endParaRPr>
          </a:p>
          <a:p>
            <a:r>
              <a:rPr lang="en-IN" dirty="0">
                <a:latin typeface="+mj-lt"/>
              </a:rPr>
              <a:t>1.Product</a:t>
            </a:r>
          </a:p>
          <a:p>
            <a:r>
              <a:rPr lang="en-IN" dirty="0">
                <a:latin typeface="+mj-lt"/>
              </a:rPr>
              <a:t>2.Product Controller</a:t>
            </a:r>
          </a:p>
          <a:p>
            <a:r>
              <a:rPr lang="en-IN" dirty="0">
                <a:latin typeface="+mj-lt"/>
              </a:rPr>
              <a:t>3.Product Service</a:t>
            </a:r>
          </a:p>
          <a:p>
            <a:r>
              <a:rPr lang="en-IN" dirty="0">
                <a:latin typeface="+mj-lt"/>
              </a:rPr>
              <a:t>4.Product </a:t>
            </a:r>
            <a:r>
              <a:rPr lang="en-IN" dirty="0" err="1">
                <a:latin typeface="+mj-lt"/>
              </a:rPr>
              <a:t>Respository</a:t>
            </a:r>
            <a:endParaRPr lang="en-IN" dirty="0">
              <a:latin typeface="+mj-lt"/>
            </a:endParaRPr>
          </a:p>
        </p:txBody>
      </p:sp>
    </p:spTree>
    <p:extLst>
      <p:ext uri="{BB962C8B-B14F-4D97-AF65-F5344CB8AC3E}">
        <p14:creationId xmlns:p14="http://schemas.microsoft.com/office/powerpoint/2010/main" val="2738073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6C3C48-9EBD-EE7A-3A17-9D7740019443}"/>
              </a:ext>
            </a:extLst>
          </p:cNvPr>
          <p:cNvSpPr>
            <a:spLocks noGrp="1"/>
          </p:cNvSpPr>
          <p:nvPr>
            <p:ph type="title"/>
          </p:nvPr>
        </p:nvSpPr>
        <p:spPr>
          <a:xfrm>
            <a:off x="914399" y="914400"/>
            <a:ext cx="11277601" cy="914400"/>
          </a:xfrm>
        </p:spPr>
        <p:txBody>
          <a:bodyPr/>
          <a:lstStyle/>
          <a:p>
            <a:r>
              <a:rPr lang="en-IN" sz="2400" b="1" dirty="0"/>
              <a:t>Flow: </a:t>
            </a:r>
            <a:r>
              <a:rPr lang="en-IN" sz="2400" b="1" dirty="0" err="1"/>
              <a:t>AuthController</a:t>
            </a:r>
            <a:r>
              <a:rPr lang="en-IN" sz="2400" b="1" dirty="0"/>
              <a:t>—</a:t>
            </a:r>
            <a:r>
              <a:rPr lang="en-IN" sz="2400" b="1" dirty="0" err="1"/>
              <a:t>AuthService</a:t>
            </a:r>
            <a:r>
              <a:rPr lang="en-IN" sz="2400" b="1" dirty="0"/>
              <a:t>—</a:t>
            </a:r>
            <a:r>
              <a:rPr lang="en-IN" sz="2400" b="1" dirty="0" err="1"/>
              <a:t>UserRespository</a:t>
            </a:r>
            <a:r>
              <a:rPr lang="en-IN" sz="2400" b="1" dirty="0"/>
              <a:t>--Database</a:t>
            </a:r>
          </a:p>
        </p:txBody>
      </p:sp>
      <p:sp>
        <p:nvSpPr>
          <p:cNvPr id="9" name="TextBox 8">
            <a:extLst>
              <a:ext uri="{FF2B5EF4-FFF2-40B4-BE49-F238E27FC236}">
                <a16:creationId xmlns:a16="http://schemas.microsoft.com/office/drawing/2014/main" id="{BC722125-CBEC-8E8C-AE0A-7A0E9A4C940D}"/>
              </a:ext>
            </a:extLst>
          </p:cNvPr>
          <p:cNvSpPr txBox="1"/>
          <p:nvPr/>
        </p:nvSpPr>
        <p:spPr>
          <a:xfrm>
            <a:off x="914399" y="2675144"/>
            <a:ext cx="8247185" cy="1955151"/>
          </a:xfrm>
          <a:prstGeom prst="rect">
            <a:avLst/>
          </a:prstGeom>
          <a:noFill/>
        </p:spPr>
        <p:txBody>
          <a:bodyPr wrap="square">
            <a:spAutoFit/>
          </a:bodyPr>
          <a:lstStyle/>
          <a:p>
            <a:pPr algn="just">
              <a:lnSpc>
                <a:spcPct val="107000"/>
              </a:lnSpc>
              <a:spcAft>
                <a:spcPts val="800"/>
              </a:spcAft>
            </a:pPr>
            <a:r>
              <a:rPr lang="en-IN" sz="2400" b="1" dirty="0">
                <a:latin typeface="+mj-lt"/>
                <a:ea typeface="Times New Roman" panose="02020603050405020304" pitchFamily="18" charset="0"/>
                <a:cs typeface="Latha" panose="020B0502040204020203" pitchFamily="34" charset="0"/>
              </a:rPr>
              <a:t>Purpose</a:t>
            </a:r>
            <a:endParaRPr lang="en-IN" sz="2400" kern="100" dirty="0">
              <a:latin typeface="+mj-lt"/>
              <a:ea typeface="Calibri" panose="020F0502020204030204" pitchFamily="34" charset="0"/>
              <a:cs typeface="Latha" panose="020B0502040204020203" pitchFamily="34" charset="0"/>
            </a:endParaRPr>
          </a:p>
          <a:p>
            <a:pPr marL="285750" lvl="0" indent="-285750" algn="just">
              <a:lnSpc>
                <a:spcPct val="107000"/>
              </a:lnSpc>
              <a:spcAft>
                <a:spcPts val="800"/>
              </a:spcAft>
              <a:buSzPts val="1000"/>
              <a:buFont typeface="Arial" panose="020B0604020202020204" pitchFamily="34" charset="0"/>
              <a:buChar char="•"/>
              <a:tabLst>
                <a:tab pos="457200" algn="l"/>
              </a:tabLst>
            </a:pPr>
            <a:r>
              <a:rPr lang="en-IN" sz="2400" dirty="0">
                <a:latin typeface="+mj-lt"/>
                <a:ea typeface="Times New Roman" panose="02020603050405020304" pitchFamily="18" charset="0"/>
                <a:cs typeface="Latha" panose="020B0502040204020203" pitchFamily="34" charset="0"/>
              </a:rPr>
              <a:t>Manage products</a:t>
            </a:r>
            <a:endParaRPr lang="en-IN" sz="2400" kern="100" dirty="0">
              <a:latin typeface="+mj-lt"/>
              <a:ea typeface="Calibri" panose="020F0502020204030204" pitchFamily="34" charset="0"/>
              <a:cs typeface="Latha" panose="020B0502040204020203" pitchFamily="34" charset="0"/>
            </a:endParaRPr>
          </a:p>
          <a:p>
            <a:pPr marL="285750" lvl="0" indent="-285750" algn="just">
              <a:lnSpc>
                <a:spcPct val="107000"/>
              </a:lnSpc>
              <a:spcAft>
                <a:spcPts val="800"/>
              </a:spcAft>
              <a:buSzPts val="1000"/>
              <a:buFont typeface="Arial" panose="020B0604020202020204" pitchFamily="34" charset="0"/>
              <a:buChar char="•"/>
              <a:tabLst>
                <a:tab pos="457200" algn="l"/>
              </a:tabLst>
            </a:pPr>
            <a:r>
              <a:rPr lang="en-IN" sz="2400" dirty="0">
                <a:latin typeface="+mj-lt"/>
                <a:ea typeface="Times New Roman" panose="02020603050405020304" pitchFamily="18" charset="0"/>
                <a:cs typeface="Latha" panose="020B0502040204020203" pitchFamily="34" charset="0"/>
              </a:rPr>
              <a:t>Track stock levels</a:t>
            </a:r>
            <a:endParaRPr lang="en-IN" sz="2400" kern="100" dirty="0">
              <a:latin typeface="+mj-lt"/>
              <a:ea typeface="Calibri" panose="020F0502020204030204" pitchFamily="34" charset="0"/>
              <a:cs typeface="Latha" panose="020B0502040204020203" pitchFamily="34" charset="0"/>
            </a:endParaRPr>
          </a:p>
          <a:p>
            <a:pPr marL="285750" lvl="0" indent="-285750" algn="just">
              <a:lnSpc>
                <a:spcPct val="107000"/>
              </a:lnSpc>
              <a:spcAft>
                <a:spcPts val="800"/>
              </a:spcAft>
              <a:buSzPts val="1000"/>
              <a:buFont typeface="Arial" panose="020B0604020202020204" pitchFamily="34" charset="0"/>
              <a:buChar char="•"/>
              <a:tabLst>
                <a:tab pos="457200" algn="l"/>
              </a:tabLst>
            </a:pPr>
            <a:r>
              <a:rPr lang="en-IN" sz="2400" dirty="0">
                <a:latin typeface="+mj-lt"/>
                <a:ea typeface="Times New Roman" panose="02020603050405020304" pitchFamily="18" charset="0"/>
                <a:cs typeface="Latha" panose="020B0502040204020203" pitchFamily="34" charset="0"/>
              </a:rPr>
              <a:t>Prevent duplicate items</a:t>
            </a:r>
            <a:endParaRPr lang="en-IN" sz="2400" kern="100" dirty="0">
              <a:latin typeface="+mj-lt"/>
              <a:ea typeface="Calibri" panose="020F0502020204030204" pitchFamily="34" charset="0"/>
              <a:cs typeface="Latha" panose="020B0502040204020203" pitchFamily="34" charset="0"/>
            </a:endParaRPr>
          </a:p>
        </p:txBody>
      </p:sp>
    </p:spTree>
    <p:extLst>
      <p:ext uri="{BB962C8B-B14F-4D97-AF65-F5344CB8AC3E}">
        <p14:creationId xmlns:p14="http://schemas.microsoft.com/office/powerpoint/2010/main" val="1175986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303418B-8AC6-B7CF-8B34-B4EAC46A33D3}"/>
              </a:ext>
            </a:extLst>
          </p:cNvPr>
          <p:cNvSpPr txBox="1"/>
          <p:nvPr/>
        </p:nvSpPr>
        <p:spPr>
          <a:xfrm>
            <a:off x="422031" y="160708"/>
            <a:ext cx="5978769" cy="5940088"/>
          </a:xfrm>
          <a:prstGeom prst="rect">
            <a:avLst/>
          </a:prstGeom>
          <a:noFill/>
        </p:spPr>
        <p:txBody>
          <a:bodyPr wrap="square">
            <a:spAutoFit/>
          </a:bodyPr>
          <a:lstStyle/>
          <a:p>
            <a:r>
              <a:rPr lang="en-IN" sz="2000" b="1" dirty="0">
                <a:latin typeface="+mj-lt"/>
              </a:rPr>
              <a:t>1.Product Class (Entity)</a:t>
            </a:r>
            <a:br>
              <a:rPr lang="en-IN" sz="2000" dirty="0">
                <a:latin typeface="+mj-lt"/>
              </a:rPr>
            </a:br>
            <a:br>
              <a:rPr lang="en-IN" sz="2000" dirty="0">
                <a:latin typeface="+mj-lt"/>
              </a:rPr>
            </a:br>
            <a:r>
              <a:rPr lang="en-IN" sz="2000" dirty="0">
                <a:latin typeface="+mj-lt"/>
              </a:rPr>
              <a:t>Pseudocode</a:t>
            </a:r>
            <a:br>
              <a:rPr lang="en-IN" sz="2000" dirty="0">
                <a:latin typeface="+mj-lt"/>
              </a:rPr>
            </a:br>
            <a:r>
              <a:rPr lang="en-IN" sz="2000" b="0" dirty="0">
                <a:latin typeface="+mj-lt"/>
              </a:rPr>
              <a:t>CLASS Product</a:t>
            </a:r>
            <a:br>
              <a:rPr lang="en-IN" sz="2000" b="0" dirty="0">
                <a:latin typeface="+mj-lt"/>
              </a:rPr>
            </a:br>
            <a:r>
              <a:rPr lang="en-IN" sz="2000" b="0" dirty="0">
                <a:latin typeface="+mj-lt"/>
              </a:rPr>
              <a:t>    </a:t>
            </a:r>
            <a:r>
              <a:rPr lang="en-IN" sz="2000" b="0" dirty="0" err="1">
                <a:latin typeface="+mj-lt"/>
              </a:rPr>
              <a:t>productId</a:t>
            </a:r>
            <a:br>
              <a:rPr lang="en-IN" sz="2000" b="0" dirty="0">
                <a:latin typeface="+mj-lt"/>
              </a:rPr>
            </a:br>
            <a:r>
              <a:rPr lang="en-IN" sz="2000" b="0" dirty="0">
                <a:latin typeface="+mj-lt"/>
              </a:rPr>
              <a:t>    </a:t>
            </a:r>
            <a:r>
              <a:rPr lang="en-IN" sz="2000" b="0" dirty="0" err="1">
                <a:latin typeface="+mj-lt"/>
              </a:rPr>
              <a:t>sku</a:t>
            </a:r>
            <a:br>
              <a:rPr lang="en-IN" sz="2000" b="0" dirty="0">
                <a:latin typeface="+mj-lt"/>
              </a:rPr>
            </a:br>
            <a:r>
              <a:rPr lang="en-IN" sz="2000" b="0" dirty="0">
                <a:latin typeface="+mj-lt"/>
              </a:rPr>
              <a:t>    name</a:t>
            </a:r>
            <a:br>
              <a:rPr lang="en-IN" sz="2000" b="0" dirty="0">
                <a:latin typeface="+mj-lt"/>
              </a:rPr>
            </a:br>
            <a:r>
              <a:rPr lang="en-IN" sz="2000" b="0" dirty="0">
                <a:latin typeface="+mj-lt"/>
              </a:rPr>
              <a:t>    category</a:t>
            </a:r>
            <a:br>
              <a:rPr lang="en-IN" sz="2000" b="0" dirty="0">
                <a:latin typeface="+mj-lt"/>
              </a:rPr>
            </a:br>
            <a:r>
              <a:rPr lang="en-IN" sz="2000" b="0" dirty="0">
                <a:latin typeface="+mj-lt"/>
              </a:rPr>
              <a:t>    supplier</a:t>
            </a:r>
            <a:br>
              <a:rPr lang="en-IN" sz="2000" b="0" dirty="0">
                <a:latin typeface="+mj-lt"/>
              </a:rPr>
            </a:br>
            <a:r>
              <a:rPr lang="en-IN" sz="2000" b="0" dirty="0">
                <a:latin typeface="+mj-lt"/>
              </a:rPr>
              <a:t>    </a:t>
            </a:r>
            <a:r>
              <a:rPr lang="en-IN" sz="2000" b="0" dirty="0" err="1">
                <a:latin typeface="+mj-lt"/>
              </a:rPr>
              <a:t>unitPrice</a:t>
            </a:r>
            <a:br>
              <a:rPr lang="en-IN" sz="2000" b="0" dirty="0">
                <a:latin typeface="+mj-lt"/>
              </a:rPr>
            </a:br>
            <a:r>
              <a:rPr lang="en-IN" sz="2000" b="0" dirty="0">
                <a:latin typeface="+mj-lt"/>
              </a:rPr>
              <a:t>    </a:t>
            </a:r>
            <a:r>
              <a:rPr lang="en-IN" sz="2000" b="0" dirty="0" err="1">
                <a:latin typeface="+mj-lt"/>
              </a:rPr>
              <a:t>stockQuantity</a:t>
            </a:r>
            <a:br>
              <a:rPr lang="en-IN" sz="2000" b="0" dirty="0">
                <a:latin typeface="+mj-lt"/>
              </a:rPr>
            </a:br>
            <a:r>
              <a:rPr lang="en-IN" sz="2000" b="0" dirty="0">
                <a:latin typeface="+mj-lt"/>
              </a:rPr>
              <a:t>    </a:t>
            </a:r>
            <a:r>
              <a:rPr lang="en-IN" sz="2000" b="0" dirty="0" err="1">
                <a:latin typeface="+mj-lt"/>
              </a:rPr>
              <a:t>minStockLevel</a:t>
            </a:r>
            <a:br>
              <a:rPr lang="en-IN" sz="2000" b="0" dirty="0">
                <a:latin typeface="+mj-lt"/>
              </a:rPr>
            </a:br>
            <a:r>
              <a:rPr lang="en-IN" sz="2000" b="0" dirty="0">
                <a:latin typeface="+mj-lt"/>
              </a:rPr>
              <a:t>END CLASS</a:t>
            </a:r>
            <a:br>
              <a:rPr lang="en-IN" sz="2000" dirty="0">
                <a:latin typeface="+mj-lt"/>
              </a:rPr>
            </a:br>
            <a:br>
              <a:rPr lang="en-IN" sz="2000" dirty="0">
                <a:latin typeface="+mj-lt"/>
              </a:rPr>
            </a:br>
            <a:r>
              <a:rPr lang="en-IN" sz="2000" dirty="0">
                <a:latin typeface="+mj-lt"/>
              </a:rPr>
              <a:t>Explanation</a:t>
            </a:r>
            <a:br>
              <a:rPr lang="en-IN" sz="2000" dirty="0">
                <a:latin typeface="+mj-lt"/>
              </a:rPr>
            </a:br>
            <a:r>
              <a:rPr lang="en-IN" sz="2000" b="0" dirty="0">
                <a:latin typeface="+mj-lt"/>
              </a:rPr>
              <a:t>•</a:t>
            </a:r>
            <a:r>
              <a:rPr lang="en-IN" sz="2000" b="0" dirty="0" err="1">
                <a:latin typeface="+mj-lt"/>
              </a:rPr>
              <a:t>sku</a:t>
            </a:r>
            <a:r>
              <a:rPr lang="en-IN" sz="2000" b="0" dirty="0">
                <a:latin typeface="+mj-lt"/>
              </a:rPr>
              <a:t> ensures uniqueness</a:t>
            </a:r>
            <a:br>
              <a:rPr lang="en-IN" sz="2000" b="0" dirty="0">
                <a:latin typeface="+mj-lt"/>
              </a:rPr>
            </a:br>
            <a:r>
              <a:rPr lang="en-IN" sz="2000" b="0" dirty="0">
                <a:latin typeface="+mj-lt"/>
              </a:rPr>
              <a:t>•</a:t>
            </a:r>
            <a:r>
              <a:rPr lang="en-IN" sz="2000" b="0" dirty="0" err="1">
                <a:latin typeface="+mj-lt"/>
              </a:rPr>
              <a:t>stockQuantity</a:t>
            </a:r>
            <a:r>
              <a:rPr lang="en-IN" sz="2000" b="0" dirty="0">
                <a:latin typeface="+mj-lt"/>
              </a:rPr>
              <a:t> changes frequently</a:t>
            </a:r>
            <a:br>
              <a:rPr lang="en-IN" sz="2000" b="0" dirty="0">
                <a:latin typeface="+mj-lt"/>
              </a:rPr>
            </a:br>
            <a:r>
              <a:rPr lang="en-IN" sz="2000" b="0" dirty="0">
                <a:latin typeface="+mj-lt"/>
              </a:rPr>
              <a:t>•</a:t>
            </a:r>
            <a:r>
              <a:rPr lang="en-IN" sz="2000" b="0" dirty="0" err="1">
                <a:latin typeface="+mj-lt"/>
              </a:rPr>
              <a:t>minStockLevel</a:t>
            </a:r>
            <a:r>
              <a:rPr lang="en-IN" sz="2000" b="0" dirty="0">
                <a:latin typeface="+mj-lt"/>
              </a:rPr>
              <a:t> used for alert   </a:t>
            </a:r>
            <a:br>
              <a:rPr lang="en-IN" sz="2000" dirty="0">
                <a:latin typeface="+mj-lt"/>
              </a:rPr>
            </a:br>
            <a:endParaRPr lang="en-IN" sz="2000" dirty="0">
              <a:latin typeface="+mj-lt"/>
            </a:endParaRPr>
          </a:p>
        </p:txBody>
      </p:sp>
      <p:sp>
        <p:nvSpPr>
          <p:cNvPr id="11" name="TextBox 10">
            <a:extLst>
              <a:ext uri="{FF2B5EF4-FFF2-40B4-BE49-F238E27FC236}">
                <a16:creationId xmlns:a16="http://schemas.microsoft.com/office/drawing/2014/main" id="{A0E22E47-1C79-58F8-6730-DEA3413544D0}"/>
              </a:ext>
            </a:extLst>
          </p:cNvPr>
          <p:cNvSpPr txBox="1"/>
          <p:nvPr/>
        </p:nvSpPr>
        <p:spPr>
          <a:xfrm>
            <a:off x="5251939" y="160709"/>
            <a:ext cx="6940062" cy="6555641"/>
          </a:xfrm>
          <a:prstGeom prst="rect">
            <a:avLst/>
          </a:prstGeom>
          <a:noFill/>
        </p:spPr>
        <p:txBody>
          <a:bodyPr wrap="square">
            <a:spAutoFit/>
          </a:bodyPr>
          <a:lstStyle/>
          <a:p>
            <a:r>
              <a:rPr lang="en-IN" sz="2000" b="1" dirty="0">
                <a:latin typeface="+mj-lt"/>
              </a:rPr>
              <a:t>2. </a:t>
            </a:r>
            <a:r>
              <a:rPr lang="en-IN" sz="2000" b="1" dirty="0" err="1">
                <a:latin typeface="+mj-lt"/>
              </a:rPr>
              <a:t>ProductController</a:t>
            </a:r>
            <a:r>
              <a:rPr lang="en-IN" sz="2000" b="1" dirty="0">
                <a:latin typeface="+mj-lt"/>
              </a:rPr>
              <a:t> Class</a:t>
            </a:r>
          </a:p>
          <a:p>
            <a:endParaRPr lang="en-IN" sz="2000" b="1" dirty="0">
              <a:latin typeface="+mj-lt"/>
            </a:endParaRPr>
          </a:p>
          <a:p>
            <a:r>
              <a:rPr lang="en-IN" sz="2000" b="1" dirty="0">
                <a:latin typeface="+mj-lt"/>
              </a:rPr>
              <a:t>Pseudocode</a:t>
            </a:r>
          </a:p>
          <a:p>
            <a:r>
              <a:rPr lang="en-IN" sz="2000" dirty="0">
                <a:latin typeface="+mj-lt"/>
              </a:rPr>
              <a:t>CLASS </a:t>
            </a:r>
            <a:r>
              <a:rPr lang="en-IN" sz="2000" dirty="0" err="1">
                <a:latin typeface="+mj-lt"/>
              </a:rPr>
              <a:t>ProductController</a:t>
            </a:r>
            <a:endParaRPr lang="en-IN" sz="2000" dirty="0">
              <a:latin typeface="+mj-lt"/>
            </a:endParaRPr>
          </a:p>
          <a:p>
            <a:r>
              <a:rPr lang="en-IN" sz="2000" dirty="0">
                <a:latin typeface="+mj-lt"/>
              </a:rPr>
              <a:t>FUNCTION </a:t>
            </a:r>
            <a:r>
              <a:rPr lang="en-IN" sz="2000" dirty="0" err="1">
                <a:latin typeface="+mj-lt"/>
              </a:rPr>
              <a:t>addProduct</a:t>
            </a:r>
            <a:r>
              <a:rPr lang="en-IN" sz="2000" dirty="0">
                <a:latin typeface="+mj-lt"/>
              </a:rPr>
              <a:t>(</a:t>
            </a:r>
            <a:r>
              <a:rPr lang="en-IN" sz="2000" dirty="0" err="1">
                <a:latin typeface="+mj-lt"/>
              </a:rPr>
              <a:t>productData</a:t>
            </a:r>
            <a:r>
              <a:rPr lang="en-IN" sz="2000" dirty="0">
                <a:latin typeface="+mj-lt"/>
              </a:rPr>
              <a:t>)</a:t>
            </a:r>
          </a:p>
          <a:p>
            <a:r>
              <a:rPr lang="en-IN" sz="2000" dirty="0">
                <a:latin typeface="+mj-lt"/>
              </a:rPr>
              <a:t>        </a:t>
            </a:r>
            <a:r>
              <a:rPr lang="en-IN" sz="2000" dirty="0" err="1">
                <a:latin typeface="+mj-lt"/>
              </a:rPr>
              <a:t>ProductService.addProduct</a:t>
            </a:r>
            <a:r>
              <a:rPr lang="en-IN" sz="2000" dirty="0">
                <a:latin typeface="+mj-lt"/>
              </a:rPr>
              <a:t>(</a:t>
            </a:r>
            <a:r>
              <a:rPr lang="en-IN" sz="2000" dirty="0" err="1">
                <a:latin typeface="+mj-lt"/>
              </a:rPr>
              <a:t>productData</a:t>
            </a:r>
            <a:r>
              <a:rPr lang="en-IN" sz="2000" dirty="0">
                <a:latin typeface="+mj-lt"/>
              </a:rPr>
              <a:t>)</a:t>
            </a:r>
          </a:p>
          <a:p>
            <a:r>
              <a:rPr lang="en-IN" sz="2000" dirty="0">
                <a:latin typeface="+mj-lt"/>
              </a:rPr>
              <a:t>    END FUNCTION</a:t>
            </a:r>
          </a:p>
          <a:p>
            <a:endParaRPr lang="en-IN" sz="2000" dirty="0">
              <a:latin typeface="+mj-lt"/>
            </a:endParaRPr>
          </a:p>
          <a:p>
            <a:r>
              <a:rPr lang="en-IN" sz="2000" dirty="0">
                <a:latin typeface="+mj-lt"/>
              </a:rPr>
              <a:t>    FUNCTION </a:t>
            </a:r>
            <a:r>
              <a:rPr lang="en-IN" sz="2000" dirty="0" err="1">
                <a:latin typeface="+mj-lt"/>
              </a:rPr>
              <a:t>stockIn</a:t>
            </a:r>
            <a:r>
              <a:rPr lang="en-IN" sz="2000" dirty="0">
                <a:latin typeface="+mj-lt"/>
              </a:rPr>
              <a:t>(</a:t>
            </a:r>
            <a:r>
              <a:rPr lang="en-IN" sz="2000" dirty="0" err="1">
                <a:latin typeface="+mj-lt"/>
              </a:rPr>
              <a:t>productId</a:t>
            </a:r>
            <a:r>
              <a:rPr lang="en-IN" sz="2000" dirty="0">
                <a:latin typeface="+mj-lt"/>
              </a:rPr>
              <a:t>, quantity)</a:t>
            </a:r>
          </a:p>
          <a:p>
            <a:r>
              <a:rPr lang="en-IN" sz="2000" dirty="0">
                <a:latin typeface="+mj-lt"/>
              </a:rPr>
              <a:t>        </a:t>
            </a:r>
            <a:r>
              <a:rPr lang="en-IN" sz="2000" dirty="0" err="1">
                <a:latin typeface="+mj-lt"/>
              </a:rPr>
              <a:t>ProductService.increaseStock</a:t>
            </a:r>
            <a:r>
              <a:rPr lang="en-IN" sz="2000" dirty="0">
                <a:latin typeface="+mj-lt"/>
              </a:rPr>
              <a:t>(</a:t>
            </a:r>
            <a:r>
              <a:rPr lang="en-IN" sz="2000" dirty="0" err="1">
                <a:latin typeface="+mj-lt"/>
              </a:rPr>
              <a:t>productId</a:t>
            </a:r>
            <a:r>
              <a:rPr lang="en-IN" sz="2000" dirty="0">
                <a:latin typeface="+mj-lt"/>
              </a:rPr>
              <a:t>, quantity)</a:t>
            </a:r>
          </a:p>
          <a:p>
            <a:r>
              <a:rPr lang="en-IN" sz="2000" dirty="0">
                <a:latin typeface="+mj-lt"/>
              </a:rPr>
              <a:t>    END FUNCTION</a:t>
            </a:r>
          </a:p>
          <a:p>
            <a:endParaRPr lang="en-IN" sz="2000" dirty="0">
              <a:latin typeface="+mj-lt"/>
            </a:endParaRPr>
          </a:p>
          <a:p>
            <a:r>
              <a:rPr lang="en-IN" sz="2000" dirty="0">
                <a:latin typeface="+mj-lt"/>
              </a:rPr>
              <a:t>    FUNCTION </a:t>
            </a:r>
            <a:r>
              <a:rPr lang="en-IN" sz="2000" dirty="0" err="1">
                <a:latin typeface="+mj-lt"/>
              </a:rPr>
              <a:t>stockOut</a:t>
            </a:r>
            <a:r>
              <a:rPr lang="en-IN" sz="2000" dirty="0">
                <a:latin typeface="+mj-lt"/>
              </a:rPr>
              <a:t>(</a:t>
            </a:r>
            <a:r>
              <a:rPr lang="en-IN" sz="2000" dirty="0" err="1">
                <a:latin typeface="+mj-lt"/>
              </a:rPr>
              <a:t>productId</a:t>
            </a:r>
            <a:r>
              <a:rPr lang="en-IN" sz="2000" dirty="0">
                <a:latin typeface="+mj-lt"/>
              </a:rPr>
              <a:t>, quantity)</a:t>
            </a:r>
          </a:p>
          <a:p>
            <a:r>
              <a:rPr lang="en-IN" sz="2000" dirty="0">
                <a:latin typeface="+mj-lt"/>
              </a:rPr>
              <a:t>        </a:t>
            </a:r>
            <a:r>
              <a:rPr lang="en-IN" sz="2000" dirty="0" err="1">
                <a:latin typeface="+mj-lt"/>
              </a:rPr>
              <a:t>ProductService.decreaseStock</a:t>
            </a:r>
            <a:r>
              <a:rPr lang="en-IN" sz="2000" dirty="0">
                <a:latin typeface="+mj-lt"/>
              </a:rPr>
              <a:t>(</a:t>
            </a:r>
            <a:r>
              <a:rPr lang="en-IN" sz="2000" dirty="0" err="1">
                <a:latin typeface="+mj-lt"/>
              </a:rPr>
              <a:t>productId</a:t>
            </a:r>
            <a:r>
              <a:rPr lang="en-IN" sz="2000" dirty="0">
                <a:latin typeface="+mj-lt"/>
              </a:rPr>
              <a:t>, quantity)</a:t>
            </a:r>
          </a:p>
          <a:p>
            <a:r>
              <a:rPr lang="en-IN" sz="2000" dirty="0">
                <a:latin typeface="+mj-lt"/>
              </a:rPr>
              <a:t>    END FUNCTION</a:t>
            </a:r>
          </a:p>
          <a:p>
            <a:r>
              <a:rPr lang="en-IN" sz="2000" dirty="0">
                <a:latin typeface="+mj-lt"/>
              </a:rPr>
              <a:t>END CLASS</a:t>
            </a:r>
          </a:p>
          <a:p>
            <a:endParaRPr lang="en-IN" sz="2000" dirty="0">
              <a:latin typeface="+mj-lt"/>
            </a:endParaRPr>
          </a:p>
          <a:p>
            <a:r>
              <a:rPr lang="en-IN" sz="2000" b="1" dirty="0">
                <a:latin typeface="+mj-lt"/>
              </a:rPr>
              <a:t>Explanation</a:t>
            </a:r>
            <a:endParaRPr lang="en-IN" sz="2000" dirty="0">
              <a:latin typeface="+mj-lt"/>
            </a:endParaRPr>
          </a:p>
          <a:p>
            <a:pPr lvl="0"/>
            <a:r>
              <a:rPr lang="en-IN" sz="2000" dirty="0">
                <a:latin typeface="+mj-lt"/>
              </a:rPr>
              <a:t>Receives UI requests</a:t>
            </a:r>
          </a:p>
          <a:p>
            <a:pPr lvl="0"/>
            <a:r>
              <a:rPr lang="en-IN" sz="2000" dirty="0">
                <a:latin typeface="+mj-lt"/>
              </a:rPr>
              <a:t>Sends work to service layer</a:t>
            </a:r>
          </a:p>
          <a:p>
            <a:pPr lvl="0"/>
            <a:r>
              <a:rPr lang="en-IN" sz="2000" dirty="0">
                <a:latin typeface="+mj-lt"/>
              </a:rPr>
              <a:t>Does not touch database directly</a:t>
            </a:r>
          </a:p>
        </p:txBody>
      </p:sp>
    </p:spTree>
    <p:extLst>
      <p:ext uri="{BB962C8B-B14F-4D97-AF65-F5344CB8AC3E}">
        <p14:creationId xmlns:p14="http://schemas.microsoft.com/office/powerpoint/2010/main" val="270964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276761F-793D-AFC0-4757-31B1CD7DF6B1}"/>
              </a:ext>
            </a:extLst>
          </p:cNvPr>
          <p:cNvSpPr>
            <a:spLocks noGrp="1"/>
          </p:cNvSpPr>
          <p:nvPr>
            <p:ph type="sldNum" sz="quarter" idx="4"/>
          </p:nvPr>
        </p:nvSpPr>
        <p:spPr/>
        <p:txBody>
          <a:bodyPr/>
          <a:lstStyle/>
          <a:p>
            <a:fld id="{58FB4751-880F-D840-AAA9-3A15815CC996}" type="slidenum">
              <a:rPr lang="en-US" smtClean="0"/>
              <a:pPr/>
              <a:t>17</a:t>
            </a:fld>
            <a:endParaRPr lang="en-US" dirty="0"/>
          </a:p>
        </p:txBody>
      </p:sp>
      <p:sp>
        <p:nvSpPr>
          <p:cNvPr id="7" name="TextBox 6">
            <a:extLst>
              <a:ext uri="{FF2B5EF4-FFF2-40B4-BE49-F238E27FC236}">
                <a16:creationId xmlns:a16="http://schemas.microsoft.com/office/drawing/2014/main" id="{0E373A48-E93D-FB0A-1FF1-6F870ACE3E94}"/>
              </a:ext>
            </a:extLst>
          </p:cNvPr>
          <p:cNvSpPr txBox="1"/>
          <p:nvPr/>
        </p:nvSpPr>
        <p:spPr>
          <a:xfrm>
            <a:off x="398585" y="257908"/>
            <a:ext cx="5697415" cy="6555641"/>
          </a:xfrm>
          <a:prstGeom prst="rect">
            <a:avLst/>
          </a:prstGeom>
          <a:noFill/>
        </p:spPr>
        <p:txBody>
          <a:bodyPr wrap="square">
            <a:spAutoFit/>
          </a:bodyPr>
          <a:lstStyle/>
          <a:p>
            <a:r>
              <a:rPr lang="en-IN" sz="2000" b="1" dirty="0">
                <a:latin typeface="+mj-lt"/>
              </a:rPr>
              <a:t>3. </a:t>
            </a:r>
            <a:r>
              <a:rPr lang="en-IN" sz="2000" b="1" dirty="0" err="1">
                <a:latin typeface="+mj-lt"/>
              </a:rPr>
              <a:t>ProductService</a:t>
            </a:r>
            <a:r>
              <a:rPr lang="en-IN" sz="2000" b="1" dirty="0">
                <a:latin typeface="+mj-lt"/>
              </a:rPr>
              <a:t> Class</a:t>
            </a:r>
            <a:br>
              <a:rPr lang="en-IN" sz="2000" dirty="0">
                <a:latin typeface="+mj-lt"/>
              </a:rPr>
            </a:br>
            <a:r>
              <a:rPr lang="en-IN" sz="2000" b="1" dirty="0">
                <a:latin typeface="+mj-lt"/>
              </a:rPr>
              <a:t>Pseudocode</a:t>
            </a:r>
            <a:br>
              <a:rPr lang="en-IN" sz="2000" b="1" dirty="0">
                <a:latin typeface="+mj-lt"/>
              </a:rPr>
            </a:br>
            <a:br>
              <a:rPr lang="en-IN" sz="2000" dirty="0">
                <a:latin typeface="+mj-lt"/>
              </a:rPr>
            </a:br>
            <a:r>
              <a:rPr lang="en-IN" sz="2000" b="0" dirty="0">
                <a:latin typeface="+mj-lt"/>
              </a:rPr>
              <a:t>CLASS </a:t>
            </a:r>
            <a:r>
              <a:rPr lang="en-IN" sz="2000" b="0" dirty="0" err="1">
                <a:latin typeface="+mj-lt"/>
              </a:rPr>
              <a:t>ProductService</a:t>
            </a:r>
            <a:br>
              <a:rPr lang="en-IN" sz="2000" b="0" dirty="0">
                <a:latin typeface="+mj-lt"/>
              </a:rPr>
            </a:br>
            <a:r>
              <a:rPr lang="en-IN" sz="2000" b="0" dirty="0">
                <a:latin typeface="+mj-lt"/>
              </a:rPr>
              <a:t> </a:t>
            </a:r>
            <a:br>
              <a:rPr lang="en-IN" sz="2000" b="0" dirty="0">
                <a:latin typeface="+mj-lt"/>
              </a:rPr>
            </a:br>
            <a:r>
              <a:rPr lang="en-IN" sz="2000" b="0" dirty="0">
                <a:latin typeface="+mj-lt"/>
              </a:rPr>
              <a:t>    FUNCTION </a:t>
            </a:r>
            <a:r>
              <a:rPr lang="en-IN" sz="2000" b="0" dirty="0" err="1">
                <a:latin typeface="+mj-lt"/>
              </a:rPr>
              <a:t>addProduct</a:t>
            </a:r>
            <a:r>
              <a:rPr lang="en-IN" sz="2000" b="0" dirty="0">
                <a:latin typeface="+mj-lt"/>
              </a:rPr>
              <a:t>(</a:t>
            </a:r>
            <a:r>
              <a:rPr lang="en-IN" sz="2000" b="0" dirty="0" err="1">
                <a:latin typeface="+mj-lt"/>
              </a:rPr>
              <a:t>productData</a:t>
            </a:r>
            <a:r>
              <a:rPr lang="en-IN" sz="2000" b="0" dirty="0">
                <a:latin typeface="+mj-lt"/>
              </a:rPr>
              <a:t>)</a:t>
            </a:r>
            <a:br>
              <a:rPr lang="en-IN" sz="2000" b="0" dirty="0">
                <a:latin typeface="+mj-lt"/>
              </a:rPr>
            </a:br>
            <a:r>
              <a:rPr lang="en-IN" sz="2000" b="0" dirty="0">
                <a:latin typeface="+mj-lt"/>
              </a:rPr>
              <a:t>        IF product SKU not exists THEN</a:t>
            </a:r>
            <a:br>
              <a:rPr lang="en-IN" sz="2000" b="0" dirty="0">
                <a:latin typeface="+mj-lt"/>
              </a:rPr>
            </a:br>
            <a:r>
              <a:rPr lang="en-IN" sz="2000" b="0" dirty="0">
                <a:latin typeface="+mj-lt"/>
              </a:rPr>
              <a:t>            save product</a:t>
            </a:r>
            <a:br>
              <a:rPr lang="en-IN" sz="2000" b="0" dirty="0">
                <a:latin typeface="+mj-lt"/>
              </a:rPr>
            </a:br>
            <a:r>
              <a:rPr lang="en-IN" sz="2000" b="0" dirty="0">
                <a:latin typeface="+mj-lt"/>
              </a:rPr>
              <a:t>        ELSE</a:t>
            </a:r>
            <a:br>
              <a:rPr lang="en-IN" sz="2000" b="0" dirty="0">
                <a:latin typeface="+mj-lt"/>
              </a:rPr>
            </a:br>
            <a:r>
              <a:rPr lang="en-IN" sz="2000" b="0" dirty="0">
                <a:latin typeface="+mj-lt"/>
              </a:rPr>
              <a:t>            RETURN "Duplicate Product"</a:t>
            </a:r>
            <a:br>
              <a:rPr lang="en-IN" sz="2000" b="0" dirty="0">
                <a:latin typeface="+mj-lt"/>
              </a:rPr>
            </a:br>
            <a:r>
              <a:rPr lang="en-IN" sz="2000" b="0" dirty="0">
                <a:latin typeface="+mj-lt"/>
              </a:rPr>
              <a:t>        END IF</a:t>
            </a:r>
            <a:br>
              <a:rPr lang="en-IN" sz="2000" b="0" dirty="0">
                <a:latin typeface="+mj-lt"/>
              </a:rPr>
            </a:br>
            <a:r>
              <a:rPr lang="en-IN" sz="2000" b="0" dirty="0">
                <a:latin typeface="+mj-lt"/>
              </a:rPr>
              <a:t>    END FUNCTION</a:t>
            </a:r>
            <a:br>
              <a:rPr lang="en-IN" sz="2000" b="0" dirty="0">
                <a:latin typeface="+mj-lt"/>
              </a:rPr>
            </a:br>
            <a:r>
              <a:rPr lang="en-IN" sz="2000" b="0" dirty="0">
                <a:latin typeface="+mj-lt"/>
              </a:rPr>
              <a:t> </a:t>
            </a:r>
            <a:br>
              <a:rPr lang="en-IN" sz="2000" b="0" dirty="0">
                <a:latin typeface="+mj-lt"/>
              </a:rPr>
            </a:br>
            <a:r>
              <a:rPr lang="en-IN" sz="2000" b="0" dirty="0">
                <a:latin typeface="+mj-lt"/>
              </a:rPr>
              <a:t>    </a:t>
            </a:r>
            <a:r>
              <a:rPr lang="en-IN" sz="2000" b="0" dirty="0" err="1">
                <a:latin typeface="+mj-lt"/>
              </a:rPr>
              <a:t>FUNCTION</a:t>
            </a:r>
            <a:r>
              <a:rPr lang="en-IN" sz="2000" b="0" dirty="0">
                <a:latin typeface="+mj-lt"/>
              </a:rPr>
              <a:t> </a:t>
            </a:r>
            <a:r>
              <a:rPr lang="en-IN" sz="2000" b="0" dirty="0" err="1">
                <a:latin typeface="+mj-lt"/>
              </a:rPr>
              <a:t>increaseStock</a:t>
            </a:r>
            <a:r>
              <a:rPr lang="en-IN" sz="2000" b="0" dirty="0">
                <a:latin typeface="+mj-lt"/>
              </a:rPr>
              <a:t>(</a:t>
            </a:r>
            <a:r>
              <a:rPr lang="en-IN" sz="2000" b="0" dirty="0" err="1">
                <a:latin typeface="+mj-lt"/>
              </a:rPr>
              <a:t>productId</a:t>
            </a:r>
            <a:r>
              <a:rPr lang="en-IN" sz="2000" b="0" dirty="0">
                <a:latin typeface="+mj-lt"/>
              </a:rPr>
              <a:t>, quantity)</a:t>
            </a:r>
            <a:br>
              <a:rPr lang="en-IN" sz="2000" b="0" dirty="0">
                <a:latin typeface="+mj-lt"/>
              </a:rPr>
            </a:br>
            <a:r>
              <a:rPr lang="en-IN" sz="2000" b="0" dirty="0">
                <a:latin typeface="+mj-lt"/>
              </a:rPr>
              <a:t>        </a:t>
            </a:r>
            <a:r>
              <a:rPr lang="en-IN" sz="2000" b="0" dirty="0" err="1">
                <a:latin typeface="+mj-lt"/>
              </a:rPr>
              <a:t>product.stock</a:t>
            </a:r>
            <a:r>
              <a:rPr lang="en-IN" sz="2000" b="0" dirty="0">
                <a:latin typeface="+mj-lt"/>
              </a:rPr>
              <a:t> += quantity</a:t>
            </a:r>
            <a:br>
              <a:rPr lang="en-IN" sz="2000" b="0" dirty="0">
                <a:latin typeface="+mj-lt"/>
              </a:rPr>
            </a:br>
            <a:r>
              <a:rPr lang="en-IN" sz="2000" b="0" dirty="0">
                <a:latin typeface="+mj-lt"/>
              </a:rPr>
              <a:t>        save product</a:t>
            </a:r>
            <a:br>
              <a:rPr lang="en-IN" sz="2000" b="0" dirty="0">
                <a:latin typeface="+mj-lt"/>
              </a:rPr>
            </a:br>
            <a:r>
              <a:rPr lang="en-IN" sz="2000" b="0" dirty="0">
                <a:latin typeface="+mj-lt"/>
              </a:rPr>
              <a:t>        TransactionService.log("STOCK_IN", </a:t>
            </a:r>
            <a:r>
              <a:rPr lang="en-IN" sz="2000" b="0" dirty="0" err="1">
                <a:latin typeface="+mj-lt"/>
              </a:rPr>
              <a:t>productId</a:t>
            </a:r>
            <a:r>
              <a:rPr lang="en-IN" sz="2000" b="0" dirty="0">
                <a:latin typeface="+mj-lt"/>
              </a:rPr>
              <a:t>, quantity)</a:t>
            </a:r>
            <a:br>
              <a:rPr lang="en-IN" sz="2000" b="0" dirty="0">
                <a:latin typeface="+mj-lt"/>
              </a:rPr>
            </a:br>
            <a:r>
              <a:rPr lang="en-IN" sz="2000" b="0" dirty="0">
                <a:latin typeface="+mj-lt"/>
              </a:rPr>
              <a:t>        </a:t>
            </a:r>
            <a:r>
              <a:rPr lang="en-IN" sz="2000" b="0" dirty="0" err="1">
                <a:latin typeface="+mj-lt"/>
              </a:rPr>
              <a:t>AlertService.checkLowStock</a:t>
            </a:r>
            <a:r>
              <a:rPr lang="en-IN" sz="2000" b="0" dirty="0">
                <a:latin typeface="+mj-lt"/>
              </a:rPr>
              <a:t>(product)</a:t>
            </a:r>
            <a:br>
              <a:rPr lang="en-IN" sz="2000" b="0" dirty="0">
                <a:latin typeface="+mj-lt"/>
              </a:rPr>
            </a:br>
            <a:r>
              <a:rPr lang="en-IN" sz="2000" b="0" dirty="0">
                <a:latin typeface="+mj-lt"/>
              </a:rPr>
              <a:t>    END FUNCTION</a:t>
            </a:r>
            <a:endParaRPr lang="en-IN" sz="2000" dirty="0">
              <a:latin typeface="+mj-lt"/>
            </a:endParaRPr>
          </a:p>
        </p:txBody>
      </p:sp>
      <p:sp>
        <p:nvSpPr>
          <p:cNvPr id="9" name="TextBox 8">
            <a:extLst>
              <a:ext uri="{FF2B5EF4-FFF2-40B4-BE49-F238E27FC236}">
                <a16:creationId xmlns:a16="http://schemas.microsoft.com/office/drawing/2014/main" id="{FCFDB74F-F409-DC01-E8B0-008282E6CD09}"/>
              </a:ext>
            </a:extLst>
          </p:cNvPr>
          <p:cNvSpPr txBox="1"/>
          <p:nvPr/>
        </p:nvSpPr>
        <p:spPr>
          <a:xfrm>
            <a:off x="6096000" y="257909"/>
            <a:ext cx="5257800" cy="6555641"/>
          </a:xfrm>
          <a:prstGeom prst="rect">
            <a:avLst/>
          </a:prstGeom>
          <a:noFill/>
        </p:spPr>
        <p:txBody>
          <a:bodyPr wrap="square">
            <a:spAutoFit/>
          </a:bodyPr>
          <a:lstStyle/>
          <a:p>
            <a:r>
              <a:rPr lang="en-IN" sz="2000" dirty="0">
                <a:latin typeface="+mj-lt"/>
              </a:rPr>
              <a:t>FUNCTION </a:t>
            </a:r>
            <a:r>
              <a:rPr lang="en-IN" sz="2000" dirty="0" err="1">
                <a:latin typeface="+mj-lt"/>
              </a:rPr>
              <a:t>decreaseStock</a:t>
            </a:r>
            <a:r>
              <a:rPr lang="en-IN" sz="2000" dirty="0">
                <a:latin typeface="+mj-lt"/>
              </a:rPr>
              <a:t>(</a:t>
            </a:r>
            <a:r>
              <a:rPr lang="en-IN" sz="2000" dirty="0" err="1">
                <a:latin typeface="+mj-lt"/>
              </a:rPr>
              <a:t>productId</a:t>
            </a:r>
            <a:r>
              <a:rPr lang="en-IN" sz="2000" dirty="0">
                <a:latin typeface="+mj-lt"/>
              </a:rPr>
              <a:t>, quantity)</a:t>
            </a:r>
          </a:p>
          <a:p>
            <a:r>
              <a:rPr lang="en-IN" sz="2000" dirty="0">
                <a:latin typeface="+mj-lt"/>
              </a:rPr>
              <a:t>        IF </a:t>
            </a:r>
            <a:r>
              <a:rPr lang="en-IN" sz="2000" dirty="0" err="1">
                <a:latin typeface="+mj-lt"/>
              </a:rPr>
              <a:t>product.stock</a:t>
            </a:r>
            <a:r>
              <a:rPr lang="en-IN" sz="2000" dirty="0">
                <a:latin typeface="+mj-lt"/>
              </a:rPr>
              <a:t> &gt;= quantity THEN</a:t>
            </a:r>
          </a:p>
          <a:p>
            <a:r>
              <a:rPr lang="en-IN" sz="2000" dirty="0">
                <a:latin typeface="+mj-lt"/>
              </a:rPr>
              <a:t>            </a:t>
            </a:r>
            <a:r>
              <a:rPr lang="en-IN" sz="2000" dirty="0" err="1">
                <a:latin typeface="+mj-lt"/>
              </a:rPr>
              <a:t>product.stock</a:t>
            </a:r>
            <a:r>
              <a:rPr lang="en-IN" sz="2000" dirty="0">
                <a:latin typeface="+mj-lt"/>
              </a:rPr>
              <a:t> -= quantity</a:t>
            </a:r>
          </a:p>
          <a:p>
            <a:r>
              <a:rPr lang="en-IN" sz="2000" dirty="0">
                <a:latin typeface="+mj-lt"/>
              </a:rPr>
              <a:t>            save product</a:t>
            </a:r>
          </a:p>
          <a:p>
            <a:r>
              <a:rPr lang="en-IN" sz="2000" dirty="0">
                <a:latin typeface="+mj-lt"/>
              </a:rPr>
              <a:t>            TransactionService.log("STOCK_OUT", </a:t>
            </a:r>
            <a:r>
              <a:rPr lang="en-IN" sz="2000" dirty="0" err="1">
                <a:latin typeface="+mj-lt"/>
              </a:rPr>
              <a:t>productId</a:t>
            </a:r>
            <a:r>
              <a:rPr lang="en-IN" sz="2000" dirty="0">
                <a:latin typeface="+mj-lt"/>
              </a:rPr>
              <a:t>, quantity)</a:t>
            </a:r>
          </a:p>
          <a:p>
            <a:r>
              <a:rPr lang="en-IN" sz="2000" dirty="0">
                <a:latin typeface="+mj-lt"/>
              </a:rPr>
              <a:t>            </a:t>
            </a:r>
            <a:r>
              <a:rPr lang="en-IN" sz="2000" dirty="0" err="1">
                <a:latin typeface="+mj-lt"/>
              </a:rPr>
              <a:t>AlertService.checkLowStock</a:t>
            </a:r>
            <a:r>
              <a:rPr lang="en-IN" sz="2000" dirty="0">
                <a:latin typeface="+mj-lt"/>
              </a:rPr>
              <a:t>(product)</a:t>
            </a:r>
          </a:p>
          <a:p>
            <a:r>
              <a:rPr lang="en-IN" sz="2000" dirty="0">
                <a:latin typeface="+mj-lt"/>
              </a:rPr>
              <a:t>        ELSE</a:t>
            </a:r>
          </a:p>
          <a:p>
            <a:r>
              <a:rPr lang="en-IN" sz="2000" dirty="0">
                <a:latin typeface="+mj-lt"/>
              </a:rPr>
              <a:t>            RETURN "Insufficient Stock"</a:t>
            </a:r>
          </a:p>
          <a:p>
            <a:r>
              <a:rPr lang="en-IN" sz="2000" dirty="0">
                <a:latin typeface="+mj-lt"/>
              </a:rPr>
              <a:t>        END IF</a:t>
            </a:r>
          </a:p>
          <a:p>
            <a:r>
              <a:rPr lang="en-IN" sz="2000" dirty="0">
                <a:latin typeface="+mj-lt"/>
              </a:rPr>
              <a:t>    END FUNCTION</a:t>
            </a:r>
          </a:p>
          <a:p>
            <a:r>
              <a:rPr lang="en-IN" sz="2000" dirty="0">
                <a:latin typeface="+mj-lt"/>
              </a:rPr>
              <a:t>END CLASS</a:t>
            </a:r>
          </a:p>
          <a:p>
            <a:endParaRPr lang="en-IN" sz="2000" dirty="0">
              <a:latin typeface="+mj-lt"/>
            </a:endParaRPr>
          </a:p>
          <a:p>
            <a:r>
              <a:rPr lang="en-IN" sz="2000" b="1" dirty="0">
                <a:latin typeface="+mj-lt"/>
              </a:rPr>
              <a:t>Explanation</a:t>
            </a:r>
          </a:p>
          <a:p>
            <a:r>
              <a:rPr lang="en-IN" sz="2000" dirty="0">
                <a:latin typeface="+mj-lt"/>
              </a:rPr>
              <a:t>•Central inventory logic</a:t>
            </a:r>
          </a:p>
          <a:p>
            <a:r>
              <a:rPr lang="en-IN" sz="2000" dirty="0">
                <a:latin typeface="+mj-lt"/>
              </a:rPr>
              <a:t>•Updates stock</a:t>
            </a:r>
          </a:p>
          <a:p>
            <a:r>
              <a:rPr lang="en-IN" sz="2000" dirty="0">
                <a:latin typeface="+mj-lt"/>
              </a:rPr>
              <a:t>•Logs transactions</a:t>
            </a:r>
          </a:p>
          <a:p>
            <a:r>
              <a:rPr lang="en-IN" sz="2000" dirty="0">
                <a:latin typeface="+mj-lt"/>
              </a:rPr>
              <a:t>•Triggers alerts</a:t>
            </a:r>
          </a:p>
        </p:txBody>
      </p:sp>
    </p:spTree>
    <p:extLst>
      <p:ext uri="{BB962C8B-B14F-4D97-AF65-F5344CB8AC3E}">
        <p14:creationId xmlns:p14="http://schemas.microsoft.com/office/powerpoint/2010/main" val="1032695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4700A3C-8DB2-7946-E781-8A38734F9444}"/>
              </a:ext>
            </a:extLst>
          </p:cNvPr>
          <p:cNvSpPr>
            <a:spLocks noGrp="1"/>
          </p:cNvSpPr>
          <p:nvPr>
            <p:ph type="sldNum" sz="quarter" idx="4"/>
          </p:nvPr>
        </p:nvSpPr>
        <p:spPr/>
        <p:txBody>
          <a:bodyPr/>
          <a:lstStyle/>
          <a:p>
            <a:fld id="{58FB4751-880F-D840-AAA9-3A15815CC996}" type="slidenum">
              <a:rPr lang="en-US" smtClean="0"/>
              <a:pPr/>
              <a:t>18</a:t>
            </a:fld>
            <a:endParaRPr lang="en-US" dirty="0"/>
          </a:p>
        </p:txBody>
      </p:sp>
      <p:sp>
        <p:nvSpPr>
          <p:cNvPr id="7" name="TextBox 6">
            <a:extLst>
              <a:ext uri="{FF2B5EF4-FFF2-40B4-BE49-F238E27FC236}">
                <a16:creationId xmlns:a16="http://schemas.microsoft.com/office/drawing/2014/main" id="{AAE6B430-3FC1-FFD7-5C78-2AEF7E84FD30}"/>
              </a:ext>
            </a:extLst>
          </p:cNvPr>
          <p:cNvSpPr txBox="1"/>
          <p:nvPr/>
        </p:nvSpPr>
        <p:spPr>
          <a:xfrm>
            <a:off x="1383323" y="257909"/>
            <a:ext cx="7760677" cy="6646046"/>
          </a:xfrm>
          <a:prstGeom prst="rect">
            <a:avLst/>
          </a:prstGeom>
          <a:noFill/>
        </p:spPr>
        <p:txBody>
          <a:bodyPr wrap="square">
            <a:spAutoFit/>
          </a:bodyPr>
          <a:lstStyle/>
          <a:p>
            <a:pPr>
              <a:lnSpc>
                <a:spcPct val="107000"/>
              </a:lnSpc>
              <a:spcAft>
                <a:spcPts val="800"/>
              </a:spcAft>
              <a:buNone/>
            </a:pPr>
            <a:r>
              <a:rPr lang="en-IN" sz="2400" b="1" kern="0" dirty="0">
                <a:effectLst/>
                <a:latin typeface="+mj-lt"/>
                <a:ea typeface="Times New Roman" panose="02020603050405020304" pitchFamily="18" charset="0"/>
                <a:cs typeface="Latha" panose="020B0604020202020204" pitchFamily="34" charset="0"/>
              </a:rPr>
              <a:t>4.ProductRepository Class</a:t>
            </a:r>
            <a:endParaRPr lang="en-IN" sz="24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pPr>
            <a:r>
              <a:rPr lang="en-IN" sz="2400" b="1" kern="0" dirty="0">
                <a:effectLst/>
                <a:latin typeface="+mj-lt"/>
                <a:ea typeface="Times New Roman" panose="02020603050405020304" pitchFamily="18" charset="0"/>
                <a:cs typeface="Latha" panose="020B0604020202020204" pitchFamily="34" charset="0"/>
              </a:rPr>
              <a:t>Pseudocode</a:t>
            </a:r>
            <a:endParaRPr lang="en-IN" sz="24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400" kern="0" dirty="0">
                <a:effectLst/>
                <a:latin typeface="+mj-lt"/>
                <a:ea typeface="Times New Roman" panose="02020603050405020304" pitchFamily="18" charset="0"/>
                <a:cs typeface="Latha" panose="020B0604020202020204" pitchFamily="34" charset="0"/>
              </a:rPr>
              <a:t>CLASS </a:t>
            </a:r>
            <a:r>
              <a:rPr lang="en-IN" sz="2400" kern="0" dirty="0" err="1">
                <a:effectLst/>
                <a:latin typeface="+mj-lt"/>
                <a:ea typeface="Times New Roman" panose="02020603050405020304" pitchFamily="18" charset="0"/>
                <a:cs typeface="Latha" panose="020B0604020202020204" pitchFamily="34" charset="0"/>
              </a:rPr>
              <a:t>ProductRepository</a:t>
            </a:r>
            <a:endParaRPr lang="en-IN" sz="24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400" kern="0" dirty="0">
                <a:effectLst/>
                <a:latin typeface="+mj-lt"/>
                <a:ea typeface="Times New Roman" panose="02020603050405020304" pitchFamily="18" charset="0"/>
                <a:cs typeface="Latha" panose="020B0604020202020204" pitchFamily="34" charset="0"/>
              </a:rPr>
              <a:t> </a:t>
            </a:r>
            <a:endParaRPr lang="en-IN" sz="24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400" kern="0" dirty="0">
                <a:effectLst/>
                <a:latin typeface="+mj-lt"/>
                <a:ea typeface="Times New Roman" panose="02020603050405020304" pitchFamily="18" charset="0"/>
                <a:cs typeface="Latha" panose="020B0604020202020204" pitchFamily="34" charset="0"/>
              </a:rPr>
              <a:t>    FUNCTION </a:t>
            </a:r>
            <a:r>
              <a:rPr lang="en-IN" sz="2400" kern="0" dirty="0" err="1">
                <a:effectLst/>
                <a:latin typeface="+mj-lt"/>
                <a:ea typeface="Times New Roman" panose="02020603050405020304" pitchFamily="18" charset="0"/>
                <a:cs typeface="Latha" panose="020B0604020202020204" pitchFamily="34" charset="0"/>
              </a:rPr>
              <a:t>findById</a:t>
            </a:r>
            <a:r>
              <a:rPr lang="en-IN" sz="2400" kern="0" dirty="0">
                <a:effectLst/>
                <a:latin typeface="+mj-lt"/>
                <a:ea typeface="Times New Roman" panose="02020603050405020304" pitchFamily="18" charset="0"/>
                <a:cs typeface="Latha" panose="020B0604020202020204" pitchFamily="34" charset="0"/>
              </a:rPr>
              <a:t>(</a:t>
            </a:r>
            <a:r>
              <a:rPr lang="en-IN" sz="2400" kern="0" dirty="0" err="1">
                <a:effectLst/>
                <a:latin typeface="+mj-lt"/>
                <a:ea typeface="Times New Roman" panose="02020603050405020304" pitchFamily="18" charset="0"/>
                <a:cs typeface="Latha" panose="020B0604020202020204" pitchFamily="34" charset="0"/>
              </a:rPr>
              <a:t>productId</a:t>
            </a:r>
            <a:r>
              <a:rPr lang="en-IN" sz="2400" kern="0" dirty="0">
                <a:effectLst/>
                <a:latin typeface="+mj-lt"/>
                <a:ea typeface="Times New Roman" panose="02020603050405020304" pitchFamily="18" charset="0"/>
                <a:cs typeface="Latha" panose="020B0604020202020204" pitchFamily="34" charset="0"/>
              </a:rPr>
              <a:t>)</a:t>
            </a:r>
            <a:endParaRPr lang="en-IN" sz="24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400" kern="0" dirty="0">
                <a:effectLst/>
                <a:latin typeface="+mj-lt"/>
                <a:ea typeface="Times New Roman" panose="02020603050405020304" pitchFamily="18" charset="0"/>
                <a:cs typeface="Latha" panose="020B0604020202020204" pitchFamily="34" charset="0"/>
              </a:rPr>
              <a:t>        RETURN product</a:t>
            </a:r>
            <a:endParaRPr lang="en-IN" sz="24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400" kern="0" dirty="0">
                <a:effectLst/>
                <a:latin typeface="+mj-lt"/>
                <a:ea typeface="Times New Roman" panose="02020603050405020304" pitchFamily="18" charset="0"/>
                <a:cs typeface="Latha" panose="020B0604020202020204" pitchFamily="34" charset="0"/>
              </a:rPr>
              <a:t>    END FUNCTION</a:t>
            </a:r>
            <a:endParaRPr lang="en-IN" sz="24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400" kern="0" dirty="0">
                <a:effectLst/>
                <a:latin typeface="+mj-lt"/>
                <a:ea typeface="Times New Roman" panose="02020603050405020304" pitchFamily="18" charset="0"/>
                <a:cs typeface="Latha" panose="020B0604020202020204" pitchFamily="34" charset="0"/>
              </a:rPr>
              <a:t> </a:t>
            </a:r>
            <a:endParaRPr lang="en-IN" sz="24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400" kern="0" dirty="0">
                <a:effectLst/>
                <a:latin typeface="+mj-lt"/>
                <a:ea typeface="Times New Roman" panose="02020603050405020304" pitchFamily="18" charset="0"/>
                <a:cs typeface="Latha" panose="020B0604020202020204" pitchFamily="34" charset="0"/>
              </a:rPr>
              <a:t>    FUNCTION save(product)</a:t>
            </a:r>
            <a:endParaRPr lang="en-IN" sz="24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400" kern="0" dirty="0">
                <a:effectLst/>
                <a:latin typeface="+mj-lt"/>
                <a:ea typeface="Times New Roman" panose="02020603050405020304" pitchFamily="18" charset="0"/>
                <a:cs typeface="Latha" panose="020B0604020202020204" pitchFamily="34" charset="0"/>
              </a:rPr>
              <a:t>        store product in database</a:t>
            </a:r>
            <a:endParaRPr lang="en-IN" sz="24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400" kern="0" dirty="0">
                <a:effectLst/>
                <a:latin typeface="+mj-lt"/>
                <a:ea typeface="Times New Roman" panose="02020603050405020304" pitchFamily="18" charset="0"/>
                <a:cs typeface="Latha" panose="020B0604020202020204" pitchFamily="34" charset="0"/>
              </a:rPr>
              <a:t>    END FUNCTION</a:t>
            </a:r>
            <a:endParaRPr lang="en-IN" sz="24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400" kern="0" dirty="0">
                <a:effectLst/>
                <a:latin typeface="+mj-lt"/>
                <a:ea typeface="Times New Roman" panose="02020603050405020304" pitchFamily="18" charset="0"/>
                <a:cs typeface="Latha" panose="020B0604020202020204" pitchFamily="34" charset="0"/>
              </a:rPr>
              <a:t> </a:t>
            </a:r>
            <a:endParaRPr lang="en-IN" sz="2400" kern="100" dirty="0">
              <a:effectLst/>
              <a:latin typeface="+mj-lt"/>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400" kern="0" dirty="0">
                <a:effectLst/>
                <a:latin typeface="+mj-lt"/>
                <a:ea typeface="Times New Roman" panose="02020603050405020304" pitchFamily="18" charset="0"/>
                <a:cs typeface="Latha" panose="020B0604020202020204" pitchFamily="34" charset="0"/>
              </a:rPr>
              <a:t>END CLASS</a:t>
            </a:r>
            <a:endParaRPr lang="en-IN" sz="2400" kern="100" dirty="0">
              <a:effectLst/>
              <a:latin typeface="+mj-lt"/>
              <a:ea typeface="Calibri" panose="020F0502020204030204" pitchFamily="34" charset="0"/>
              <a:cs typeface="Latha" panose="020B0604020202020204" pitchFamily="34" charset="0"/>
            </a:endParaRPr>
          </a:p>
        </p:txBody>
      </p:sp>
    </p:spTree>
    <p:extLst>
      <p:ext uri="{BB962C8B-B14F-4D97-AF65-F5344CB8AC3E}">
        <p14:creationId xmlns:p14="http://schemas.microsoft.com/office/powerpoint/2010/main" val="3444899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7E8F8-9096-F73D-C87E-A51616EA712F}"/>
              </a:ext>
            </a:extLst>
          </p:cNvPr>
          <p:cNvSpPr>
            <a:spLocks noGrp="1"/>
          </p:cNvSpPr>
          <p:nvPr>
            <p:ph type="title"/>
          </p:nvPr>
        </p:nvSpPr>
        <p:spPr>
          <a:xfrm>
            <a:off x="633044" y="914400"/>
            <a:ext cx="7816012" cy="914400"/>
          </a:xfrm>
        </p:spPr>
        <p:txBody>
          <a:bodyPr/>
          <a:lstStyle/>
          <a:p>
            <a:r>
              <a:rPr lang="en-IN" b="1" u="sng" dirty="0"/>
              <a:t>Database Schema:</a:t>
            </a:r>
            <a:br>
              <a:rPr lang="en-IN" b="1" u="sng" dirty="0"/>
            </a:br>
            <a:endParaRPr lang="en-IN" dirty="0"/>
          </a:p>
        </p:txBody>
      </p:sp>
      <p:sp>
        <p:nvSpPr>
          <p:cNvPr id="4" name="Slide Number Placeholder 3">
            <a:extLst>
              <a:ext uri="{FF2B5EF4-FFF2-40B4-BE49-F238E27FC236}">
                <a16:creationId xmlns:a16="http://schemas.microsoft.com/office/drawing/2014/main" id="{20023DEE-E444-1A7D-3066-58192ADA96B0}"/>
              </a:ext>
            </a:extLst>
          </p:cNvPr>
          <p:cNvSpPr>
            <a:spLocks noGrp="1"/>
          </p:cNvSpPr>
          <p:nvPr>
            <p:ph type="sldNum" sz="quarter" idx="4"/>
          </p:nvPr>
        </p:nvSpPr>
        <p:spPr/>
        <p:txBody>
          <a:bodyPr/>
          <a:lstStyle/>
          <a:p>
            <a:fld id="{58FB4751-880F-D840-AAA9-3A15815CC996}" type="slidenum">
              <a:rPr lang="en-US" smtClean="0"/>
              <a:pPr/>
              <a:t>19</a:t>
            </a:fld>
            <a:endParaRPr lang="en-US" dirty="0"/>
          </a:p>
        </p:txBody>
      </p:sp>
      <p:graphicFrame>
        <p:nvGraphicFramePr>
          <p:cNvPr id="5" name="Table 4">
            <a:extLst>
              <a:ext uri="{FF2B5EF4-FFF2-40B4-BE49-F238E27FC236}">
                <a16:creationId xmlns:a16="http://schemas.microsoft.com/office/drawing/2014/main" id="{66A08D7C-98EB-0C50-2C60-DACDE8B59CA2}"/>
              </a:ext>
            </a:extLst>
          </p:cNvPr>
          <p:cNvGraphicFramePr>
            <a:graphicFrameLocks noGrp="1"/>
          </p:cNvGraphicFramePr>
          <p:nvPr>
            <p:extLst>
              <p:ext uri="{D42A27DB-BD31-4B8C-83A1-F6EECF244321}">
                <p14:modId xmlns:p14="http://schemas.microsoft.com/office/powerpoint/2010/main" val="2042898889"/>
              </p:ext>
            </p:extLst>
          </p:nvPr>
        </p:nvGraphicFramePr>
        <p:xfrm>
          <a:off x="633047" y="1570892"/>
          <a:ext cx="10081845" cy="4262714"/>
        </p:xfrm>
        <a:graphic>
          <a:graphicData uri="http://schemas.openxmlformats.org/drawingml/2006/table">
            <a:tbl>
              <a:tblPr/>
              <a:tblGrid>
                <a:gridCol w="3360615">
                  <a:extLst>
                    <a:ext uri="{9D8B030D-6E8A-4147-A177-3AD203B41FA5}">
                      <a16:colId xmlns:a16="http://schemas.microsoft.com/office/drawing/2014/main" val="3147170656"/>
                    </a:ext>
                  </a:extLst>
                </a:gridCol>
                <a:gridCol w="3360615">
                  <a:extLst>
                    <a:ext uri="{9D8B030D-6E8A-4147-A177-3AD203B41FA5}">
                      <a16:colId xmlns:a16="http://schemas.microsoft.com/office/drawing/2014/main" val="2814919443"/>
                    </a:ext>
                  </a:extLst>
                </a:gridCol>
                <a:gridCol w="3360615">
                  <a:extLst>
                    <a:ext uri="{9D8B030D-6E8A-4147-A177-3AD203B41FA5}">
                      <a16:colId xmlns:a16="http://schemas.microsoft.com/office/drawing/2014/main" val="1916040306"/>
                    </a:ext>
                  </a:extLst>
                </a:gridCol>
              </a:tblGrid>
              <a:tr h="768547">
                <a:tc>
                  <a:txBody>
                    <a:bodyPr/>
                    <a:lstStyle/>
                    <a:p>
                      <a:pPr>
                        <a:buNone/>
                      </a:pPr>
                      <a:r>
                        <a:rPr lang="en-IN" sz="2400" dirty="0">
                          <a:latin typeface="+mj-lt"/>
                        </a:rPr>
                        <a:t>Class</a:t>
                      </a:r>
                    </a:p>
                  </a:txBody>
                  <a:tcPr anchor="ctr">
                    <a:lnL>
                      <a:noFill/>
                    </a:lnL>
                    <a:lnR>
                      <a:noFill/>
                    </a:lnR>
                    <a:lnT>
                      <a:noFill/>
                    </a:lnT>
                    <a:lnB>
                      <a:noFill/>
                    </a:lnB>
                    <a:noFill/>
                  </a:tcPr>
                </a:tc>
                <a:tc>
                  <a:txBody>
                    <a:bodyPr/>
                    <a:lstStyle/>
                    <a:p>
                      <a:pPr>
                        <a:buNone/>
                      </a:pPr>
                      <a:r>
                        <a:rPr lang="en-IN" sz="2400" dirty="0">
                          <a:latin typeface="+mj-lt"/>
                        </a:rPr>
                        <a:t>Need DB table?</a:t>
                      </a:r>
                    </a:p>
                  </a:txBody>
                  <a:tcPr anchor="ctr">
                    <a:lnL>
                      <a:noFill/>
                    </a:lnL>
                    <a:lnR>
                      <a:noFill/>
                    </a:lnR>
                    <a:lnT>
                      <a:noFill/>
                    </a:lnT>
                    <a:lnB>
                      <a:noFill/>
                    </a:lnB>
                    <a:noFill/>
                  </a:tcPr>
                </a:tc>
                <a:tc>
                  <a:txBody>
                    <a:bodyPr/>
                    <a:lstStyle/>
                    <a:p>
                      <a:pPr>
                        <a:buNone/>
                      </a:pPr>
                      <a:r>
                        <a:rPr lang="en-IN" sz="2400">
                          <a:latin typeface="+mj-lt"/>
                        </a:rPr>
                        <a:t>Reason</a:t>
                      </a:r>
                    </a:p>
                  </a:txBody>
                  <a:tcPr anchor="ctr">
                    <a:lnL>
                      <a:noFill/>
                    </a:lnL>
                    <a:lnR>
                      <a:noFill/>
                    </a:lnR>
                    <a:lnT>
                      <a:noFill/>
                    </a:lnT>
                    <a:lnB>
                      <a:noFill/>
                    </a:lnB>
                    <a:noFill/>
                  </a:tcPr>
                </a:tc>
                <a:extLst>
                  <a:ext uri="{0D108BD9-81ED-4DB2-BD59-A6C34878D82A}">
                    <a16:rowId xmlns:a16="http://schemas.microsoft.com/office/drawing/2014/main" val="2371549839"/>
                  </a:ext>
                </a:extLst>
              </a:tr>
              <a:tr h="768547">
                <a:tc>
                  <a:txBody>
                    <a:bodyPr/>
                    <a:lstStyle/>
                    <a:p>
                      <a:pPr>
                        <a:buNone/>
                      </a:pPr>
                      <a:r>
                        <a:rPr lang="en-IN" sz="2400" dirty="0">
                          <a:latin typeface="+mj-lt"/>
                        </a:rPr>
                        <a:t>Product (model)</a:t>
                      </a:r>
                    </a:p>
                  </a:txBody>
                  <a:tcPr anchor="ctr">
                    <a:lnL>
                      <a:noFill/>
                    </a:lnL>
                    <a:lnR>
                      <a:noFill/>
                    </a:lnR>
                    <a:lnT>
                      <a:noFill/>
                    </a:lnT>
                    <a:lnB>
                      <a:noFill/>
                    </a:lnB>
                    <a:noFill/>
                  </a:tcPr>
                </a:tc>
                <a:tc>
                  <a:txBody>
                    <a:bodyPr/>
                    <a:lstStyle/>
                    <a:p>
                      <a:pPr>
                        <a:buNone/>
                      </a:pPr>
                      <a:r>
                        <a:rPr lang="en-IN" sz="2400" dirty="0">
                          <a:latin typeface="+mj-lt"/>
                        </a:rPr>
                        <a:t>Yes</a:t>
                      </a:r>
                    </a:p>
                  </a:txBody>
                  <a:tcPr anchor="ctr">
                    <a:lnL>
                      <a:noFill/>
                    </a:lnL>
                    <a:lnR>
                      <a:noFill/>
                    </a:lnR>
                    <a:lnT>
                      <a:noFill/>
                    </a:lnT>
                    <a:lnB>
                      <a:noFill/>
                    </a:lnB>
                    <a:noFill/>
                  </a:tcPr>
                </a:tc>
                <a:tc>
                  <a:txBody>
                    <a:bodyPr/>
                    <a:lstStyle/>
                    <a:p>
                      <a:pPr>
                        <a:buNone/>
                      </a:pPr>
                      <a:r>
                        <a:rPr lang="en-IN" sz="2400">
                          <a:latin typeface="+mj-lt"/>
                        </a:rPr>
                        <a:t>Stores product details</a:t>
                      </a:r>
                    </a:p>
                  </a:txBody>
                  <a:tcPr anchor="ctr">
                    <a:lnL>
                      <a:noFill/>
                    </a:lnL>
                    <a:lnR>
                      <a:noFill/>
                    </a:lnR>
                    <a:lnT>
                      <a:noFill/>
                    </a:lnT>
                    <a:lnB>
                      <a:noFill/>
                    </a:lnB>
                    <a:noFill/>
                  </a:tcPr>
                </a:tc>
                <a:extLst>
                  <a:ext uri="{0D108BD9-81ED-4DB2-BD59-A6C34878D82A}">
                    <a16:rowId xmlns:a16="http://schemas.microsoft.com/office/drawing/2014/main" val="2572043820"/>
                  </a:ext>
                </a:extLst>
              </a:tr>
              <a:tr h="951330">
                <a:tc>
                  <a:txBody>
                    <a:bodyPr/>
                    <a:lstStyle/>
                    <a:p>
                      <a:pPr>
                        <a:buNone/>
                      </a:pPr>
                      <a:r>
                        <a:rPr lang="en-IN" sz="2400" dirty="0">
                          <a:latin typeface="+mj-lt"/>
                        </a:rPr>
                        <a:t>Product Repository</a:t>
                      </a:r>
                    </a:p>
                  </a:txBody>
                  <a:tcPr anchor="ctr">
                    <a:lnL>
                      <a:noFill/>
                    </a:lnL>
                    <a:lnR>
                      <a:noFill/>
                    </a:lnR>
                    <a:lnT>
                      <a:noFill/>
                    </a:lnT>
                    <a:lnB>
                      <a:noFill/>
                    </a:lnB>
                    <a:noFill/>
                  </a:tcPr>
                </a:tc>
                <a:tc>
                  <a:txBody>
                    <a:bodyPr/>
                    <a:lstStyle/>
                    <a:p>
                      <a:pPr>
                        <a:buNone/>
                      </a:pPr>
                      <a:r>
                        <a:rPr lang="en-IN" sz="2400" dirty="0">
                          <a:latin typeface="+mj-lt"/>
                        </a:rPr>
                        <a:t>No</a:t>
                      </a:r>
                    </a:p>
                  </a:txBody>
                  <a:tcPr anchor="ctr">
                    <a:lnL>
                      <a:noFill/>
                    </a:lnL>
                    <a:lnR>
                      <a:noFill/>
                    </a:lnR>
                    <a:lnT>
                      <a:noFill/>
                    </a:lnT>
                    <a:lnB>
                      <a:noFill/>
                    </a:lnB>
                    <a:noFill/>
                  </a:tcPr>
                </a:tc>
                <a:tc>
                  <a:txBody>
                    <a:bodyPr/>
                    <a:lstStyle/>
                    <a:p>
                      <a:pPr>
                        <a:buNone/>
                      </a:pPr>
                      <a:r>
                        <a:rPr lang="en-IN" sz="2400">
                          <a:latin typeface="+mj-lt"/>
                        </a:rPr>
                        <a:t>only perform DB queries</a:t>
                      </a:r>
                    </a:p>
                  </a:txBody>
                  <a:tcPr anchor="ctr">
                    <a:lnL>
                      <a:noFill/>
                    </a:lnL>
                    <a:lnR>
                      <a:noFill/>
                    </a:lnR>
                    <a:lnT>
                      <a:noFill/>
                    </a:lnT>
                    <a:lnB>
                      <a:noFill/>
                    </a:lnB>
                    <a:noFill/>
                  </a:tcPr>
                </a:tc>
                <a:extLst>
                  <a:ext uri="{0D108BD9-81ED-4DB2-BD59-A6C34878D82A}">
                    <a16:rowId xmlns:a16="http://schemas.microsoft.com/office/drawing/2014/main" val="764173120"/>
                  </a:ext>
                </a:extLst>
              </a:tr>
              <a:tr h="768547">
                <a:tc>
                  <a:txBody>
                    <a:bodyPr/>
                    <a:lstStyle/>
                    <a:p>
                      <a:pPr>
                        <a:buNone/>
                      </a:pPr>
                      <a:r>
                        <a:rPr lang="en-IN" sz="2400" dirty="0">
                          <a:latin typeface="+mj-lt"/>
                        </a:rPr>
                        <a:t>Product Service</a:t>
                      </a:r>
                    </a:p>
                  </a:txBody>
                  <a:tcPr anchor="ctr">
                    <a:lnL>
                      <a:noFill/>
                    </a:lnL>
                    <a:lnR>
                      <a:noFill/>
                    </a:lnR>
                    <a:lnT>
                      <a:noFill/>
                    </a:lnT>
                    <a:lnB>
                      <a:noFill/>
                    </a:lnB>
                    <a:noFill/>
                  </a:tcPr>
                </a:tc>
                <a:tc>
                  <a:txBody>
                    <a:bodyPr/>
                    <a:lstStyle/>
                    <a:p>
                      <a:pPr>
                        <a:buNone/>
                      </a:pPr>
                      <a:r>
                        <a:rPr lang="en-IN" sz="2400">
                          <a:latin typeface="+mj-lt"/>
                        </a:rPr>
                        <a:t>No</a:t>
                      </a:r>
                    </a:p>
                  </a:txBody>
                  <a:tcPr anchor="ctr">
                    <a:lnL>
                      <a:noFill/>
                    </a:lnL>
                    <a:lnR>
                      <a:noFill/>
                    </a:lnR>
                    <a:lnT>
                      <a:noFill/>
                    </a:lnT>
                    <a:lnB>
                      <a:noFill/>
                    </a:lnB>
                    <a:noFill/>
                  </a:tcPr>
                </a:tc>
                <a:tc>
                  <a:txBody>
                    <a:bodyPr/>
                    <a:lstStyle/>
                    <a:p>
                      <a:pPr>
                        <a:buNone/>
                      </a:pPr>
                      <a:r>
                        <a:rPr lang="en-IN" sz="2400">
                          <a:latin typeface="+mj-lt"/>
                        </a:rPr>
                        <a:t>Business logic layer</a:t>
                      </a:r>
                    </a:p>
                  </a:txBody>
                  <a:tcPr anchor="ctr">
                    <a:lnL>
                      <a:noFill/>
                    </a:lnL>
                    <a:lnR>
                      <a:noFill/>
                    </a:lnR>
                    <a:lnT>
                      <a:noFill/>
                    </a:lnT>
                    <a:lnB>
                      <a:noFill/>
                    </a:lnB>
                    <a:noFill/>
                  </a:tcPr>
                </a:tc>
                <a:extLst>
                  <a:ext uri="{0D108BD9-81ED-4DB2-BD59-A6C34878D82A}">
                    <a16:rowId xmlns:a16="http://schemas.microsoft.com/office/drawing/2014/main" val="729048426"/>
                  </a:ext>
                </a:extLst>
              </a:tr>
              <a:tr h="951330">
                <a:tc>
                  <a:txBody>
                    <a:bodyPr/>
                    <a:lstStyle/>
                    <a:p>
                      <a:pPr>
                        <a:buNone/>
                      </a:pPr>
                      <a:r>
                        <a:rPr lang="en-IN" sz="2400" dirty="0">
                          <a:latin typeface="+mj-lt"/>
                        </a:rPr>
                        <a:t>Product Controller</a:t>
                      </a:r>
                    </a:p>
                  </a:txBody>
                  <a:tcPr anchor="ctr">
                    <a:lnL>
                      <a:noFill/>
                    </a:lnL>
                    <a:lnR>
                      <a:noFill/>
                    </a:lnR>
                    <a:lnT>
                      <a:noFill/>
                    </a:lnT>
                    <a:lnB>
                      <a:noFill/>
                    </a:lnB>
                    <a:noFill/>
                  </a:tcPr>
                </a:tc>
                <a:tc>
                  <a:txBody>
                    <a:bodyPr/>
                    <a:lstStyle/>
                    <a:p>
                      <a:pPr>
                        <a:buNone/>
                      </a:pPr>
                      <a:r>
                        <a:rPr lang="en-IN" sz="2400" dirty="0">
                          <a:latin typeface="+mj-lt"/>
                        </a:rPr>
                        <a:t>No</a:t>
                      </a:r>
                    </a:p>
                  </a:txBody>
                  <a:tcPr anchor="ctr">
                    <a:lnL>
                      <a:noFill/>
                    </a:lnL>
                    <a:lnR>
                      <a:noFill/>
                    </a:lnR>
                    <a:lnT>
                      <a:noFill/>
                    </a:lnT>
                    <a:lnB>
                      <a:noFill/>
                    </a:lnB>
                    <a:noFill/>
                  </a:tcPr>
                </a:tc>
                <a:tc>
                  <a:txBody>
                    <a:bodyPr/>
                    <a:lstStyle/>
                    <a:p>
                      <a:pPr>
                        <a:buNone/>
                      </a:pPr>
                      <a:r>
                        <a:rPr lang="en-IN" sz="2400" dirty="0">
                          <a:latin typeface="+mj-lt"/>
                        </a:rPr>
                        <a:t>Request handling layer</a:t>
                      </a:r>
                    </a:p>
                  </a:txBody>
                  <a:tcPr anchor="ctr">
                    <a:lnL>
                      <a:noFill/>
                    </a:lnL>
                    <a:lnR>
                      <a:noFill/>
                    </a:lnR>
                    <a:lnT>
                      <a:noFill/>
                    </a:lnT>
                    <a:lnB>
                      <a:noFill/>
                    </a:lnB>
                    <a:noFill/>
                  </a:tcPr>
                </a:tc>
                <a:extLst>
                  <a:ext uri="{0D108BD9-81ED-4DB2-BD59-A6C34878D82A}">
                    <a16:rowId xmlns:a16="http://schemas.microsoft.com/office/drawing/2014/main" val="301876037"/>
                  </a:ext>
                </a:extLst>
              </a:tr>
            </a:tbl>
          </a:graphicData>
        </a:graphic>
      </p:graphicFrame>
      <p:sp>
        <p:nvSpPr>
          <p:cNvPr id="8" name="TextBox 7">
            <a:extLst>
              <a:ext uri="{FF2B5EF4-FFF2-40B4-BE49-F238E27FC236}">
                <a16:creationId xmlns:a16="http://schemas.microsoft.com/office/drawing/2014/main" id="{05521D4E-15AA-FF83-F24C-69EDE8EEBA94}"/>
              </a:ext>
            </a:extLst>
          </p:cNvPr>
          <p:cNvSpPr txBox="1"/>
          <p:nvPr/>
        </p:nvSpPr>
        <p:spPr>
          <a:xfrm rot="10800000" flipV="1">
            <a:off x="633044" y="5876607"/>
            <a:ext cx="8979878" cy="461665"/>
          </a:xfrm>
          <a:prstGeom prst="rect">
            <a:avLst/>
          </a:prstGeom>
          <a:noFill/>
        </p:spPr>
        <p:txBody>
          <a:bodyPr wrap="square">
            <a:spAutoFit/>
          </a:bodyPr>
          <a:lstStyle/>
          <a:p>
            <a:r>
              <a:rPr lang="en-US" sz="2400" b="1" dirty="0">
                <a:latin typeface="+mj-lt"/>
              </a:rPr>
              <a:t>➡ Only the product class requires a database table</a:t>
            </a:r>
            <a:endParaRPr lang="en-IN" sz="2400" b="1" dirty="0">
              <a:latin typeface="+mj-lt"/>
            </a:endParaRPr>
          </a:p>
        </p:txBody>
      </p:sp>
    </p:spTree>
    <p:extLst>
      <p:ext uri="{BB962C8B-B14F-4D97-AF65-F5344CB8AC3E}">
        <p14:creationId xmlns:p14="http://schemas.microsoft.com/office/powerpoint/2010/main" val="2242462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2008908" y="651164"/>
            <a:ext cx="8132619" cy="1274618"/>
          </a:xfrm>
        </p:spPr>
        <p:txBody>
          <a:bodyPr anchor="ctr"/>
          <a:lstStyle/>
          <a:p>
            <a:r>
              <a:rPr lang="en-IN" b="1" dirty="0" err="1">
                <a:latin typeface="Archivo" panose="020B0604020202020204" charset="0"/>
                <a:cs typeface="Archivo" panose="020B0604020202020204" charset="0"/>
              </a:rPr>
              <a:t>MileStone</a:t>
            </a:r>
            <a:r>
              <a:rPr lang="en-IN" b="1" dirty="0">
                <a:latin typeface="Archivo" panose="020B0604020202020204" charset="0"/>
                <a:cs typeface="Archivo" panose="020B0604020202020204" charset="0"/>
              </a:rPr>
              <a:t> – 3</a:t>
            </a:r>
            <a:endParaRPr lang="en-US" dirty="0"/>
          </a:p>
        </p:txBody>
      </p:sp>
      <p:sp>
        <p:nvSpPr>
          <p:cNvPr id="4" name="TextBox 3">
            <a:extLst>
              <a:ext uri="{FF2B5EF4-FFF2-40B4-BE49-F238E27FC236}">
                <a16:creationId xmlns:a16="http://schemas.microsoft.com/office/drawing/2014/main" id="{89B8A2B2-D2B0-323B-EF5A-A440213269FE}"/>
              </a:ext>
            </a:extLst>
          </p:cNvPr>
          <p:cNvSpPr txBox="1"/>
          <p:nvPr/>
        </p:nvSpPr>
        <p:spPr>
          <a:xfrm>
            <a:off x="2870522" y="4664596"/>
            <a:ext cx="6273478" cy="646331"/>
          </a:xfrm>
          <a:prstGeom prst="rect">
            <a:avLst/>
          </a:prstGeom>
          <a:noFill/>
        </p:spPr>
        <p:txBody>
          <a:bodyPr wrap="square">
            <a:spAutoFit/>
          </a:bodyPr>
          <a:lstStyle/>
          <a:p>
            <a:pPr marL="0" lvl="0" indent="0"/>
            <a:r>
              <a:rPr lang="en-US" sz="3600" b="1" dirty="0">
                <a:solidFill>
                  <a:schemeClr val="bg2">
                    <a:lumMod val="50000"/>
                  </a:schemeClr>
                </a:solidFill>
                <a:latin typeface="Archivo" panose="020B0604020202020204" charset="0"/>
                <a:cs typeface="Archivo" panose="020B0604020202020204" charset="0"/>
              </a:rPr>
              <a:t>Module 3: Inventory/Alerts</a:t>
            </a:r>
            <a:endParaRPr lang="en-US" sz="3600" b="1" dirty="0">
              <a:latin typeface="Archivo" panose="020B0604020202020204" charset="0"/>
              <a:cs typeface="Archivo" panose="020B0604020202020204" charset="0"/>
            </a:endParaRPr>
          </a:p>
        </p:txBody>
      </p:sp>
      <p:sp>
        <p:nvSpPr>
          <p:cNvPr id="6" name="TextBox 5">
            <a:extLst>
              <a:ext uri="{FF2B5EF4-FFF2-40B4-BE49-F238E27FC236}">
                <a16:creationId xmlns:a16="http://schemas.microsoft.com/office/drawing/2014/main" id="{C78DFD73-92A4-280D-2E1E-09410BFB2B7C}"/>
              </a:ext>
            </a:extLst>
          </p:cNvPr>
          <p:cNvSpPr txBox="1"/>
          <p:nvPr/>
        </p:nvSpPr>
        <p:spPr>
          <a:xfrm>
            <a:off x="-1" y="2203938"/>
            <a:ext cx="11793415" cy="1754326"/>
          </a:xfrm>
          <a:prstGeom prst="rect">
            <a:avLst/>
          </a:prstGeom>
          <a:noFill/>
        </p:spPr>
        <p:txBody>
          <a:bodyPr wrap="square">
            <a:spAutoFit/>
          </a:bodyPr>
          <a:lstStyle/>
          <a:p>
            <a:pPr algn="ctr"/>
            <a:r>
              <a:rPr lang="en-IN" sz="5400" b="1" dirty="0"/>
              <a:t>  </a:t>
            </a:r>
            <a:r>
              <a:rPr lang="en-IN" sz="5400" b="1" dirty="0" err="1"/>
              <a:t>Inventra</a:t>
            </a:r>
            <a:r>
              <a:rPr lang="en-IN" sz="5400" b="1" dirty="0"/>
              <a:t> Intelligent Inventory Management System</a:t>
            </a:r>
          </a:p>
        </p:txBody>
      </p:sp>
    </p:spTree>
    <p:extLst>
      <p:ext uri="{BB962C8B-B14F-4D97-AF65-F5344CB8AC3E}">
        <p14:creationId xmlns:p14="http://schemas.microsoft.com/office/powerpoint/2010/main" val="1338167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274320" y="-213360"/>
            <a:ext cx="7604759" cy="6156960"/>
          </a:xfrm>
        </p:spPr>
        <p:txBody>
          <a:bodyPr/>
          <a:lstStyle/>
          <a:p>
            <a:r>
              <a:rPr lang="en-US" dirty="0"/>
              <a:t>        </a:t>
            </a:r>
            <a:r>
              <a:rPr lang="en-US" sz="4000" dirty="0"/>
              <a:t>Table Of Contents</a:t>
            </a:r>
          </a:p>
        </p:txBody>
      </p:sp>
      <p:graphicFrame>
        <p:nvGraphicFramePr>
          <p:cNvPr id="6" name="Table 4">
            <a:extLst>
              <a:ext uri="{FF2B5EF4-FFF2-40B4-BE49-F238E27FC236}">
                <a16:creationId xmlns:a16="http://schemas.microsoft.com/office/drawing/2014/main" id="{0D6FB95E-6987-A57C-3663-3FD6F6FAC24E}"/>
              </a:ext>
            </a:extLst>
          </p:cNvPr>
          <p:cNvGraphicFramePr>
            <a:graphicFrameLocks noGrp="1"/>
          </p:cNvGraphicFramePr>
          <p:nvPr>
            <p:ph idx="1"/>
            <p:extLst>
              <p:ext uri="{D42A27DB-BD31-4B8C-83A1-F6EECF244321}">
                <p14:modId xmlns:p14="http://schemas.microsoft.com/office/powerpoint/2010/main" val="2505079929"/>
              </p:ext>
            </p:extLst>
          </p:nvPr>
        </p:nvGraphicFramePr>
        <p:xfrm>
          <a:off x="8001000" y="365761"/>
          <a:ext cx="3154680" cy="5852159"/>
        </p:xfrm>
        <a:graphic>
          <a:graphicData uri="http://schemas.openxmlformats.org/drawingml/2006/table">
            <a:tbl>
              <a:tblPr firstRow="1" lastRow="1" lastCol="1" bandRow="1"/>
              <a:tblGrid>
                <a:gridCol w="3154680">
                  <a:extLst>
                    <a:ext uri="{9D8B030D-6E8A-4147-A177-3AD203B41FA5}">
                      <a16:colId xmlns:a16="http://schemas.microsoft.com/office/drawing/2014/main" val="1563570424"/>
                    </a:ext>
                  </a:extLst>
                </a:gridCol>
              </a:tblGrid>
              <a:tr h="979543">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2400" b="0" dirty="0">
                        <a:latin typeface="+mn-lt"/>
                        <a:cs typeface="Gill Sans Light" panose="020B0302020104020203" pitchFamily="34" charset="-79"/>
                      </a:endParaRPr>
                    </a:p>
                    <a:p>
                      <a:pPr algn="r"/>
                      <a:endParaRPr lang="en-US" sz="2400" b="0" dirty="0">
                        <a:latin typeface="+mj-lt"/>
                      </a:endParaRPr>
                    </a:p>
                    <a:p>
                      <a:pPr algn="r"/>
                      <a:r>
                        <a:rPr lang="en-US" sz="2400" b="0" dirty="0">
                          <a:latin typeface="+mj-lt"/>
                        </a:rPr>
                        <a:t>1.Introduction</a:t>
                      </a:r>
                    </a:p>
                  </a:txBody>
                  <a:tcPr>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r h="1036319">
                <a:tc>
                  <a:txBody>
                    <a:bodyPr/>
                    <a:lstStyle/>
                    <a:p>
                      <a:pPr algn="r"/>
                      <a:r>
                        <a:rPr lang="en-US" sz="2400" b="0" dirty="0">
                          <a:latin typeface="+mj-lt"/>
                        </a:rPr>
                        <a:t>2. Purpose</a:t>
                      </a:r>
                      <a:endParaRPr lang="en-US" sz="2400" b="0" kern="1200" dirty="0">
                        <a:solidFill>
                          <a:schemeClr val="tx1"/>
                        </a:solidFill>
                        <a:latin typeface="+mj-lt"/>
                        <a:ea typeface="+mn-ea"/>
                        <a:cs typeface="+mn-cs"/>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238222"/>
                  </a:ext>
                </a:extLst>
              </a:tr>
              <a:tr h="1249680">
                <a:tc>
                  <a:txBody>
                    <a:bodyPr/>
                    <a:lstStyle/>
                    <a:p>
                      <a:pPr marL="0" algn="r" defTabSz="914400" rtl="0" eaLnBrk="1" latinLnBrk="0" hangingPunct="1"/>
                      <a:r>
                        <a:rPr lang="en-US" sz="2400" b="0" kern="1200" dirty="0">
                          <a:solidFill>
                            <a:schemeClr val="tx1"/>
                          </a:solidFill>
                          <a:latin typeface="+mj-lt"/>
                          <a:ea typeface="+mn-ea"/>
                          <a:cs typeface="+mn-cs"/>
                        </a:rPr>
                        <a:t>3.Classes and Flow</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452646"/>
                  </a:ext>
                </a:extLst>
              </a:tr>
              <a:tr h="1011748">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2400" b="0" kern="1200" dirty="0">
                        <a:solidFill>
                          <a:schemeClr val="tx1"/>
                        </a:solidFill>
                        <a:latin typeface="+mn-lt"/>
                        <a:ea typeface="+mn-ea"/>
                        <a:cs typeface="Gill Sans Light" panose="020B0302020104020203" pitchFamily="34" charset="-79"/>
                      </a:endParaRPr>
                    </a:p>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tx1"/>
                          </a:solidFill>
                          <a:latin typeface="+mj-lt"/>
                          <a:ea typeface="+mn-ea"/>
                          <a:cs typeface="+mn-cs"/>
                        </a:rPr>
                        <a:t> </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tx1"/>
                          </a:solidFill>
                          <a:latin typeface="+mj-lt"/>
                          <a:ea typeface="+mn-ea"/>
                          <a:cs typeface="+mn-cs"/>
                        </a:rPr>
                        <a:t>4.Pseudocode</a:t>
                      </a:r>
                    </a:p>
                    <a:p>
                      <a:pPr marL="0" algn="r" defTabSz="914400" rtl="0" eaLnBrk="1" latinLnBrk="0" hangingPunct="1"/>
                      <a:endParaRPr lang="en-US" sz="2400" b="0" kern="1200" dirty="0">
                        <a:solidFill>
                          <a:schemeClr val="tx1"/>
                        </a:solidFill>
                        <a:latin typeface="+mj-lt"/>
                        <a:ea typeface="+mn-ea"/>
                        <a:cs typeface="+mn-cs"/>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0977400"/>
                  </a:ext>
                </a:extLst>
              </a:tr>
              <a:tr h="41699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2400" b="0" dirty="0">
                        <a:latin typeface="+mj-lt"/>
                        <a:cs typeface="Gill Sans Light" panose="020B0302020104020203" pitchFamily="34" charset="-79"/>
                      </a:endParaRPr>
                    </a:p>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dirty="0">
                          <a:latin typeface="+mj-lt"/>
                          <a:cs typeface="Gill Sans Light" panose="020B0302020104020203" pitchFamily="34" charset="-79"/>
                        </a:rPr>
                        <a:t>5.Conclusion</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056376589"/>
                  </a:ext>
                </a:extLst>
              </a:tr>
            </a:tbl>
          </a:graphicData>
        </a:graphic>
      </p:graphicFrame>
    </p:spTree>
    <p:extLst>
      <p:ext uri="{BB962C8B-B14F-4D97-AF65-F5344CB8AC3E}">
        <p14:creationId xmlns:p14="http://schemas.microsoft.com/office/powerpoint/2010/main" val="5864785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3642360" y="274320"/>
            <a:ext cx="7634668" cy="1143000"/>
          </a:xfrm>
        </p:spPr>
        <p:txBody>
          <a:bodyPr anchor="b"/>
          <a:lstStyle/>
          <a:p>
            <a:r>
              <a:rPr lang="en-US" b="1" dirty="0"/>
              <a:t>   Introduction</a:t>
            </a:r>
          </a:p>
        </p:txBody>
      </p:sp>
      <p:sp>
        <p:nvSpPr>
          <p:cNvPr id="6" name="Rectangle 1">
            <a:extLst>
              <a:ext uri="{FF2B5EF4-FFF2-40B4-BE49-F238E27FC236}">
                <a16:creationId xmlns:a16="http://schemas.microsoft.com/office/drawing/2014/main" id="{96ED0D43-3235-90F0-2AC2-30F22AEB988B}"/>
              </a:ext>
            </a:extLst>
          </p:cNvPr>
          <p:cNvSpPr>
            <a:spLocks noChangeArrowheads="1"/>
          </p:cNvSpPr>
          <p:nvPr/>
        </p:nvSpPr>
        <p:spPr bwMode="auto">
          <a:xfrm rot="10800000" flipV="1">
            <a:off x="304798" y="1703259"/>
            <a:ext cx="11887201"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Core Function:</a:t>
            </a:r>
            <a:r>
              <a:rPr kumimoji="0" lang="en-US" altLang="en-US" sz="2800" b="0" i="0" u="none" strike="noStrike" cap="none" normalizeH="0" baseline="0" dirty="0">
                <a:ln>
                  <a:noFill/>
                </a:ln>
                <a:solidFill>
                  <a:schemeClr val="tx1"/>
                </a:solidFill>
                <a:effectLst/>
                <a:latin typeface="Arial" panose="020B0604020202020204" pitchFamily="34" charset="0"/>
              </a:rPr>
              <a:t> It is responsible for </a:t>
            </a:r>
            <a:r>
              <a:rPr kumimoji="0" lang="en-US" altLang="en-US" sz="2800" b="1" i="0" u="none" strike="noStrike" cap="none" normalizeH="0" baseline="0" dirty="0">
                <a:ln>
                  <a:noFill/>
                </a:ln>
                <a:solidFill>
                  <a:schemeClr val="tx1"/>
                </a:solidFill>
                <a:effectLst/>
                <a:latin typeface="Arial" panose="020B0604020202020204" pitchFamily="34" charset="0"/>
              </a:rPr>
              <a:t>monitoring inventory levels</a:t>
            </a:r>
            <a:r>
              <a:rPr kumimoji="0" lang="en-US" altLang="en-US" sz="2800" b="0" i="0" u="none" strike="noStrike" cap="none" normalizeH="0" baseline="0" dirty="0">
                <a:ln>
                  <a:noFill/>
                </a:ln>
                <a:solidFill>
                  <a:schemeClr val="tx1"/>
                </a:solidFill>
                <a:effectLst/>
                <a:latin typeface="Arial" panose="020B0604020202020204" pitchFamily="34" charset="0"/>
              </a:rPr>
              <a:t> and </a:t>
            </a:r>
            <a:r>
              <a:rPr kumimoji="0" lang="en-US" altLang="en-US" sz="2800" b="1" i="0" u="none" strike="noStrike" cap="none" normalizeH="0" baseline="0" dirty="0">
                <a:ln>
                  <a:noFill/>
                </a:ln>
                <a:solidFill>
                  <a:schemeClr val="tx1"/>
                </a:solidFill>
                <a:effectLst/>
                <a:latin typeface="Arial" panose="020B0604020202020204" pitchFamily="34" charset="0"/>
              </a:rPr>
              <a:t>automatically generating alerts</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Mechanism:</a:t>
            </a:r>
            <a:r>
              <a:rPr kumimoji="0" lang="en-US" altLang="en-US" sz="2800" b="0" i="0" u="none" strike="noStrike" cap="none" normalizeH="0" baseline="0" dirty="0">
                <a:ln>
                  <a:noFill/>
                </a:ln>
                <a:solidFill>
                  <a:schemeClr val="tx1"/>
                </a:solidFill>
                <a:effectLst/>
                <a:latin typeface="Arial" panose="020B0604020202020204" pitchFamily="34" charset="0"/>
              </a:rPr>
              <a:t> It works continuously in the background, checking stock data received from a separate </a:t>
            </a:r>
            <a:r>
              <a:rPr kumimoji="0" lang="en-US" altLang="en-US" sz="2800" b="1" i="0" u="none" strike="noStrike" cap="none" normalizeH="0" baseline="0" dirty="0">
                <a:ln>
                  <a:noFill/>
                </a:ln>
                <a:solidFill>
                  <a:schemeClr val="tx1"/>
                </a:solidFill>
                <a:effectLst/>
                <a:latin typeface="Arial" panose="020B0604020202020204" pitchFamily="34" charset="0"/>
              </a:rPr>
              <a:t>inventory module</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Benefit:</a:t>
            </a:r>
            <a:r>
              <a:rPr kumimoji="0" lang="en-US" altLang="en-US" sz="2800" b="0" i="0" u="none" strike="noStrike" cap="none" normalizeH="0" baseline="0" dirty="0">
                <a:ln>
                  <a:noFill/>
                </a:ln>
                <a:solidFill>
                  <a:schemeClr val="tx1"/>
                </a:solidFill>
                <a:effectLst/>
                <a:latin typeface="Arial" panose="020B0604020202020204" pitchFamily="34" charset="0"/>
              </a:rPr>
              <a:t> Its primary purpose is to help users take </a:t>
            </a:r>
            <a:r>
              <a:rPr kumimoji="0" lang="en-US" altLang="en-US" sz="2800" b="1" i="0" u="none" strike="noStrike" cap="none" normalizeH="0" baseline="0" dirty="0">
                <a:ln>
                  <a:noFill/>
                </a:ln>
                <a:solidFill>
                  <a:schemeClr val="tx1"/>
                </a:solidFill>
                <a:effectLst/>
                <a:latin typeface="Arial" panose="020B0604020202020204" pitchFamily="34" charset="0"/>
              </a:rPr>
              <a:t>timely action</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0" i="1" u="none" strike="noStrike" cap="none" normalizeH="0" baseline="0" dirty="0">
                <a:ln>
                  <a:noFill/>
                </a:ln>
                <a:solidFill>
                  <a:schemeClr val="tx1"/>
                </a:solidFill>
                <a:effectLst/>
                <a:latin typeface="Arial" panose="020B0604020202020204" pitchFamily="34" charset="0"/>
              </a:rPr>
              <a:t>before</a:t>
            </a:r>
            <a:r>
              <a:rPr kumimoji="0" lang="en-US" altLang="en-US" sz="2800" b="0" i="0" u="none" strike="noStrike" cap="none" normalizeH="0" baseline="0" dirty="0">
                <a:ln>
                  <a:noFill/>
                </a:ln>
                <a:solidFill>
                  <a:schemeClr val="tx1"/>
                </a:solidFill>
                <a:effectLst/>
                <a:latin typeface="Arial" panose="020B0604020202020204" pitchFamily="34" charset="0"/>
              </a:rPr>
              <a:t> stock runs out. By reducing the need for manual monitoring, it adds </a:t>
            </a:r>
            <a:r>
              <a:rPr kumimoji="0" lang="en-US" altLang="en-US" sz="2800" b="1" i="0" u="none" strike="noStrike" cap="none" normalizeH="0" baseline="0" dirty="0">
                <a:ln>
                  <a:noFill/>
                </a:ln>
                <a:solidFill>
                  <a:schemeClr val="tx1"/>
                </a:solidFill>
                <a:effectLst/>
                <a:latin typeface="Arial" panose="020B0604020202020204" pitchFamily="34" charset="0"/>
              </a:rPr>
              <a:t>intelligence</a:t>
            </a:r>
            <a:r>
              <a:rPr kumimoji="0" lang="en-US" altLang="en-US" sz="2800" b="0" i="0" u="none" strike="noStrike" cap="none" normalizeH="0" baseline="0" dirty="0">
                <a:ln>
                  <a:noFill/>
                </a:ln>
                <a:solidFill>
                  <a:schemeClr val="tx1"/>
                </a:solidFill>
                <a:effectLst/>
                <a:latin typeface="Arial" panose="020B0604020202020204" pitchFamily="34" charset="0"/>
              </a:rPr>
              <a:t> and efficiency to the inventory system.</a:t>
            </a:r>
          </a:p>
        </p:txBody>
      </p:sp>
    </p:spTree>
    <p:extLst>
      <p:ext uri="{BB962C8B-B14F-4D97-AF65-F5344CB8AC3E}">
        <p14:creationId xmlns:p14="http://schemas.microsoft.com/office/powerpoint/2010/main" val="520000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914400" y="0"/>
            <a:ext cx="7665720" cy="1127760"/>
          </a:xfrm>
        </p:spPr>
        <p:txBody>
          <a:bodyPr/>
          <a:lstStyle/>
          <a:p>
            <a:r>
              <a:rPr lang="en-US" b="1" dirty="0"/>
              <a:t>Purpose</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807720" y="1249680"/>
            <a:ext cx="11207496" cy="2560320"/>
          </a:xfrm>
        </p:spPr>
        <p:txBody>
          <a:bodyPr>
            <a:noAutofit/>
          </a:bodyPr>
          <a:lstStyle/>
          <a:p>
            <a:r>
              <a:rPr lang="en-US" sz="2400" dirty="0">
                <a:latin typeface="+mj-lt"/>
              </a:rPr>
              <a:t>The primary function of the Alert Module is to provide </a:t>
            </a:r>
            <a:r>
              <a:rPr lang="en-US" sz="2400" b="1" dirty="0">
                <a:latin typeface="+mj-lt"/>
              </a:rPr>
              <a:t>proactive, timely warnings</a:t>
            </a:r>
            <a:r>
              <a:rPr lang="en-US" sz="2400" dirty="0">
                <a:latin typeface="+mj-lt"/>
              </a:rPr>
              <a:t> about key changes or issues in a system. In an inventory system its goal is to prevent costly operational issues like running out of stock (stockouts) or having excessive stock (overstocking).</a:t>
            </a:r>
          </a:p>
          <a:p>
            <a:endParaRPr lang="en-US" sz="2400" dirty="0">
              <a:latin typeface="+mj-lt"/>
            </a:endParaRPr>
          </a:p>
          <a:p>
            <a:r>
              <a:rPr lang="en-US" sz="2400" dirty="0">
                <a:latin typeface="+mj-lt"/>
              </a:rPr>
              <a:t>While its basic function is to compare real-time stock levels against </a:t>
            </a:r>
            <a:r>
              <a:rPr lang="en-US" sz="2400" b="1" dirty="0">
                <a:latin typeface="+mj-lt"/>
              </a:rPr>
              <a:t>predefined thresholds</a:t>
            </a:r>
            <a:r>
              <a:rPr lang="en-US" sz="2400" dirty="0">
                <a:latin typeface="+mj-lt"/>
              </a:rPr>
              <a:t> (reorder points) to generate alerts that help users </a:t>
            </a:r>
            <a:r>
              <a:rPr lang="en-US" sz="2400" b="1" dirty="0">
                <a:latin typeface="+mj-lt"/>
              </a:rPr>
              <a:t>take timely action before stock runs out</a:t>
            </a:r>
            <a:r>
              <a:rPr lang="en-US" sz="2400" dirty="0">
                <a:latin typeface="+mj-lt"/>
              </a:rPr>
              <a:t>, its advanced role is much broader. The module actively manages </a:t>
            </a:r>
            <a:r>
              <a:rPr lang="en-US" sz="2400" b="1" dirty="0">
                <a:latin typeface="+mj-lt"/>
              </a:rPr>
              <a:t>risk and exceptions</a:t>
            </a:r>
            <a:r>
              <a:rPr lang="en-US" sz="2400" dirty="0">
                <a:latin typeface="+mj-lt"/>
              </a:rPr>
              <a:t> by flagging issues like dead stock, unusual demand spikes, late shipments, and potential overstocking where capital is unnecessarily tied up. By automating these monitoring and flagging processes, the Alert Module converts raw data into </a:t>
            </a:r>
            <a:r>
              <a:rPr lang="en-US" sz="2400" b="1" dirty="0">
                <a:latin typeface="+mj-lt"/>
              </a:rPr>
              <a:t>actionable intelligence</a:t>
            </a:r>
            <a:r>
              <a:rPr lang="en-US" sz="2400" dirty="0">
                <a:latin typeface="+mj-lt"/>
              </a:rPr>
              <a:t>, boosting operational efficiency, reducing errors, and enabling managers to focus only on inventory items that require immediate attention or strategic review.</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23</a:t>
            </a:fld>
            <a:endParaRPr lang="en-US" dirty="0"/>
          </a:p>
        </p:txBody>
      </p:sp>
    </p:spTree>
    <p:extLst>
      <p:ext uri="{BB962C8B-B14F-4D97-AF65-F5344CB8AC3E}">
        <p14:creationId xmlns:p14="http://schemas.microsoft.com/office/powerpoint/2010/main" val="1966913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243840" y="-1600200"/>
            <a:ext cx="5379720" cy="4815840"/>
          </a:xfrm>
        </p:spPr>
        <p:txBody>
          <a:bodyPr/>
          <a:lstStyle/>
          <a:p>
            <a:r>
              <a:rPr lang="en-US" sz="3600" b="1" dirty="0"/>
              <a:t>Key Classes:</a:t>
            </a:r>
          </a:p>
        </p:txBody>
      </p:sp>
      <p:sp>
        <p:nvSpPr>
          <p:cNvPr id="15" name="TextBox 14">
            <a:extLst>
              <a:ext uri="{FF2B5EF4-FFF2-40B4-BE49-F238E27FC236}">
                <a16:creationId xmlns:a16="http://schemas.microsoft.com/office/drawing/2014/main" id="{C8A5432D-E2D9-C6B1-8710-B0A845511186}"/>
              </a:ext>
            </a:extLst>
          </p:cNvPr>
          <p:cNvSpPr txBox="1"/>
          <p:nvPr/>
        </p:nvSpPr>
        <p:spPr>
          <a:xfrm>
            <a:off x="624840" y="4651027"/>
            <a:ext cx="3398520" cy="369332"/>
          </a:xfrm>
          <a:prstGeom prst="rect">
            <a:avLst/>
          </a:prstGeom>
          <a:noFill/>
        </p:spPr>
        <p:txBody>
          <a:bodyPr wrap="square">
            <a:spAutoFit/>
          </a:bodyPr>
          <a:lstStyle/>
          <a:p>
            <a:r>
              <a:rPr lang="en-IN" sz="1800" b="1" dirty="0"/>
              <a:t>   </a:t>
            </a:r>
            <a:endParaRPr lang="en-IN" sz="2800" dirty="0"/>
          </a:p>
        </p:txBody>
      </p:sp>
      <p:sp>
        <p:nvSpPr>
          <p:cNvPr id="18" name="Rectangle 3">
            <a:extLst>
              <a:ext uri="{FF2B5EF4-FFF2-40B4-BE49-F238E27FC236}">
                <a16:creationId xmlns:a16="http://schemas.microsoft.com/office/drawing/2014/main" id="{D1A5B153-3E8D-545A-3C57-073D83D1535D}"/>
              </a:ext>
            </a:extLst>
          </p:cNvPr>
          <p:cNvSpPr>
            <a:spLocks noChangeArrowheads="1"/>
          </p:cNvSpPr>
          <p:nvPr/>
        </p:nvSpPr>
        <p:spPr bwMode="auto">
          <a:xfrm rot="10800000" flipV="1">
            <a:off x="243840" y="1302195"/>
            <a:ext cx="1194816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Product:</a:t>
            </a:r>
            <a:r>
              <a:rPr kumimoji="0" lang="en-US" altLang="en-US" sz="2000" b="0" i="0" u="none" strike="noStrike" cap="none" normalizeH="0" baseline="0" dirty="0">
                <a:ln>
                  <a:noFill/>
                </a:ln>
                <a:solidFill>
                  <a:schemeClr val="tx1"/>
                </a:solidFill>
                <a:effectLst/>
                <a:latin typeface="Arial" panose="020B0604020202020204" pitchFamily="34" charset="0"/>
              </a:rPr>
              <a:t> The fundamental object representing an inventory item, containing the current stock and the threshold that triggers alerts.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Alert:</a:t>
            </a:r>
            <a:r>
              <a:rPr kumimoji="0" lang="en-US" altLang="en-US" sz="2000" b="0" i="0" u="none" strike="noStrike" cap="none" normalizeH="0" baseline="0" dirty="0">
                <a:ln>
                  <a:noFill/>
                </a:ln>
                <a:solidFill>
                  <a:schemeClr val="tx1"/>
                </a:solidFill>
                <a:effectLst/>
                <a:latin typeface="Arial" panose="020B0604020202020204" pitchFamily="34" charset="0"/>
              </a:rPr>
              <a:t> A concrete record created by the system when a threshold is breached, detailing the issue, the product, and the status.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Arial" panose="020B0604020202020204" pitchFamily="34" charset="0"/>
              </a:rPr>
              <a:t>AlertController</a:t>
            </a:r>
            <a:r>
              <a:rPr kumimoji="0" lang="en-US" altLang="en-US" sz="2000" b="1" i="0" u="none" strike="noStrike" cap="none" normalizeH="0" baseline="0" dirty="0">
                <a:ln>
                  <a:noFill/>
                </a:ln>
                <a:solidFill>
                  <a:schemeClr val="tx1"/>
                </a:solidFill>
                <a:effectLst/>
                <a:latin typeface="Arial" panose="020B0604020202020204" pitchFamily="34" charset="0"/>
              </a:rPr>
              <a:t>:</a:t>
            </a:r>
            <a:r>
              <a:rPr kumimoji="0" lang="en-US" altLang="en-US" sz="2000" b="0" i="0" u="none" strike="noStrike" cap="none" normalizeH="0" baseline="0" dirty="0">
                <a:ln>
                  <a:noFill/>
                </a:ln>
                <a:solidFill>
                  <a:schemeClr val="tx1"/>
                </a:solidFill>
                <a:effectLst/>
                <a:latin typeface="Arial" panose="020B0604020202020204" pitchFamily="34" charset="0"/>
              </a:rPr>
              <a:t> Handles external user requests (e.g., viewing or closing alerts) and routes them to the service layer.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Arial" panose="020B0604020202020204" pitchFamily="34" charset="0"/>
              </a:rPr>
              <a:t>AlertService</a:t>
            </a:r>
            <a:r>
              <a:rPr kumimoji="0" lang="en-US" altLang="en-US" sz="2000" b="1" i="0" u="none" strike="noStrike" cap="none" normalizeH="0" baseline="0" dirty="0">
                <a:ln>
                  <a:noFill/>
                </a:ln>
                <a:solidFill>
                  <a:schemeClr val="tx1"/>
                </a:solidFill>
                <a:effectLst/>
                <a:latin typeface="Arial" panose="020B0604020202020204" pitchFamily="34" charset="0"/>
              </a:rPr>
              <a:t>:</a:t>
            </a:r>
            <a:r>
              <a:rPr kumimoji="0" lang="en-US" altLang="en-US" sz="2000" b="0" i="0" u="none" strike="noStrike" cap="none" normalizeH="0" baseline="0" dirty="0">
                <a:ln>
                  <a:noFill/>
                </a:ln>
                <a:solidFill>
                  <a:schemeClr val="tx1"/>
                </a:solidFill>
                <a:effectLst/>
                <a:latin typeface="Arial" panose="020B0604020202020204" pitchFamily="34" charset="0"/>
              </a:rPr>
              <a:t> Executes the core business logic, constantly monitoring products, generating new alerts, and managing alert statuses.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Arial" panose="020B0604020202020204" pitchFamily="34" charset="0"/>
              </a:rPr>
              <a:t>AlertRepository</a:t>
            </a:r>
            <a:r>
              <a:rPr kumimoji="0" lang="en-US" altLang="en-US" sz="2000" b="1" i="0" u="none" strike="noStrike" cap="none" normalizeH="0" baseline="0" dirty="0">
                <a:ln>
                  <a:noFill/>
                </a:ln>
                <a:solidFill>
                  <a:schemeClr val="tx1"/>
                </a:solidFill>
                <a:effectLst/>
                <a:latin typeface="Arial" panose="020B0604020202020204" pitchFamily="34" charset="0"/>
              </a:rPr>
              <a:t>:</a:t>
            </a:r>
            <a:r>
              <a:rPr kumimoji="0" lang="en-US" altLang="en-US" sz="2000" b="0" i="0" u="none" strike="noStrike" cap="none" normalizeH="0" baseline="0" dirty="0">
                <a:ln>
                  <a:noFill/>
                </a:ln>
                <a:solidFill>
                  <a:schemeClr val="tx1"/>
                </a:solidFill>
                <a:effectLst/>
                <a:latin typeface="Arial" panose="020B0604020202020204" pitchFamily="34" charset="0"/>
              </a:rPr>
              <a:t> Manages all data interactions, specifically saving, retrieving, and updating </a:t>
            </a:r>
            <a:r>
              <a:rPr kumimoji="0" lang="en-US" altLang="en-US" sz="2000" b="0" i="0" u="none" strike="noStrike" cap="none" normalizeH="0" baseline="0" dirty="0">
                <a:ln>
                  <a:noFill/>
                </a:ln>
                <a:solidFill>
                  <a:schemeClr val="tx1"/>
                </a:solidFill>
                <a:effectLst/>
                <a:latin typeface="Arial Unicode MS"/>
              </a:rPr>
              <a:t>Product</a:t>
            </a:r>
            <a:r>
              <a:rPr kumimoji="0" lang="en-US" altLang="en-US" sz="2000" b="0" i="0" u="none" strike="noStrike" cap="none" normalizeH="0" baseline="0" dirty="0">
                <a:ln>
                  <a:noFill/>
                </a:ln>
                <a:solidFill>
                  <a:schemeClr val="tx1"/>
                </a:solidFill>
                <a:effectLst/>
              </a:rPr>
              <a:t> and </a:t>
            </a:r>
            <a:r>
              <a:rPr kumimoji="0" lang="en-US" altLang="en-US" sz="2000" b="0" i="0" u="none" strike="noStrike" cap="none" normalizeH="0" baseline="0" dirty="0">
                <a:ln>
                  <a:noFill/>
                </a:ln>
                <a:solidFill>
                  <a:schemeClr val="tx1"/>
                </a:solidFill>
                <a:effectLst/>
                <a:latin typeface="Arial Unicode MS"/>
              </a:rPr>
              <a:t>Alert</a:t>
            </a:r>
            <a:r>
              <a:rPr kumimoji="0" lang="en-US" altLang="en-US" sz="2000" b="0" i="0" u="none" strike="noStrike" cap="none" normalizeH="0" baseline="0" dirty="0">
                <a:ln>
                  <a:noFill/>
                </a:ln>
                <a:solidFill>
                  <a:schemeClr val="tx1"/>
                </a:solidFill>
                <a:effectLst/>
              </a:rPr>
              <a:t> records in the database.</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22324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rot="10800000" flipV="1">
            <a:off x="914400" y="762000"/>
            <a:ext cx="10058400" cy="152400"/>
          </a:xfrm>
        </p:spPr>
        <p:txBody>
          <a:bodyPr anchor="b"/>
          <a:lstStyle/>
          <a:p>
            <a:r>
              <a:rPr lang="en-US" b="1" dirty="0"/>
              <a:t>Functional Flow</a:t>
            </a:r>
          </a:p>
        </p:txBody>
      </p:sp>
      <p:sp>
        <p:nvSpPr>
          <p:cNvPr id="15" name="Text Placeholder 14">
            <a:extLst>
              <a:ext uri="{FF2B5EF4-FFF2-40B4-BE49-F238E27FC236}">
                <a16:creationId xmlns:a16="http://schemas.microsoft.com/office/drawing/2014/main" id="{C7846849-DC0A-EE3B-2E5E-D669EC1273D6}"/>
              </a:ext>
            </a:extLst>
          </p:cNvPr>
          <p:cNvSpPr>
            <a:spLocks noGrp="1"/>
          </p:cNvSpPr>
          <p:nvPr>
            <p:ph type="body" sz="quarter" idx="13"/>
          </p:nvPr>
        </p:nvSpPr>
        <p:spPr>
          <a:xfrm>
            <a:off x="640080" y="1524001"/>
            <a:ext cx="11262360" cy="2285999"/>
          </a:xfrm>
        </p:spPr>
        <p:txBody>
          <a:bodyPr/>
          <a:lstStyle/>
          <a:p>
            <a:r>
              <a:rPr lang="en-US" sz="2000" dirty="0">
                <a:latin typeface="+mj-lt"/>
              </a:rPr>
              <a:t>alert service----product repository----checks quantity &lt; reorder level</a:t>
            </a:r>
          </a:p>
          <a:p>
            <a:endParaRPr lang="en-US" sz="2000" dirty="0"/>
          </a:p>
          <a:p>
            <a:r>
              <a:rPr lang="en-IN" sz="2000" dirty="0" err="1">
                <a:latin typeface="+mj-lt"/>
              </a:rPr>
              <a:t>alertservice</a:t>
            </a:r>
            <a:r>
              <a:rPr lang="en-IN" sz="2000" dirty="0">
                <a:latin typeface="+mj-lt"/>
              </a:rPr>
              <a:t> ----alert repository-----creates alert</a:t>
            </a:r>
          </a:p>
          <a:p>
            <a:endParaRPr lang="en-IN" dirty="0"/>
          </a:p>
          <a:p>
            <a:r>
              <a:rPr lang="en-IN" sz="2000" dirty="0">
                <a:latin typeface="+mj-lt"/>
              </a:rPr>
              <a:t>Alert controller----shows alert to </a:t>
            </a:r>
            <a:r>
              <a:rPr lang="en-IN" sz="2000" dirty="0" err="1">
                <a:latin typeface="+mj-lt"/>
              </a:rPr>
              <a:t>ui</a:t>
            </a:r>
            <a:endParaRPr lang="en-IN" sz="2000" dirty="0">
              <a:latin typeface="+mj-lt"/>
            </a:endParaRPr>
          </a:p>
          <a:p>
            <a:endParaRPr lang="en-IN" sz="2000" dirty="0">
              <a:latin typeface="+mj-lt"/>
            </a:endParaRPr>
          </a:p>
          <a:p>
            <a:endParaRPr lang="en-IN" sz="2000" dirty="0">
              <a:latin typeface="+mj-lt"/>
            </a:endParaRPr>
          </a:p>
          <a:p>
            <a:endParaRPr lang="en-US" sz="2000" dirty="0">
              <a:latin typeface="+mj-lt"/>
            </a:endParaRPr>
          </a:p>
        </p:txBody>
      </p:sp>
      <p:sp>
        <p:nvSpPr>
          <p:cNvPr id="3" name="TextBox 2">
            <a:extLst>
              <a:ext uri="{FF2B5EF4-FFF2-40B4-BE49-F238E27FC236}">
                <a16:creationId xmlns:a16="http://schemas.microsoft.com/office/drawing/2014/main" id="{7A5B716F-E3AF-9D7A-3D11-FE7F87D60FA5}"/>
              </a:ext>
            </a:extLst>
          </p:cNvPr>
          <p:cNvSpPr txBox="1"/>
          <p:nvPr/>
        </p:nvSpPr>
        <p:spPr>
          <a:xfrm rot="10800000" flipV="1">
            <a:off x="1249680" y="3953471"/>
            <a:ext cx="10546080" cy="1938992"/>
          </a:xfrm>
          <a:prstGeom prst="rect">
            <a:avLst/>
          </a:prstGeom>
          <a:noFill/>
        </p:spPr>
        <p:txBody>
          <a:bodyPr wrap="square">
            <a:spAutoFit/>
          </a:bodyPr>
          <a:lstStyle/>
          <a:p>
            <a:r>
              <a:rPr lang="en-US" sz="2000" dirty="0">
                <a:latin typeface="+mj-lt"/>
              </a:rPr>
              <a:t>The </a:t>
            </a:r>
            <a:r>
              <a:rPr lang="en-US" sz="2000" b="1" dirty="0" err="1">
                <a:latin typeface="+mj-lt"/>
              </a:rPr>
              <a:t>AlertService</a:t>
            </a:r>
            <a:r>
              <a:rPr lang="en-US" sz="2000" dirty="0">
                <a:latin typeface="+mj-lt"/>
              </a:rPr>
              <a:t> initiates the check by collaborating with the </a:t>
            </a:r>
            <a:r>
              <a:rPr lang="en-US" sz="2000" b="1" dirty="0" err="1">
                <a:latin typeface="+mj-lt"/>
              </a:rPr>
              <a:t>ProductRepository</a:t>
            </a:r>
            <a:r>
              <a:rPr lang="en-US" sz="2000" dirty="0">
                <a:latin typeface="+mj-lt"/>
              </a:rPr>
              <a:t>, which retrieves data and verifies if the stock quantity is less than the reorder level. If the condition is met, the </a:t>
            </a:r>
            <a:r>
              <a:rPr lang="en-US" sz="2000" dirty="0" err="1">
                <a:latin typeface="+mj-lt"/>
              </a:rPr>
              <a:t>AlertService</a:t>
            </a:r>
            <a:r>
              <a:rPr lang="en-US" sz="2000" dirty="0">
                <a:latin typeface="+mj-lt"/>
              </a:rPr>
              <a:t> then instructs the </a:t>
            </a:r>
            <a:r>
              <a:rPr lang="en-US" sz="2000" b="1" dirty="0" err="1">
                <a:latin typeface="+mj-lt"/>
              </a:rPr>
              <a:t>AlertRepository</a:t>
            </a:r>
            <a:r>
              <a:rPr lang="en-US" sz="2000" dirty="0">
                <a:latin typeface="+mj-lt"/>
              </a:rPr>
              <a:t> to permanently save the new alert record. Finally, the </a:t>
            </a:r>
            <a:r>
              <a:rPr lang="en-US" sz="2000" b="1" dirty="0" err="1">
                <a:latin typeface="+mj-lt"/>
              </a:rPr>
              <a:t>AlertController</a:t>
            </a:r>
            <a:r>
              <a:rPr lang="en-US" sz="2000" dirty="0">
                <a:latin typeface="+mj-lt"/>
              </a:rPr>
              <a:t> retrieves and formats this record to display the warning notification directly on the User Interface (UI).</a:t>
            </a:r>
            <a:endParaRPr lang="en-IN" sz="2000" dirty="0">
              <a:latin typeface="+mj-lt"/>
            </a:endParaRPr>
          </a:p>
        </p:txBody>
      </p:sp>
    </p:spTree>
    <p:extLst>
      <p:ext uri="{BB962C8B-B14F-4D97-AF65-F5344CB8AC3E}">
        <p14:creationId xmlns:p14="http://schemas.microsoft.com/office/powerpoint/2010/main" val="1096717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a:xfrm>
            <a:off x="777240" y="-152400"/>
            <a:ext cx="10576560" cy="1661160"/>
          </a:xfrm>
        </p:spPr>
        <p:txBody>
          <a:bodyPr/>
          <a:lstStyle/>
          <a:p>
            <a:r>
              <a:rPr lang="en-IN" b="1" dirty="0"/>
              <a:t>INVENTORY ALERTS MODULE </a:t>
            </a:r>
            <a:r>
              <a:rPr lang="en-US" b="1" dirty="0" err="1"/>
              <a:t>PseudoCode</a:t>
            </a:r>
            <a:endParaRPr lang="en-US" b="1" dirty="0"/>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640080" y="1508760"/>
            <a:ext cx="4267201" cy="2743201"/>
          </a:xfrm>
        </p:spPr>
        <p:txBody>
          <a:bodyPr>
            <a:normAutofit/>
          </a:bodyPr>
          <a:lstStyle/>
          <a:p>
            <a:endParaRPr lang="en-IN" sz="4000" dirty="0"/>
          </a:p>
          <a:p>
            <a:r>
              <a:rPr lang="en-IN" b="1" dirty="0">
                <a:latin typeface="+mj-lt"/>
              </a:rPr>
              <a:t>Purpose</a:t>
            </a:r>
          </a:p>
          <a:p>
            <a:pPr lvl="0"/>
            <a:r>
              <a:rPr lang="en-IN" dirty="0">
                <a:latin typeface="+mj-lt"/>
              </a:rPr>
              <a:t>1.Avoid stock-out</a:t>
            </a:r>
          </a:p>
          <a:p>
            <a:pPr lvl="0"/>
            <a:r>
              <a:rPr lang="en-IN" dirty="0">
                <a:latin typeface="+mj-lt"/>
              </a:rPr>
              <a:t>2.Inform responsible staff</a:t>
            </a:r>
          </a:p>
          <a:p>
            <a:endParaRPr lang="en-US" dirty="0"/>
          </a:p>
        </p:txBody>
      </p:sp>
      <p:sp>
        <p:nvSpPr>
          <p:cNvPr id="17" name="Content Placeholder 16">
            <a:extLst>
              <a:ext uri="{FF2B5EF4-FFF2-40B4-BE49-F238E27FC236}">
                <a16:creationId xmlns:a16="http://schemas.microsoft.com/office/drawing/2014/main" id="{2F3CEF66-C6D7-C765-24E7-1DCFB38FE51A}"/>
              </a:ext>
            </a:extLst>
          </p:cNvPr>
          <p:cNvSpPr>
            <a:spLocks noGrp="1"/>
          </p:cNvSpPr>
          <p:nvPr>
            <p:ph sz="quarter" idx="12"/>
          </p:nvPr>
        </p:nvSpPr>
        <p:spPr>
          <a:xfrm>
            <a:off x="4678681" y="2039113"/>
            <a:ext cx="5946268" cy="2974848"/>
          </a:xfrm>
        </p:spPr>
        <p:txBody>
          <a:bodyPr>
            <a:noAutofit/>
          </a:bodyPr>
          <a:lstStyle/>
          <a:p>
            <a:r>
              <a:rPr lang="en-IN" b="1" dirty="0">
                <a:latin typeface="+mj-lt"/>
              </a:rPr>
              <a:t> </a:t>
            </a:r>
            <a:r>
              <a:rPr lang="en-IN" b="1" u="sng" dirty="0" err="1">
                <a:latin typeface="+mj-lt"/>
              </a:rPr>
              <a:t>AlertService</a:t>
            </a:r>
            <a:r>
              <a:rPr lang="en-IN" b="1" u="sng" dirty="0">
                <a:latin typeface="+mj-lt"/>
              </a:rPr>
              <a:t> Class</a:t>
            </a:r>
          </a:p>
          <a:p>
            <a:r>
              <a:rPr lang="en-IN" b="1" dirty="0">
                <a:latin typeface="+mj-lt"/>
              </a:rPr>
              <a:t>Pseudocode</a:t>
            </a:r>
            <a:endParaRPr lang="en-IN" dirty="0">
              <a:latin typeface="+mj-lt"/>
            </a:endParaRPr>
          </a:p>
          <a:p>
            <a:r>
              <a:rPr lang="en-IN" dirty="0">
                <a:latin typeface="+mj-lt"/>
              </a:rPr>
              <a:t>CLASS </a:t>
            </a:r>
            <a:r>
              <a:rPr lang="en-IN" dirty="0" err="1">
                <a:latin typeface="+mj-lt"/>
              </a:rPr>
              <a:t>AlertService</a:t>
            </a:r>
            <a:endParaRPr lang="en-IN" dirty="0">
              <a:latin typeface="+mj-lt"/>
            </a:endParaRPr>
          </a:p>
          <a:p>
            <a:r>
              <a:rPr lang="en-IN" dirty="0">
                <a:latin typeface="+mj-lt"/>
              </a:rPr>
              <a:t> FUNCTION </a:t>
            </a:r>
            <a:r>
              <a:rPr lang="en-IN" dirty="0" err="1">
                <a:latin typeface="+mj-lt"/>
              </a:rPr>
              <a:t>checkLowStock</a:t>
            </a:r>
            <a:r>
              <a:rPr lang="en-IN" dirty="0">
                <a:latin typeface="+mj-lt"/>
              </a:rPr>
              <a:t>(product)</a:t>
            </a:r>
          </a:p>
          <a:p>
            <a:r>
              <a:rPr lang="en-IN" dirty="0">
                <a:latin typeface="+mj-lt"/>
              </a:rPr>
              <a:t>        IF </a:t>
            </a:r>
            <a:r>
              <a:rPr lang="en-IN" dirty="0" err="1">
                <a:latin typeface="+mj-lt"/>
              </a:rPr>
              <a:t>product.stock</a:t>
            </a:r>
            <a:r>
              <a:rPr lang="en-IN" dirty="0">
                <a:latin typeface="+mj-lt"/>
              </a:rPr>
              <a:t> &lt; </a:t>
            </a:r>
            <a:r>
              <a:rPr lang="en-IN" dirty="0" err="1">
                <a:latin typeface="+mj-lt"/>
              </a:rPr>
              <a:t>product.minStockLevel</a:t>
            </a:r>
            <a:r>
              <a:rPr lang="en-IN" dirty="0">
                <a:latin typeface="+mj-lt"/>
              </a:rPr>
              <a:t> THEN</a:t>
            </a:r>
          </a:p>
          <a:p>
            <a:r>
              <a:rPr lang="en-IN" dirty="0">
                <a:latin typeface="+mj-lt"/>
              </a:rPr>
              <a:t>         </a:t>
            </a:r>
            <a:r>
              <a:rPr lang="en-IN" dirty="0" err="1">
                <a:latin typeface="+mj-lt"/>
              </a:rPr>
              <a:t>NotificationService.sendAlert</a:t>
            </a:r>
            <a:r>
              <a:rPr lang="en-IN" dirty="0">
                <a:latin typeface="+mj-lt"/>
              </a:rPr>
              <a:t>(product)</a:t>
            </a:r>
          </a:p>
          <a:p>
            <a:r>
              <a:rPr lang="en-IN" dirty="0">
                <a:latin typeface="+mj-lt"/>
              </a:rPr>
              <a:t>        END IF</a:t>
            </a:r>
          </a:p>
          <a:p>
            <a:r>
              <a:rPr lang="en-IN" dirty="0">
                <a:latin typeface="+mj-lt"/>
              </a:rPr>
              <a:t>    END FUNCTION</a:t>
            </a:r>
          </a:p>
          <a:p>
            <a:r>
              <a:rPr lang="en-IN" dirty="0">
                <a:latin typeface="+mj-lt"/>
              </a:rPr>
              <a:t>END CLASS</a:t>
            </a:r>
            <a:endParaRPr lang="en-US" dirty="0">
              <a:latin typeface="+mj-lt"/>
            </a:endParaRPr>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26</a:t>
            </a:fld>
            <a:endParaRPr lang="en-US" dirty="0"/>
          </a:p>
        </p:txBody>
      </p:sp>
      <p:sp>
        <p:nvSpPr>
          <p:cNvPr id="4" name="TextBox 3">
            <a:extLst>
              <a:ext uri="{FF2B5EF4-FFF2-40B4-BE49-F238E27FC236}">
                <a16:creationId xmlns:a16="http://schemas.microsoft.com/office/drawing/2014/main" id="{B7F65FD4-E9D3-B53A-A6ED-38B1E805E8DD}"/>
              </a:ext>
            </a:extLst>
          </p:cNvPr>
          <p:cNvSpPr txBox="1"/>
          <p:nvPr/>
        </p:nvSpPr>
        <p:spPr>
          <a:xfrm rot="10800000" flipV="1">
            <a:off x="8003457" y="4476542"/>
            <a:ext cx="3844413" cy="1692771"/>
          </a:xfrm>
          <a:prstGeom prst="rect">
            <a:avLst/>
          </a:prstGeom>
          <a:noFill/>
        </p:spPr>
        <p:txBody>
          <a:bodyPr wrap="square">
            <a:spAutoFit/>
          </a:bodyPr>
          <a:lstStyle/>
          <a:p>
            <a:endParaRPr lang="en-IN" sz="2400" b="1" dirty="0"/>
          </a:p>
          <a:p>
            <a:r>
              <a:rPr lang="en-IN" sz="2000" b="1" dirty="0">
                <a:latin typeface="+mj-lt"/>
              </a:rPr>
              <a:t>Explanation</a:t>
            </a:r>
          </a:p>
          <a:p>
            <a:pPr lvl="0"/>
            <a:r>
              <a:rPr lang="en-IN" sz="2000" dirty="0">
                <a:latin typeface="+mj-lt"/>
              </a:rPr>
              <a:t>Automatically triggered after stock change</a:t>
            </a:r>
          </a:p>
          <a:p>
            <a:pPr lvl="0"/>
            <a:r>
              <a:rPr lang="en-IN" sz="2000" dirty="0">
                <a:latin typeface="+mj-lt"/>
              </a:rPr>
              <a:t>Works silently in background</a:t>
            </a:r>
          </a:p>
        </p:txBody>
      </p:sp>
    </p:spTree>
    <p:extLst>
      <p:ext uri="{BB962C8B-B14F-4D97-AF65-F5344CB8AC3E}">
        <p14:creationId xmlns:p14="http://schemas.microsoft.com/office/powerpoint/2010/main" val="4230106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27</a:t>
            </a:fld>
            <a:endParaRPr lang="en-US" dirty="0"/>
          </a:p>
        </p:txBody>
      </p:sp>
      <p:sp>
        <p:nvSpPr>
          <p:cNvPr id="6" name="TextBox 5">
            <a:extLst>
              <a:ext uri="{FF2B5EF4-FFF2-40B4-BE49-F238E27FC236}">
                <a16:creationId xmlns:a16="http://schemas.microsoft.com/office/drawing/2014/main" id="{229AE571-B7AA-5548-5A02-5865B1E38C64}"/>
              </a:ext>
            </a:extLst>
          </p:cNvPr>
          <p:cNvSpPr txBox="1"/>
          <p:nvPr/>
        </p:nvSpPr>
        <p:spPr>
          <a:xfrm>
            <a:off x="1493520" y="441961"/>
            <a:ext cx="7650480" cy="5632311"/>
          </a:xfrm>
          <a:prstGeom prst="rect">
            <a:avLst/>
          </a:prstGeom>
          <a:noFill/>
        </p:spPr>
        <p:txBody>
          <a:bodyPr wrap="square">
            <a:spAutoFit/>
          </a:bodyPr>
          <a:lstStyle/>
          <a:p>
            <a:r>
              <a:rPr lang="en-IN" sz="2400" b="1" u="sng" dirty="0" err="1">
                <a:latin typeface="+mj-lt"/>
              </a:rPr>
              <a:t>NotificationService</a:t>
            </a:r>
            <a:r>
              <a:rPr lang="en-IN" sz="2400" b="1" u="sng" dirty="0">
                <a:latin typeface="+mj-lt"/>
              </a:rPr>
              <a:t> Class</a:t>
            </a:r>
            <a:endParaRPr lang="en-IN" sz="2400" u="sng" dirty="0">
              <a:latin typeface="+mj-lt"/>
            </a:endParaRPr>
          </a:p>
          <a:p>
            <a:endParaRPr lang="en-IN" sz="2400" b="1" dirty="0">
              <a:latin typeface="+mj-lt"/>
            </a:endParaRPr>
          </a:p>
          <a:p>
            <a:r>
              <a:rPr lang="en-IN" sz="2400" b="1" dirty="0">
                <a:latin typeface="+mj-lt"/>
              </a:rPr>
              <a:t>Pseudocode</a:t>
            </a:r>
            <a:endParaRPr lang="en-IN" sz="2400" dirty="0">
              <a:latin typeface="+mj-lt"/>
            </a:endParaRPr>
          </a:p>
          <a:p>
            <a:r>
              <a:rPr lang="en-IN" sz="2400" dirty="0">
                <a:latin typeface="+mj-lt"/>
              </a:rPr>
              <a:t>CLASS </a:t>
            </a:r>
            <a:r>
              <a:rPr lang="en-IN" sz="2400" dirty="0" err="1">
                <a:latin typeface="+mj-lt"/>
              </a:rPr>
              <a:t>NotificationService</a:t>
            </a:r>
            <a:endParaRPr lang="en-IN" sz="2400" dirty="0">
              <a:latin typeface="+mj-lt"/>
            </a:endParaRPr>
          </a:p>
          <a:p>
            <a:r>
              <a:rPr lang="en-IN" sz="2400" dirty="0">
                <a:latin typeface="+mj-lt"/>
              </a:rPr>
              <a:t> </a:t>
            </a:r>
          </a:p>
          <a:p>
            <a:r>
              <a:rPr lang="en-IN" sz="2400" dirty="0">
                <a:latin typeface="+mj-lt"/>
              </a:rPr>
              <a:t>    FUNCTION </a:t>
            </a:r>
            <a:r>
              <a:rPr lang="en-IN" sz="2400" dirty="0" err="1">
                <a:latin typeface="+mj-lt"/>
              </a:rPr>
              <a:t>sendAlert</a:t>
            </a:r>
            <a:r>
              <a:rPr lang="en-IN" sz="2400" dirty="0">
                <a:latin typeface="+mj-lt"/>
              </a:rPr>
              <a:t>(product)</a:t>
            </a:r>
          </a:p>
          <a:p>
            <a:r>
              <a:rPr lang="en-IN" sz="2400" dirty="0">
                <a:latin typeface="+mj-lt"/>
              </a:rPr>
              <a:t>        show dashboard alert</a:t>
            </a:r>
          </a:p>
          <a:p>
            <a:r>
              <a:rPr lang="en-IN" sz="2400" dirty="0">
                <a:latin typeface="+mj-lt"/>
              </a:rPr>
              <a:t>        send email or SMS</a:t>
            </a:r>
          </a:p>
          <a:p>
            <a:r>
              <a:rPr lang="en-IN" sz="2400" dirty="0">
                <a:latin typeface="+mj-lt"/>
              </a:rPr>
              <a:t>    END FUNCTION</a:t>
            </a:r>
          </a:p>
          <a:p>
            <a:r>
              <a:rPr lang="en-IN" sz="2400" dirty="0">
                <a:latin typeface="+mj-lt"/>
              </a:rPr>
              <a:t> </a:t>
            </a:r>
          </a:p>
          <a:p>
            <a:r>
              <a:rPr lang="en-IN" sz="2400" dirty="0">
                <a:latin typeface="+mj-lt"/>
              </a:rPr>
              <a:t>END CLASS</a:t>
            </a:r>
          </a:p>
          <a:p>
            <a:endParaRPr lang="en-IN" sz="2400" b="1" dirty="0">
              <a:latin typeface="+mj-lt"/>
            </a:endParaRPr>
          </a:p>
          <a:p>
            <a:r>
              <a:rPr lang="en-IN" sz="2400" b="1" dirty="0">
                <a:latin typeface="+mj-lt"/>
              </a:rPr>
              <a:t>Explanation</a:t>
            </a:r>
            <a:endParaRPr lang="en-IN" sz="2400" dirty="0">
              <a:latin typeface="+mj-lt"/>
            </a:endParaRPr>
          </a:p>
          <a:p>
            <a:pPr lvl="0"/>
            <a:r>
              <a:rPr lang="en-IN" sz="2400" dirty="0">
                <a:latin typeface="+mj-lt"/>
              </a:rPr>
              <a:t>Uses communication channels</a:t>
            </a:r>
          </a:p>
          <a:p>
            <a:pPr lvl="0"/>
            <a:r>
              <a:rPr lang="en-IN" sz="2400" dirty="0">
                <a:latin typeface="+mj-lt"/>
              </a:rPr>
              <a:t>Improves operational efficiency</a:t>
            </a:r>
          </a:p>
        </p:txBody>
      </p:sp>
    </p:spTree>
    <p:extLst>
      <p:ext uri="{BB962C8B-B14F-4D97-AF65-F5344CB8AC3E}">
        <p14:creationId xmlns:p14="http://schemas.microsoft.com/office/powerpoint/2010/main" val="37483489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a:xfrm>
            <a:off x="914400" y="243840"/>
            <a:ext cx="5852160" cy="1036320"/>
          </a:xfrm>
        </p:spPr>
        <p:txBody>
          <a:bodyPr/>
          <a:lstStyle/>
          <a:p>
            <a:r>
              <a:rPr lang="en-US" b="1" dirty="0"/>
              <a:t>Key Benefits</a:t>
            </a:r>
            <a:endParaRPr lang="en-US" dirty="0"/>
          </a:p>
        </p:txBody>
      </p:sp>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914400" y="1417320"/>
            <a:ext cx="10317480" cy="4507991"/>
          </a:xfrm>
        </p:spPr>
        <p:txBody>
          <a:bodyPr>
            <a:normAutofit fontScale="85000" lnSpcReduction="20000"/>
          </a:bodyPr>
          <a:lstStyle/>
          <a:p>
            <a:r>
              <a:rPr lang="en-US" sz="2200" dirty="0">
                <a:latin typeface="+mj-lt"/>
              </a:rPr>
              <a:t>The module's main advantage is shifting the process from manual, reactive tracking to </a:t>
            </a:r>
            <a:r>
              <a:rPr lang="en-US" sz="2200" b="1" dirty="0">
                <a:latin typeface="+mj-lt"/>
              </a:rPr>
              <a:t>automated, proactive management</a:t>
            </a:r>
            <a:r>
              <a:rPr lang="en-US" sz="2200" dirty="0">
                <a:latin typeface="+mj-lt"/>
              </a:rPr>
              <a:t>.</a:t>
            </a:r>
          </a:p>
          <a:p>
            <a:endParaRPr lang="en-US" sz="2200" dirty="0">
              <a:latin typeface="+mj-lt"/>
            </a:endParaRPr>
          </a:p>
          <a:p>
            <a:pPr marL="457200" indent="-457200">
              <a:buFont typeface="+mj-lt"/>
              <a:buAutoNum type="arabicPeriod"/>
            </a:pPr>
            <a:r>
              <a:rPr lang="en-US" sz="2200" b="1" dirty="0">
                <a:latin typeface="+mj-lt"/>
              </a:rPr>
              <a:t>Prevents Stockouts:</a:t>
            </a:r>
            <a:r>
              <a:rPr lang="en-US" sz="2200" dirty="0">
                <a:latin typeface="+mj-lt"/>
              </a:rPr>
              <a:t> By notifying users when stock hits a critical </a:t>
            </a:r>
            <a:r>
              <a:rPr lang="en-US" sz="2200" i="1" dirty="0">
                <a:latin typeface="+mj-lt"/>
              </a:rPr>
              <a:t>reorder point</a:t>
            </a:r>
            <a:r>
              <a:rPr lang="en-US" sz="2200" dirty="0">
                <a:latin typeface="+mj-lt"/>
              </a:rPr>
              <a:t>, it ensures new orders are placed with enough lead time to avoid running out of product.</a:t>
            </a:r>
          </a:p>
          <a:p>
            <a:pPr marL="457200" indent="-457200">
              <a:buFont typeface="+mj-lt"/>
              <a:buAutoNum type="arabicPeriod"/>
            </a:pPr>
            <a:endParaRPr lang="en-US" sz="2200" dirty="0">
              <a:latin typeface="+mj-lt"/>
            </a:endParaRPr>
          </a:p>
          <a:p>
            <a:pPr marL="457200" indent="-457200">
              <a:buFont typeface="+mj-lt"/>
              <a:buAutoNum type="arabicPeriod"/>
            </a:pPr>
            <a:r>
              <a:rPr lang="en-US" sz="2200" b="1" dirty="0">
                <a:latin typeface="+mj-lt"/>
              </a:rPr>
              <a:t>Reduces Errors:</a:t>
            </a:r>
            <a:r>
              <a:rPr lang="en-US" sz="2200" dirty="0">
                <a:latin typeface="+mj-lt"/>
              </a:rPr>
              <a:t> It eliminates the need for manual, error-prone monitoring of spreadsheets or physical counts.</a:t>
            </a:r>
          </a:p>
          <a:p>
            <a:pPr marL="457200" indent="-457200">
              <a:buFont typeface="+mj-lt"/>
              <a:buAutoNum type="arabicPeriod"/>
            </a:pPr>
            <a:endParaRPr lang="en-US" sz="2200" dirty="0">
              <a:latin typeface="+mj-lt"/>
            </a:endParaRPr>
          </a:p>
          <a:p>
            <a:pPr marL="457200" indent="-457200">
              <a:buFont typeface="+mj-lt"/>
              <a:buAutoNum type="arabicPeriod"/>
            </a:pPr>
            <a:r>
              <a:rPr lang="en-US" sz="2200" b="1" dirty="0">
                <a:latin typeface="+mj-lt"/>
              </a:rPr>
              <a:t>Enables Timely Action:</a:t>
            </a:r>
            <a:r>
              <a:rPr lang="en-US" sz="2200" dirty="0">
                <a:latin typeface="+mj-lt"/>
              </a:rPr>
              <a:t> The core benefit mentioned in your slide is allowing users to </a:t>
            </a:r>
            <a:r>
              <a:rPr lang="en-US" sz="2200" b="1" dirty="0">
                <a:latin typeface="+mj-lt"/>
              </a:rPr>
              <a:t>"take timely action before the stock runs out."</a:t>
            </a:r>
            <a:r>
              <a:rPr lang="en-US" sz="2200" dirty="0">
                <a:latin typeface="+mj-lt"/>
              </a:rPr>
              <a:t> This maximizes sales opportunities and improves customer satisfaction.</a:t>
            </a:r>
          </a:p>
          <a:p>
            <a:pPr marL="457200" indent="-457200">
              <a:buFont typeface="+mj-lt"/>
              <a:buAutoNum type="arabicPeriod"/>
            </a:pPr>
            <a:endParaRPr lang="en-US" sz="2200" dirty="0">
              <a:latin typeface="+mj-lt"/>
            </a:endParaRPr>
          </a:p>
          <a:p>
            <a:pPr marL="457200" indent="-457200">
              <a:buFont typeface="+mj-lt"/>
              <a:buAutoNum type="arabicPeriod"/>
            </a:pPr>
            <a:r>
              <a:rPr lang="en-US" sz="2200" b="1" dirty="0">
                <a:latin typeface="+mj-lt"/>
              </a:rPr>
              <a:t>Adds Intelligence:</a:t>
            </a:r>
            <a:r>
              <a:rPr lang="en-US" sz="2200" dirty="0">
                <a:latin typeface="+mj-lt"/>
              </a:rPr>
              <a:t> It provides an intelligent layer to the system, focusing management effort only on items that require attention, thereby boosting </a:t>
            </a:r>
            <a:r>
              <a:rPr lang="en-US" sz="2200" b="1" dirty="0">
                <a:latin typeface="+mj-lt"/>
              </a:rPr>
              <a:t>efficiency</a:t>
            </a:r>
            <a:r>
              <a:rPr lang="en-US" sz="2200" dirty="0">
                <a:latin typeface="+mj-lt"/>
              </a:rPr>
              <a:t>.</a:t>
            </a:r>
          </a:p>
          <a:p>
            <a:endParaRPr lang="en-US" dirty="0"/>
          </a:p>
        </p:txBody>
      </p:sp>
    </p:spTree>
    <p:extLst>
      <p:ext uri="{BB962C8B-B14F-4D97-AF65-F5344CB8AC3E}">
        <p14:creationId xmlns:p14="http://schemas.microsoft.com/office/powerpoint/2010/main" val="8599098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6E3FD31-D19A-BFEB-821F-C00103830DC9}"/>
              </a:ext>
            </a:extLst>
          </p:cNvPr>
          <p:cNvSpPr>
            <a:spLocks noGrp="1"/>
          </p:cNvSpPr>
          <p:nvPr>
            <p:ph type="title"/>
          </p:nvPr>
        </p:nvSpPr>
        <p:spPr>
          <a:xfrm>
            <a:off x="701040" y="106680"/>
            <a:ext cx="10393680" cy="1295400"/>
          </a:xfrm>
        </p:spPr>
        <p:txBody>
          <a:bodyPr/>
          <a:lstStyle/>
          <a:p>
            <a:r>
              <a:rPr lang="en-US" b="1" dirty="0"/>
              <a:t>Conclusion</a:t>
            </a:r>
          </a:p>
        </p:txBody>
      </p:sp>
      <p:sp>
        <p:nvSpPr>
          <p:cNvPr id="5" name="Slide Number Placeholder 4">
            <a:extLst>
              <a:ext uri="{FF2B5EF4-FFF2-40B4-BE49-F238E27FC236}">
                <a16:creationId xmlns:a16="http://schemas.microsoft.com/office/drawing/2014/main" id="{7F576313-F1C8-57CB-82F6-54BC07D3B9F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29</a:t>
            </a:fld>
            <a:endParaRPr lang="en-US" dirty="0"/>
          </a:p>
        </p:txBody>
      </p:sp>
      <p:sp>
        <p:nvSpPr>
          <p:cNvPr id="8" name="TextBox 7">
            <a:extLst>
              <a:ext uri="{FF2B5EF4-FFF2-40B4-BE49-F238E27FC236}">
                <a16:creationId xmlns:a16="http://schemas.microsoft.com/office/drawing/2014/main" id="{1BFE1676-1EFD-4832-0F9B-C674B1B265EC}"/>
              </a:ext>
            </a:extLst>
          </p:cNvPr>
          <p:cNvSpPr txBox="1"/>
          <p:nvPr/>
        </p:nvSpPr>
        <p:spPr>
          <a:xfrm>
            <a:off x="533400" y="1554480"/>
            <a:ext cx="11658600" cy="3416320"/>
          </a:xfrm>
          <a:prstGeom prst="rect">
            <a:avLst/>
          </a:prstGeom>
          <a:noFill/>
        </p:spPr>
        <p:txBody>
          <a:bodyPr wrap="square">
            <a:spAutoFit/>
          </a:bodyPr>
          <a:lstStyle/>
          <a:p>
            <a:pPr>
              <a:buNone/>
            </a:pPr>
            <a:r>
              <a:rPr lang="en-US" sz="2400" dirty="0">
                <a:latin typeface="+mj-lt"/>
              </a:rPr>
              <a:t>The Alert Module serves as a crucial </a:t>
            </a:r>
            <a:r>
              <a:rPr lang="en-US" sz="2400" b="1" dirty="0">
                <a:latin typeface="+mj-lt"/>
              </a:rPr>
              <a:t>intelligent layer</a:t>
            </a:r>
            <a:r>
              <a:rPr lang="en-US" sz="2400" dirty="0">
                <a:latin typeface="+mj-lt"/>
              </a:rPr>
              <a:t> within a system, typically an Inventory Management Solution, transforming it from a static record-keeper into a proactive decision-making tool.</a:t>
            </a:r>
          </a:p>
          <a:p>
            <a:pPr>
              <a:buNone/>
            </a:pPr>
            <a:endParaRPr lang="en-US" sz="2400" dirty="0">
              <a:latin typeface="+mj-lt"/>
            </a:endParaRPr>
          </a:p>
          <a:p>
            <a:pPr>
              <a:buNone/>
            </a:pPr>
            <a:r>
              <a:rPr lang="en-US" sz="2400" dirty="0">
                <a:latin typeface="+mj-lt"/>
              </a:rPr>
              <a:t>Its fundamental purpose is to </a:t>
            </a:r>
            <a:r>
              <a:rPr lang="en-US" sz="2400" b="1" dirty="0">
                <a:latin typeface="+mj-lt"/>
              </a:rPr>
              <a:t>continuously monitor</a:t>
            </a:r>
            <a:r>
              <a:rPr lang="en-US" sz="2400" dirty="0">
                <a:latin typeface="+mj-lt"/>
              </a:rPr>
              <a:t> key metrics, such as stock levels, and automatically </a:t>
            </a:r>
            <a:r>
              <a:rPr lang="en-US" sz="2400" b="1" dirty="0">
                <a:latin typeface="+mj-lt"/>
              </a:rPr>
              <a:t>generate timely warnings</a:t>
            </a:r>
            <a:r>
              <a:rPr lang="en-US" sz="2400" dirty="0">
                <a:latin typeface="+mj-lt"/>
              </a:rPr>
              <a:t> when pre-defined thresholds are breached. This critical function allows users to </a:t>
            </a:r>
            <a:r>
              <a:rPr lang="en-US" sz="2400" b="1" dirty="0">
                <a:latin typeface="+mj-lt"/>
              </a:rPr>
              <a:t>take timely action before stock runs out</a:t>
            </a:r>
            <a:r>
              <a:rPr lang="en-US" sz="2400" dirty="0">
                <a:latin typeface="+mj-lt"/>
              </a:rPr>
              <a:t>, reducing the risks of stockouts and improving operational efficiency by minimizing the need for constant manual checks.</a:t>
            </a:r>
          </a:p>
        </p:txBody>
      </p:sp>
    </p:spTree>
    <p:extLst>
      <p:ext uri="{BB962C8B-B14F-4D97-AF65-F5344CB8AC3E}">
        <p14:creationId xmlns:p14="http://schemas.microsoft.com/office/powerpoint/2010/main" val="5378095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4404360" y="914400"/>
            <a:ext cx="6446520" cy="5029200"/>
          </a:xfrm>
        </p:spPr>
        <p:txBody>
          <a:bodyPr/>
          <a:lstStyle/>
          <a:p>
            <a:r>
              <a:rPr lang="en-US" dirty="0"/>
              <a:t>Thank 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{585B674B-A20E-422B-963B-AE25B8AA7850}tf11964407_win32</Template>
  <TotalTime>253</TotalTime>
  <Words>2265</Words>
  <Application>Microsoft Office PowerPoint</Application>
  <PresentationFormat>Widescreen</PresentationFormat>
  <Paragraphs>370</Paragraphs>
  <Slides>30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Archivo</vt:lpstr>
      <vt:lpstr>Arial</vt:lpstr>
      <vt:lpstr>Arial Unicode MS</vt:lpstr>
      <vt:lpstr>Calibri</vt:lpstr>
      <vt:lpstr>Courier New</vt:lpstr>
      <vt:lpstr>Gill Sans Nova Light</vt:lpstr>
      <vt:lpstr>Sagona Book</vt:lpstr>
      <vt:lpstr>Times New Roman</vt:lpstr>
      <vt:lpstr>Custom</vt:lpstr>
      <vt:lpstr>Inventra Intelligent Inventory Management System</vt:lpstr>
      <vt:lpstr>PowerPoint Presentation</vt:lpstr>
      <vt:lpstr>Module 1: Authentication  </vt:lpstr>
      <vt:lpstr>Database Schema</vt:lpstr>
      <vt:lpstr>PowerPoint Presentation</vt:lpstr>
      <vt:lpstr>PowerPoint Presentation</vt:lpstr>
      <vt:lpstr>AUTHENTICATION MODULE – PSEUDOCODE</vt:lpstr>
      <vt:lpstr>1.SIGN-UP (REGISTER USER)       Purpose  Create a new user account Only Admin can register employees </vt:lpstr>
      <vt:lpstr>PowerPoint Presentation</vt:lpstr>
      <vt:lpstr>PowerPoint Presentation</vt:lpstr>
      <vt:lpstr>PowerPoint Presentation</vt:lpstr>
      <vt:lpstr>PowerPoint Presentation</vt:lpstr>
      <vt:lpstr>PowerPoint Presentation</vt:lpstr>
      <vt:lpstr>PowerPoint Presentation</vt:lpstr>
      <vt:lpstr>Flow: AuthController—AuthService—UserRespository--Database</vt:lpstr>
      <vt:lpstr>PowerPoint Presentation</vt:lpstr>
      <vt:lpstr>PowerPoint Presentation</vt:lpstr>
      <vt:lpstr>PowerPoint Presentation</vt:lpstr>
      <vt:lpstr>Database Schema: </vt:lpstr>
      <vt:lpstr>MileStone – 3</vt:lpstr>
      <vt:lpstr>        Table Of Contents</vt:lpstr>
      <vt:lpstr>   Introduction</vt:lpstr>
      <vt:lpstr>Purpose</vt:lpstr>
      <vt:lpstr>Key Classes:</vt:lpstr>
      <vt:lpstr>Functional Flow</vt:lpstr>
      <vt:lpstr>INVENTORY ALERTS MODULE PseudoCode</vt:lpstr>
      <vt:lpstr>PowerPoint Presentation</vt:lpstr>
      <vt:lpstr>Key Benefits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Srishty Shekhar</dc:creator>
  <cp:lastModifiedBy>Srishty Shekhar</cp:lastModifiedBy>
  <cp:revision>4</cp:revision>
  <dcterms:created xsi:type="dcterms:W3CDTF">2026-01-05T16:00:29Z</dcterms:created>
  <dcterms:modified xsi:type="dcterms:W3CDTF">2026-01-06T17:52:37Z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